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av" ContentType="audio/wav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6" r:id="rId4"/>
    <p:sldId id="258" r:id="rId5"/>
    <p:sldId id="262" r:id="rId6"/>
    <p:sldId id="259" r:id="rId7"/>
    <p:sldId id="260" r:id="rId8"/>
    <p:sldId id="280" r:id="rId9"/>
    <p:sldId id="282" r:id="rId10"/>
    <p:sldId id="281" r:id="rId11"/>
    <p:sldId id="261" r:id="rId12"/>
    <p:sldId id="270" r:id="rId13"/>
    <p:sldId id="279" r:id="rId14"/>
    <p:sldId id="269" r:id="rId15"/>
    <p:sldId id="263" r:id="rId16"/>
    <p:sldId id="266" r:id="rId17"/>
    <p:sldId id="283" r:id="rId18"/>
    <p:sldId id="271" r:id="rId19"/>
    <p:sldId id="275" r:id="rId20"/>
    <p:sldId id="274" r:id="rId21"/>
    <p:sldId id="273" r:id="rId22"/>
    <p:sldId id="284" r:id="rId23"/>
    <p:sldId id="268" r:id="rId24"/>
    <p:sldId id="285" r:id="rId25"/>
    <p:sldId id="265" r:id="rId26"/>
    <p:sldId id="278" r:id="rId27"/>
    <p:sldId id="287" r:id="rId28"/>
    <p:sldId id="277" r:id="rId29"/>
    <p:sldId id="288" r:id="rId30"/>
    <p:sldId id="286" r:id="rId31"/>
  </p:sldIdLst>
  <p:sldSz cx="9144000" cy="5143500" type="screen16x9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ลักษณะสีปานกลาง 2 - เน้น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17" autoAdjust="0"/>
    <p:restoredTop sz="94660"/>
  </p:normalViewPr>
  <p:slideViewPr>
    <p:cSldViewPr>
      <p:cViewPr varScale="1">
        <p:scale>
          <a:sx n="74" d="100"/>
          <a:sy n="74" d="100"/>
        </p:scale>
        <p:origin x="176" y="4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autoTitleDeleted val="0"/>
    <c:plotArea>
      <c:layout/>
      <c:lineChart>
        <c:grouping val="standard"/>
        <c:varyColors val="0"/>
        <c:ser>
          <c:idx val="1"/>
          <c:order val="0"/>
          <c:tx>
            <c:strRef>
              <c:f>Sheet1!$C$1</c:f>
              <c:strCache>
                <c:ptCount val="1"/>
              </c:strCache>
            </c:strRef>
          </c:tx>
          <c:cat>
            <c:strRef>
              <c:f>Sheet1!$A$2:$A$5</c:f>
              <c:strCache>
                <c:ptCount val="4"/>
                <c:pt idx="0">
                  <c:v>วันที่1</c:v>
                </c:pt>
                <c:pt idx="1">
                  <c:v>วันที่2</c:v>
                </c:pt>
                <c:pt idx="2">
                  <c:v>วันที่3</c:v>
                </c:pt>
                <c:pt idx="3">
                  <c:v>วันที่4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863-4566-8D8A-B360FECC08D3}"/>
            </c:ext>
          </c:extLst>
        </c:ser>
        <c:ser>
          <c:idx val="2"/>
          <c:order val="1"/>
          <c:tx>
            <c:strRef>
              <c:f>Sheet1!$B$1</c:f>
              <c:strCache>
                <c:ptCount val="1"/>
                <c:pt idx="0">
                  <c:v>คะแนน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วันที่1</c:v>
                </c:pt>
                <c:pt idx="1">
                  <c:v>วันที่2</c:v>
                </c:pt>
                <c:pt idx="2">
                  <c:v>วันที่3</c:v>
                </c:pt>
                <c:pt idx="3">
                  <c:v>วันที่4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55</c:v>
                </c:pt>
                <c:pt idx="1">
                  <c:v>70</c:v>
                </c:pt>
                <c:pt idx="2">
                  <c:v>65</c:v>
                </c:pt>
                <c:pt idx="3">
                  <c:v>90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863-4566-8D8A-B360FECC08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4574080"/>
        <c:axId val="151323776"/>
      </c:lineChart>
      <c:catAx>
        <c:axId val="134574080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JasmineUPC" pitchFamily="18" charset="-34"/>
                <a:cs typeface="JasmineUPC" pitchFamily="18" charset="-34"/>
              </a:defRPr>
            </a:pPr>
            <a:endParaRPr lang="en-US"/>
          </a:p>
        </c:txPr>
        <c:crossAx val="151323776"/>
        <c:crosses val="autoZero"/>
        <c:auto val="1"/>
        <c:lblAlgn val="ctr"/>
        <c:lblOffset val="100"/>
        <c:noMultiLvlLbl val="0"/>
      </c:catAx>
      <c:valAx>
        <c:axId val="1513237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>
                <a:latin typeface="JasmineUPC" pitchFamily="18" charset="-34"/>
                <a:cs typeface="JasmineUPC" pitchFamily="18" charset="-34"/>
              </a:defRPr>
            </a:pPr>
            <a:endParaRPr lang="en-US"/>
          </a:p>
        </c:txPr>
        <c:crossAx val="134574080"/>
        <c:crosses val="autoZero"/>
        <c:crossBetween val="between"/>
      </c:valAx>
      <c:spPr>
        <a:solidFill>
          <a:schemeClr val="accent1">
            <a:lumMod val="20000"/>
            <a:lumOff val="80000"/>
            <a:alpha val="54000"/>
          </a:schemeClr>
        </a:solidFill>
      </c:spPr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ภาพนิ่ง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th-TH" smtClean="0"/>
              <a:t>คลิกเพื่อแก้ไขลักษณะชื่อเรื่องต้นแบบ</a:t>
            </a:r>
            <a:endParaRPr lang="th-TH"/>
          </a:p>
        </p:txBody>
      </p:sp>
      <p:sp>
        <p:nvSpPr>
          <p:cNvPr id="3" name="ชื่อเรื่องรอง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h-TH" smtClean="0"/>
              <a:t>คลิกเพื่อแก้ไขลักษณะชื่อเรื่องรองต้นแบบ</a:t>
            </a:r>
            <a:endParaRPr lang="th-TH"/>
          </a:p>
        </p:txBody>
      </p:sp>
      <p:sp>
        <p:nvSpPr>
          <p:cNvPr id="4" name="ตัวแทน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06853-67EF-44E8-AEE4-B8C02C585427}" type="datetimeFigureOut">
              <a:rPr lang="th-TH" smtClean="0"/>
              <a:t>09/10/61</a:t>
            </a:fld>
            <a:endParaRPr lang="th-TH"/>
          </a:p>
        </p:txBody>
      </p:sp>
      <p:sp>
        <p:nvSpPr>
          <p:cNvPr id="5" name="ตัวแทน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0403B-BF4A-4951-82A4-2F25961545D7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686090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ชื่อเรื่องและเนื้อห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smtClean="0"/>
              <a:t>คลิกเพื่อแก้ไขลักษณะชื่อเรื่องต้นแบบ</a:t>
            </a:r>
            <a:endParaRPr lang="th-TH"/>
          </a:p>
        </p:txBody>
      </p:sp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h-TH" smtClean="0"/>
              <a:t>คลิกเพื่อแก้ไขลักษณะของข้อความต้นแบบ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th-TH"/>
          </a:p>
        </p:txBody>
      </p:sp>
      <p:sp>
        <p:nvSpPr>
          <p:cNvPr id="4" name="ตัวแทน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06853-67EF-44E8-AEE4-B8C02C585427}" type="datetimeFigureOut">
              <a:rPr lang="th-TH" smtClean="0"/>
              <a:t>09/10/61</a:t>
            </a:fld>
            <a:endParaRPr lang="th-TH"/>
          </a:p>
        </p:txBody>
      </p:sp>
      <p:sp>
        <p:nvSpPr>
          <p:cNvPr id="5" name="ตัวแทน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0403B-BF4A-4951-82A4-2F25961545D7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055006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ส่วนหัวของ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h-TH" smtClean="0"/>
              <a:t>คลิกเพื่อแก้ไขลักษณะชื่อเรื่องต้นแบบ</a:t>
            </a:r>
            <a:endParaRPr lang="th-TH"/>
          </a:p>
        </p:txBody>
      </p:sp>
      <p:sp>
        <p:nvSpPr>
          <p:cNvPr id="3" name="ตัวแทนข้อความ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h-TH" smtClean="0"/>
              <a:t>คลิกเพื่อแก้ไขลักษณะของข้อความต้นแบบ</a:t>
            </a:r>
          </a:p>
        </p:txBody>
      </p:sp>
      <p:sp>
        <p:nvSpPr>
          <p:cNvPr id="4" name="ตัวแทน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06853-67EF-44E8-AEE4-B8C02C585427}" type="datetimeFigureOut">
              <a:rPr lang="th-TH" smtClean="0"/>
              <a:t>09/10/61</a:t>
            </a:fld>
            <a:endParaRPr lang="th-TH"/>
          </a:p>
        </p:txBody>
      </p:sp>
      <p:sp>
        <p:nvSpPr>
          <p:cNvPr id="5" name="ตัวแทน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0403B-BF4A-4951-82A4-2F25961545D7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436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เนื้อหา 2 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smtClean="0"/>
              <a:t>คลิกเพื่อแก้ไขลักษณะชื่อเรื่องต้นแบบ</a:t>
            </a:r>
            <a:endParaRPr lang="th-TH"/>
          </a:p>
        </p:txBody>
      </p:sp>
      <p:sp>
        <p:nvSpPr>
          <p:cNvPr id="3" name="ตัวแทนเนื้อหา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h-TH" smtClean="0"/>
              <a:t>คลิกเพื่อแก้ไขลักษณะของข้อความต้นแบบ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th-TH"/>
          </a:p>
        </p:txBody>
      </p:sp>
      <p:sp>
        <p:nvSpPr>
          <p:cNvPr id="4" name="ตัวแทนเนื้อหา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h-TH" smtClean="0"/>
              <a:t>คลิกเพื่อแก้ไขลักษณะของข้อความต้นแบบ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th-TH"/>
          </a:p>
        </p:txBody>
      </p:sp>
      <p:sp>
        <p:nvSpPr>
          <p:cNvPr id="5" name="ตัวแทนวันที่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06853-67EF-44E8-AEE4-B8C02C585427}" type="datetimeFigureOut">
              <a:rPr lang="th-TH" smtClean="0"/>
              <a:t>09/10/61</a:t>
            </a:fld>
            <a:endParaRPr lang="th-TH"/>
          </a:p>
        </p:txBody>
      </p:sp>
      <p:sp>
        <p:nvSpPr>
          <p:cNvPr id="6" name="ตัวแทนท้ายกระดา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ตัวแทนหมายเลขภาพนิ่ง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0403B-BF4A-4951-82A4-2F25961545D7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033530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การเปรียบเทีย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th-TH" smtClean="0"/>
              <a:t>คลิกเพื่อแก้ไขลักษณะชื่อเรื่องต้นแบบ</a:t>
            </a:r>
            <a:endParaRPr lang="th-TH"/>
          </a:p>
        </p:txBody>
      </p:sp>
      <p:sp>
        <p:nvSpPr>
          <p:cNvPr id="3" name="ตัวแทนข้อความ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 smtClean="0"/>
              <a:t>คลิกเพื่อแก้ไขลักษณะของข้อความต้นแบบ</a:t>
            </a:r>
          </a:p>
        </p:txBody>
      </p:sp>
      <p:sp>
        <p:nvSpPr>
          <p:cNvPr id="4" name="ตัวแทนเนื้อหา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h-TH" smtClean="0"/>
              <a:t>คลิกเพื่อแก้ไขลักษณะของข้อความต้นแบบ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th-TH"/>
          </a:p>
        </p:txBody>
      </p:sp>
      <p:sp>
        <p:nvSpPr>
          <p:cNvPr id="5" name="ตัวแทนข้อความ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 smtClean="0"/>
              <a:t>คลิกเพื่อแก้ไขลักษณะของข้อความต้นแบบ</a:t>
            </a:r>
          </a:p>
        </p:txBody>
      </p:sp>
      <p:sp>
        <p:nvSpPr>
          <p:cNvPr id="6" name="ตัวแทนเนื้อหา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h-TH" smtClean="0"/>
              <a:t>คลิกเพื่อแก้ไขลักษณะของข้อความต้นแบบ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th-TH"/>
          </a:p>
        </p:txBody>
      </p:sp>
      <p:sp>
        <p:nvSpPr>
          <p:cNvPr id="7" name="ตัวแทนวันที่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06853-67EF-44E8-AEE4-B8C02C585427}" type="datetimeFigureOut">
              <a:rPr lang="th-TH" smtClean="0"/>
              <a:t>09/10/61</a:t>
            </a:fld>
            <a:endParaRPr lang="th-TH"/>
          </a:p>
        </p:txBody>
      </p:sp>
      <p:sp>
        <p:nvSpPr>
          <p:cNvPr id="8" name="ตัวแทนท้ายกระดา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ตัวแทนหมายเลขภาพนิ่ง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0403B-BF4A-4951-82A4-2F25961545D7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021438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เฉพาะ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smtClean="0"/>
              <a:t>คลิกเพื่อแก้ไขลักษณะชื่อเรื่องต้นแบบ</a:t>
            </a:r>
            <a:endParaRPr lang="th-TH"/>
          </a:p>
        </p:txBody>
      </p:sp>
      <p:sp>
        <p:nvSpPr>
          <p:cNvPr id="3" name="ตัวแทนวันที่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06853-67EF-44E8-AEE4-B8C02C585427}" type="datetimeFigureOut">
              <a:rPr lang="th-TH" smtClean="0"/>
              <a:t>09/10/61</a:t>
            </a:fld>
            <a:endParaRPr lang="th-TH"/>
          </a:p>
        </p:txBody>
      </p:sp>
      <p:sp>
        <p:nvSpPr>
          <p:cNvPr id="4" name="ตัวแทนท้ายกระดา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ตัวแทนหมายเลขภาพนิ่ง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0403B-BF4A-4951-82A4-2F25961545D7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651764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ว่างเปล่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วันที่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06853-67EF-44E8-AEE4-B8C02C585427}" type="datetimeFigureOut">
              <a:rPr lang="th-TH" smtClean="0"/>
              <a:t>09/10/61</a:t>
            </a:fld>
            <a:endParaRPr lang="th-TH"/>
          </a:p>
        </p:txBody>
      </p:sp>
      <p:sp>
        <p:nvSpPr>
          <p:cNvPr id="3" name="ตัวแทนท้ายกระดา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ตัวแทนหมายเลขภาพนิ่ง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0403B-BF4A-4951-82A4-2F25961545D7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39802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เนื้อหา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h-TH" smtClean="0"/>
              <a:t>คลิกเพื่อแก้ไขลักษณะชื่อเรื่องต้นแบบ</a:t>
            </a:r>
            <a:endParaRPr lang="th-TH"/>
          </a:p>
        </p:txBody>
      </p:sp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h-TH" smtClean="0"/>
              <a:t>คลิกเพื่อแก้ไขลักษณะของข้อความต้นแบบ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th-TH"/>
          </a:p>
        </p:txBody>
      </p:sp>
      <p:sp>
        <p:nvSpPr>
          <p:cNvPr id="4" name="ตัวแทนข้อความ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h-TH" smtClean="0"/>
              <a:t>คลิกเพื่อแก้ไขลักษณะของข้อความต้นแบบ</a:t>
            </a:r>
          </a:p>
        </p:txBody>
      </p:sp>
      <p:sp>
        <p:nvSpPr>
          <p:cNvPr id="5" name="ตัวแทนวันที่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06853-67EF-44E8-AEE4-B8C02C585427}" type="datetimeFigureOut">
              <a:rPr lang="th-TH" smtClean="0"/>
              <a:t>09/10/61</a:t>
            </a:fld>
            <a:endParaRPr lang="th-TH"/>
          </a:p>
        </p:txBody>
      </p:sp>
      <p:sp>
        <p:nvSpPr>
          <p:cNvPr id="6" name="ตัวแทนท้ายกระดา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ตัวแทนหมายเลขภาพนิ่ง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0403B-BF4A-4951-82A4-2F25961545D7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729454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รูปภาพ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h-TH" smtClean="0"/>
              <a:t>คลิกเพื่อแก้ไขลักษณะชื่อเรื่องต้นแบบ</a:t>
            </a:r>
            <a:endParaRPr lang="th-TH"/>
          </a:p>
        </p:txBody>
      </p:sp>
      <p:sp>
        <p:nvSpPr>
          <p:cNvPr id="3" name="ตัวแทนรูปภาพ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ตัวแทนข้อความ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h-TH" smtClean="0"/>
              <a:t>คลิกเพื่อแก้ไขลักษณะของข้อความต้นแบบ</a:t>
            </a:r>
          </a:p>
        </p:txBody>
      </p:sp>
      <p:sp>
        <p:nvSpPr>
          <p:cNvPr id="5" name="ตัวแทนวันที่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06853-67EF-44E8-AEE4-B8C02C585427}" type="datetimeFigureOut">
              <a:rPr lang="th-TH" smtClean="0"/>
              <a:t>09/10/61</a:t>
            </a:fld>
            <a:endParaRPr lang="th-TH"/>
          </a:p>
        </p:txBody>
      </p:sp>
      <p:sp>
        <p:nvSpPr>
          <p:cNvPr id="6" name="ตัวแทนท้ายกระดา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ตัวแทนหมายเลขภาพนิ่ง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0403B-BF4A-4951-82A4-2F25961545D7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8734952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ชื่อเรื่องและข้อความ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smtClean="0"/>
              <a:t>คลิกเพื่อแก้ไขลักษณะชื่อเรื่องต้นแบบ</a:t>
            </a:r>
            <a:endParaRPr lang="th-TH"/>
          </a:p>
        </p:txBody>
      </p:sp>
      <p:sp>
        <p:nvSpPr>
          <p:cNvPr id="3" name="ตัวแทนข้อความแนวตั้ง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h-TH" smtClean="0"/>
              <a:t>คลิกเพื่อแก้ไขลักษณะของข้อความต้นแบบ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th-TH"/>
          </a:p>
        </p:txBody>
      </p:sp>
      <p:sp>
        <p:nvSpPr>
          <p:cNvPr id="4" name="ตัวแทน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06853-67EF-44E8-AEE4-B8C02C585427}" type="datetimeFigureOut">
              <a:rPr lang="th-TH" smtClean="0"/>
              <a:t>09/10/61</a:t>
            </a:fld>
            <a:endParaRPr lang="th-TH"/>
          </a:p>
        </p:txBody>
      </p:sp>
      <p:sp>
        <p:nvSpPr>
          <p:cNvPr id="5" name="ตัวแทน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0403B-BF4A-4951-82A4-2F25961545D7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229271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ข้อความและชื่อเรื่อง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แนวตั้ง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th-TH" smtClean="0"/>
              <a:t>คลิกเพื่อแก้ไขลักษณะชื่อเรื่องต้นแบบ</a:t>
            </a:r>
            <a:endParaRPr lang="th-TH"/>
          </a:p>
        </p:txBody>
      </p:sp>
      <p:sp>
        <p:nvSpPr>
          <p:cNvPr id="3" name="ตัวแทนข้อความแนวตั้ง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th-TH" smtClean="0"/>
              <a:t>คลิกเพื่อแก้ไขลักษณะของข้อความต้นแบบ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th-TH"/>
          </a:p>
        </p:txBody>
      </p:sp>
      <p:sp>
        <p:nvSpPr>
          <p:cNvPr id="4" name="ตัวแทน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06853-67EF-44E8-AEE4-B8C02C585427}" type="datetimeFigureOut">
              <a:rPr lang="th-TH" smtClean="0"/>
              <a:t>09/10/61</a:t>
            </a:fld>
            <a:endParaRPr lang="th-TH"/>
          </a:p>
        </p:txBody>
      </p:sp>
      <p:sp>
        <p:nvSpPr>
          <p:cNvPr id="5" name="ตัวแทน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0403B-BF4A-4951-82A4-2F25961545D7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444707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ชื่อเรื่อง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h-TH" smtClean="0"/>
              <a:t>คลิกเพื่อแก้ไขลักษณะชื่อเรื่องต้นแบบ</a:t>
            </a:r>
            <a:endParaRPr lang="th-TH"/>
          </a:p>
        </p:txBody>
      </p:sp>
      <p:sp>
        <p:nvSpPr>
          <p:cNvPr id="3" name="ตัวแทนข้อความ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h-TH" smtClean="0"/>
              <a:t>คลิกเพื่อแก้ไขลักษณะของข้อความต้นแบบ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th-TH"/>
          </a:p>
        </p:txBody>
      </p:sp>
      <p:sp>
        <p:nvSpPr>
          <p:cNvPr id="4" name="ตัวแทนวันที่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206853-67EF-44E8-AEE4-B8C02C585427}" type="datetimeFigureOut">
              <a:rPr lang="th-TH" smtClean="0"/>
              <a:t>09/10/61</a:t>
            </a:fld>
            <a:endParaRPr lang="th-TH"/>
          </a:p>
        </p:txBody>
      </p:sp>
      <p:sp>
        <p:nvSpPr>
          <p:cNvPr id="5" name="ตัวแทนท้ายกระดาษ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ตัวแทนหมายเลขภาพนิ่ง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10403B-BF4A-4951-82A4-2F25961545D7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4397490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88397" y="88619"/>
            <a:ext cx="1967205" cy="5232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th-TH" b="1" dirty="0" smtClean="0">
                <a:latin typeface="JasmineUPC" pitchFamily="18" charset="-34"/>
                <a:cs typeface="JasmineUPC" pitchFamily="18" charset="-34"/>
              </a:rPr>
              <a:t>หน้า </a:t>
            </a:r>
            <a:r>
              <a:rPr lang="en-US" b="1" dirty="0" smtClean="0">
                <a:latin typeface="JasmineUPC" pitchFamily="18" charset="-34"/>
                <a:cs typeface="JasmineUPC" pitchFamily="18" charset="-34"/>
              </a:rPr>
              <a:t>Main Menu</a:t>
            </a:r>
            <a:endParaRPr lang="th-TH" b="1" dirty="0">
              <a:latin typeface="JasmineUPC" pitchFamily="18" charset="-34"/>
              <a:cs typeface="JasmineUPC" pitchFamily="18" charset="-34"/>
            </a:endParaRPr>
          </a:p>
        </p:txBody>
      </p:sp>
      <p:sp>
        <p:nvSpPr>
          <p:cNvPr id="5" name="สี่เหลี่ยมผืนผ้า 4"/>
          <p:cNvSpPr/>
          <p:nvPr/>
        </p:nvSpPr>
        <p:spPr>
          <a:xfrm>
            <a:off x="516225" y="611839"/>
            <a:ext cx="2808312" cy="43719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6" name="สี่เหลี่ยมผืนผ้ามุมมน 5"/>
          <p:cNvSpPr/>
          <p:nvPr/>
        </p:nvSpPr>
        <p:spPr>
          <a:xfrm>
            <a:off x="876265" y="1419622"/>
            <a:ext cx="2088232" cy="504056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 smtClean="0">
                <a:solidFill>
                  <a:schemeClr val="accent6">
                    <a:lumMod val="50000"/>
                  </a:schemeClr>
                </a:solidFill>
                <a:latin typeface="JasmineUPC" pitchFamily="18" charset="-34"/>
                <a:cs typeface="JasmineUPC" pitchFamily="18" charset="-34"/>
              </a:rPr>
              <a:t>ข้อมูลผู้ใช้</a:t>
            </a:r>
            <a:endParaRPr lang="th-TH" dirty="0">
              <a:solidFill>
                <a:schemeClr val="accent6">
                  <a:lumMod val="50000"/>
                </a:schemeClr>
              </a:solidFill>
              <a:latin typeface="JasmineUPC" pitchFamily="18" charset="-34"/>
              <a:cs typeface="JasmineUPC" pitchFamily="18" charset="-34"/>
            </a:endParaRPr>
          </a:p>
        </p:txBody>
      </p:sp>
      <p:sp>
        <p:nvSpPr>
          <p:cNvPr id="7" name="สี่เหลี่ยมผืนผ้ามุมมน 6"/>
          <p:cNvSpPr/>
          <p:nvPr/>
        </p:nvSpPr>
        <p:spPr>
          <a:xfrm>
            <a:off x="860511" y="2283718"/>
            <a:ext cx="2088232" cy="504056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 smtClean="0">
                <a:solidFill>
                  <a:schemeClr val="accent6">
                    <a:lumMod val="50000"/>
                  </a:schemeClr>
                </a:solidFill>
                <a:latin typeface="JasmineUPC" pitchFamily="18" charset="-34"/>
                <a:cs typeface="JasmineUPC" pitchFamily="18" charset="-34"/>
              </a:rPr>
              <a:t>บทเรียน</a:t>
            </a:r>
            <a:endParaRPr lang="th-TH" dirty="0">
              <a:solidFill>
                <a:schemeClr val="accent6">
                  <a:lumMod val="50000"/>
                </a:schemeClr>
              </a:solidFill>
              <a:latin typeface="JasmineUPC" pitchFamily="18" charset="-34"/>
              <a:cs typeface="JasmineUPC" pitchFamily="18" charset="-34"/>
            </a:endParaRPr>
          </a:p>
        </p:txBody>
      </p:sp>
      <p:sp>
        <p:nvSpPr>
          <p:cNvPr id="8" name="สี่เหลี่ยมผืนผ้ามุมมน 7"/>
          <p:cNvSpPr/>
          <p:nvPr/>
        </p:nvSpPr>
        <p:spPr>
          <a:xfrm>
            <a:off x="860511" y="3075806"/>
            <a:ext cx="2088232" cy="504056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 smtClean="0">
                <a:solidFill>
                  <a:schemeClr val="accent6">
                    <a:lumMod val="50000"/>
                  </a:schemeClr>
                </a:solidFill>
                <a:latin typeface="JasmineUPC" pitchFamily="18" charset="-34"/>
                <a:cs typeface="JasmineUPC" pitchFamily="18" charset="-34"/>
              </a:rPr>
              <a:t>เกม</a:t>
            </a:r>
            <a:endParaRPr lang="th-TH" dirty="0">
              <a:solidFill>
                <a:schemeClr val="accent6">
                  <a:lumMod val="50000"/>
                </a:schemeClr>
              </a:solidFill>
              <a:latin typeface="JasmineUPC" pitchFamily="18" charset="-34"/>
              <a:cs typeface="JasmineUPC" pitchFamily="18" charset="-34"/>
            </a:endParaRPr>
          </a:p>
        </p:txBody>
      </p:sp>
      <p:sp>
        <p:nvSpPr>
          <p:cNvPr id="9" name="สี่เหลี่ยมผืนผ้ามุมมน 8"/>
          <p:cNvSpPr/>
          <p:nvPr/>
        </p:nvSpPr>
        <p:spPr>
          <a:xfrm>
            <a:off x="876265" y="3867894"/>
            <a:ext cx="2088232" cy="504056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 smtClean="0">
                <a:solidFill>
                  <a:schemeClr val="accent6">
                    <a:lumMod val="50000"/>
                  </a:schemeClr>
                </a:solidFill>
                <a:latin typeface="JasmineUPC" pitchFamily="18" charset="-34"/>
                <a:cs typeface="JasmineUPC" pitchFamily="18" charset="-34"/>
              </a:rPr>
              <a:t>คู่มือ</a:t>
            </a:r>
            <a:endParaRPr lang="th-TH" dirty="0">
              <a:solidFill>
                <a:schemeClr val="accent6">
                  <a:lumMod val="50000"/>
                </a:schemeClr>
              </a:solidFill>
              <a:latin typeface="JasmineUPC" pitchFamily="18" charset="-34"/>
              <a:cs typeface="JasmineUPC" pitchFamily="18" charset="-34"/>
            </a:endParaRPr>
          </a:p>
        </p:txBody>
      </p:sp>
      <p:sp>
        <p:nvSpPr>
          <p:cNvPr id="10" name="สี่เหลี่ยมผืนผ้ามุมมน 9"/>
          <p:cNvSpPr/>
          <p:nvPr/>
        </p:nvSpPr>
        <p:spPr>
          <a:xfrm>
            <a:off x="4139952" y="1134413"/>
            <a:ext cx="4536504" cy="3024336"/>
          </a:xfrm>
          <a:prstGeom prst="roundRect">
            <a:avLst/>
          </a:prstGeom>
          <a:noFill/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1" name="สี่เหลี่ยมผืนผ้ามุมมน 5"/>
          <p:cNvSpPr/>
          <p:nvPr/>
        </p:nvSpPr>
        <p:spPr>
          <a:xfrm>
            <a:off x="5400092" y="1968493"/>
            <a:ext cx="2016223" cy="1638561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 smtClean="0">
                <a:solidFill>
                  <a:schemeClr val="accent6">
                    <a:lumMod val="50000"/>
                  </a:schemeClr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ทดสอบ</a:t>
            </a:r>
            <a:endParaRPr lang="th-TH" dirty="0">
              <a:solidFill>
                <a:schemeClr val="accent6">
                  <a:lumMod val="50000"/>
                </a:schemeClr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115332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629273" y="88619"/>
            <a:ext cx="1885453" cy="5232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th-TH" b="1" dirty="0">
                <a:solidFill>
                  <a:prstClr val="black"/>
                </a:solidFill>
                <a:latin typeface="JasmineUPC" pitchFamily="18" charset="-34"/>
                <a:cs typeface="JasmineUPC" pitchFamily="18" charset="-34"/>
              </a:rPr>
              <a:t>หน้า </a:t>
            </a:r>
            <a:r>
              <a:rPr lang="th-TH" b="1" dirty="0" smtClean="0">
                <a:solidFill>
                  <a:prstClr val="black"/>
                </a:solidFill>
                <a:latin typeface="JasmineUPC" pitchFamily="18" charset="-34"/>
                <a:cs typeface="JasmineUPC" pitchFamily="18" charset="-34"/>
              </a:rPr>
              <a:t>ข้อมูลผู้ใช้</a:t>
            </a:r>
            <a:endParaRPr lang="th-TH" b="1" dirty="0">
              <a:solidFill>
                <a:prstClr val="black"/>
              </a:solidFill>
              <a:latin typeface="JasmineUPC" pitchFamily="18" charset="-34"/>
              <a:cs typeface="JasmineUPC" pitchFamily="18" charset="-34"/>
            </a:endParaRPr>
          </a:p>
        </p:txBody>
      </p:sp>
      <p:sp>
        <p:nvSpPr>
          <p:cNvPr id="5" name="สี่เหลี่ยมผืนผ้า 4"/>
          <p:cNvSpPr/>
          <p:nvPr/>
        </p:nvSpPr>
        <p:spPr>
          <a:xfrm>
            <a:off x="516225" y="611839"/>
            <a:ext cx="2808312" cy="43719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>
              <a:solidFill>
                <a:prstClr val="white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52245" y="882622"/>
            <a:ext cx="2467342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2000" dirty="0" smtClean="0">
                <a:latin typeface="JasmineUPC" pitchFamily="18" charset="-34"/>
                <a:cs typeface="JasmineUPC" pitchFamily="18" charset="-34"/>
              </a:rPr>
              <a:t>ชื่อ...................................................</a:t>
            </a:r>
          </a:p>
          <a:p>
            <a:r>
              <a:rPr lang="th-TH" sz="2000" dirty="0" smtClean="0">
                <a:latin typeface="JasmineUPC" pitchFamily="18" charset="-34"/>
                <a:cs typeface="JasmineUPC" pitchFamily="18" charset="-34"/>
              </a:rPr>
              <a:t>เรียนรู้ถึง เรื่อง “.......................”</a:t>
            </a:r>
          </a:p>
          <a:p>
            <a:endParaRPr lang="th-TH" sz="2400" dirty="0">
              <a:latin typeface="JasmineUPC" pitchFamily="18" charset="-34"/>
              <a:cs typeface="JasmineUPC" pitchFamily="18" charset="-34"/>
            </a:endParaRPr>
          </a:p>
        </p:txBody>
      </p:sp>
      <p:graphicFrame>
        <p:nvGraphicFramePr>
          <p:cNvPr id="10" name="ตาราง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0871159"/>
              </p:ext>
            </p:extLst>
          </p:nvPr>
        </p:nvGraphicFramePr>
        <p:xfrm>
          <a:off x="688570" y="1707654"/>
          <a:ext cx="2463621" cy="1224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16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0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8092">
                <a:tc>
                  <a:txBody>
                    <a:bodyPr/>
                    <a:lstStyle/>
                    <a:p>
                      <a:r>
                        <a:rPr lang="th-TH" sz="1800" dirty="0" smtClean="0">
                          <a:latin typeface="JasmineUPC" pitchFamily="18" charset="-34"/>
                          <a:cs typeface="JasmineUPC" pitchFamily="18" charset="-34"/>
                        </a:rPr>
                        <a:t>สิ่งที่เรียนรู้ไปแล้ว</a:t>
                      </a:r>
                      <a:endParaRPr lang="th-TH" sz="1800" dirty="0"/>
                    </a:p>
                  </a:txBody>
                  <a:tcPr marL="63627" marR="63627" marT="31814" marB="31814"/>
                </a:tc>
                <a:tc>
                  <a:txBody>
                    <a:bodyPr/>
                    <a:lstStyle/>
                    <a:p>
                      <a:r>
                        <a:rPr lang="th-TH" sz="1800" dirty="0" smtClean="0">
                          <a:latin typeface="JasmineUPC" pitchFamily="18" charset="-34"/>
                          <a:cs typeface="JasmineUPC" pitchFamily="18" charset="-34"/>
                        </a:rPr>
                        <a:t>ตอบถูก</a:t>
                      </a:r>
                      <a:endParaRPr lang="th-TH" sz="1800" dirty="0">
                        <a:latin typeface="JasmineUPC" pitchFamily="18" charset="-34"/>
                        <a:cs typeface="JasmineUPC" pitchFamily="18" charset="-34"/>
                      </a:endParaRPr>
                    </a:p>
                  </a:txBody>
                  <a:tcPr marL="63627" marR="63627" marT="31814" marB="31814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2027">
                <a:tc>
                  <a:txBody>
                    <a:bodyPr/>
                    <a:lstStyle/>
                    <a:p>
                      <a:r>
                        <a:rPr lang="th-TH" sz="1800" dirty="0" smtClean="0">
                          <a:latin typeface="JasmineUPC" pitchFamily="18" charset="-34"/>
                          <a:cs typeface="JasmineUPC" pitchFamily="18" charset="-34"/>
                        </a:rPr>
                        <a:t>1............................. </a:t>
                      </a:r>
                      <a:br>
                        <a:rPr lang="th-TH" sz="1800" dirty="0" smtClean="0">
                          <a:latin typeface="JasmineUPC" pitchFamily="18" charset="-34"/>
                          <a:cs typeface="JasmineUPC" pitchFamily="18" charset="-34"/>
                        </a:rPr>
                      </a:br>
                      <a:r>
                        <a:rPr lang="th-TH" sz="1800" dirty="0" smtClean="0">
                          <a:latin typeface="JasmineUPC" pitchFamily="18" charset="-34"/>
                          <a:cs typeface="JasmineUPC" pitchFamily="18" charset="-34"/>
                        </a:rPr>
                        <a:t>2.............................</a:t>
                      </a:r>
                    </a:p>
                    <a:p>
                      <a:r>
                        <a:rPr lang="th-TH" sz="1800" dirty="0" smtClean="0">
                          <a:latin typeface="JasmineUPC" pitchFamily="18" charset="-34"/>
                          <a:cs typeface="JasmineUPC" pitchFamily="18" charset="-34"/>
                        </a:rPr>
                        <a:t>3.............................</a:t>
                      </a:r>
                    </a:p>
                  </a:txBody>
                  <a:tcPr marL="63627" marR="63627" marT="31814" marB="31814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1800" dirty="0" smtClean="0">
                          <a:latin typeface="JasmineUPC" pitchFamily="18" charset="-34"/>
                          <a:cs typeface="JasmineUPC" pitchFamily="18" charset="-34"/>
                        </a:rPr>
                        <a:t>50</a:t>
                      </a:r>
                      <a:r>
                        <a:rPr lang="th-TH" sz="1800" baseline="0" dirty="0" smtClean="0">
                          <a:latin typeface="JasmineUPC" pitchFamily="18" charset="-34"/>
                          <a:cs typeface="JasmineUPC" pitchFamily="18" charset="-34"/>
                        </a:rPr>
                        <a:t> </a:t>
                      </a:r>
                      <a:r>
                        <a:rPr lang="en-US" sz="1800" baseline="0" dirty="0" smtClean="0">
                          <a:latin typeface="JasmineUPC" pitchFamily="18" charset="-34"/>
                          <a:cs typeface="JasmineUPC" pitchFamily="18" charset="-34"/>
                        </a:rPr>
                        <a:t>%</a:t>
                      </a:r>
                    </a:p>
                    <a:p>
                      <a:pPr algn="ctr"/>
                      <a:r>
                        <a:rPr lang="en-US" sz="1800" baseline="0" dirty="0" smtClean="0">
                          <a:latin typeface="JasmineUPC" pitchFamily="18" charset="-34"/>
                          <a:cs typeface="JasmineUPC" pitchFamily="18" charset="-34"/>
                        </a:rPr>
                        <a:t>60 %</a:t>
                      </a:r>
                    </a:p>
                    <a:p>
                      <a:pPr algn="ctr"/>
                      <a:r>
                        <a:rPr lang="en-US" sz="1800" baseline="0" dirty="0" smtClean="0">
                          <a:latin typeface="JasmineUPC" pitchFamily="18" charset="-34"/>
                          <a:cs typeface="JasmineUPC" pitchFamily="18" charset="-34"/>
                        </a:rPr>
                        <a:t>55 %</a:t>
                      </a:r>
                      <a:endParaRPr lang="th-TH" sz="1800" dirty="0">
                        <a:latin typeface="JasmineUPC" pitchFamily="18" charset="-34"/>
                        <a:cs typeface="JasmineUPC" pitchFamily="18" charset="-34"/>
                      </a:endParaRPr>
                    </a:p>
                  </a:txBody>
                  <a:tcPr marL="63627" marR="63627" marT="31814" marB="31814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" name="แผนภูมิ 10"/>
          <p:cNvGraphicFramePr/>
          <p:nvPr>
            <p:extLst>
              <p:ext uri="{D42A27DB-BD31-4B8C-83A1-F6EECF244321}">
                <p14:modId xmlns:p14="http://schemas.microsoft.com/office/powerpoint/2010/main" val="1843259693"/>
              </p:ext>
            </p:extLst>
          </p:nvPr>
        </p:nvGraphicFramePr>
        <p:xfrm>
          <a:off x="697640" y="2931790"/>
          <a:ext cx="2376552" cy="16561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ปุ่มปฏิบัติการ: หน้าแรก 11">
            <a:hlinkClick r:id="" action="ppaction://hlinkshowjump?jump=firstslide" highlightClick="1"/>
          </p:cNvPr>
          <p:cNvSpPr/>
          <p:nvPr/>
        </p:nvSpPr>
        <p:spPr>
          <a:xfrm>
            <a:off x="1763688" y="4587974"/>
            <a:ext cx="288032" cy="288032"/>
          </a:xfrm>
          <a:prstGeom prst="actionButtonHom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463716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9832" y="76922"/>
            <a:ext cx="2598579" cy="5066578"/>
          </a:xfrm>
        </p:spPr>
      </p:pic>
    </p:spTree>
    <p:extLst>
      <p:ext uri="{BB962C8B-B14F-4D97-AF65-F5344CB8AC3E}">
        <p14:creationId xmlns:p14="http://schemas.microsoft.com/office/powerpoint/2010/main" val="13190259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727057" y="79972"/>
            <a:ext cx="1689886" cy="5232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th-TH" b="1" dirty="0">
                <a:solidFill>
                  <a:prstClr val="black"/>
                </a:solidFill>
                <a:latin typeface="JasmineUPC" pitchFamily="18" charset="-34"/>
                <a:cs typeface="JasmineUPC" pitchFamily="18" charset="-34"/>
              </a:rPr>
              <a:t>หน้า </a:t>
            </a:r>
            <a:r>
              <a:rPr lang="th-TH" b="1" dirty="0" smtClean="0">
                <a:solidFill>
                  <a:prstClr val="black"/>
                </a:solidFill>
                <a:latin typeface="JasmineUPC" pitchFamily="18" charset="-34"/>
                <a:cs typeface="JasmineUPC" pitchFamily="18" charset="-34"/>
              </a:rPr>
              <a:t>บทเรียน</a:t>
            </a:r>
            <a:endParaRPr lang="th-TH" b="1" dirty="0">
              <a:solidFill>
                <a:prstClr val="black"/>
              </a:solidFill>
              <a:latin typeface="JasmineUPC" pitchFamily="18" charset="-34"/>
              <a:cs typeface="JasmineUPC" pitchFamily="18" charset="-34"/>
            </a:endParaRPr>
          </a:p>
        </p:txBody>
      </p:sp>
      <p:sp>
        <p:nvSpPr>
          <p:cNvPr id="5" name="สี่เหลี่ยมผืนผ้า 4"/>
          <p:cNvSpPr/>
          <p:nvPr/>
        </p:nvSpPr>
        <p:spPr>
          <a:xfrm>
            <a:off x="516225" y="611839"/>
            <a:ext cx="2808312" cy="43719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>
              <a:solidFill>
                <a:prstClr val="white"/>
              </a:solidFill>
            </a:endParaRPr>
          </a:p>
        </p:txBody>
      </p:sp>
      <p:sp>
        <p:nvSpPr>
          <p:cNvPr id="7" name="สี่เหลี่ยมผืนผ้ามุมมน 6"/>
          <p:cNvSpPr/>
          <p:nvPr/>
        </p:nvSpPr>
        <p:spPr>
          <a:xfrm>
            <a:off x="868218" y="915566"/>
            <a:ext cx="2088232" cy="504056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 smtClean="0">
                <a:solidFill>
                  <a:schemeClr val="accent6">
                    <a:lumMod val="50000"/>
                  </a:schemeClr>
                </a:solidFill>
                <a:latin typeface="JasmineUPC" pitchFamily="18" charset="-34"/>
                <a:cs typeface="JasmineUPC" pitchFamily="18" charset="-34"/>
              </a:rPr>
              <a:t>พยัญชนะไทย</a:t>
            </a:r>
            <a:endParaRPr lang="th-TH" dirty="0">
              <a:solidFill>
                <a:schemeClr val="accent6">
                  <a:lumMod val="50000"/>
                </a:schemeClr>
              </a:solidFill>
              <a:latin typeface="JasmineUPC" pitchFamily="18" charset="-34"/>
              <a:cs typeface="JasmineUPC" pitchFamily="18" charset="-34"/>
            </a:endParaRPr>
          </a:p>
        </p:txBody>
      </p:sp>
      <p:sp>
        <p:nvSpPr>
          <p:cNvPr id="8" name="สี่เหลี่ยมผืนผ้ามุมมน 7"/>
          <p:cNvSpPr/>
          <p:nvPr/>
        </p:nvSpPr>
        <p:spPr>
          <a:xfrm>
            <a:off x="868218" y="1635646"/>
            <a:ext cx="2088232" cy="504056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 smtClean="0">
                <a:solidFill>
                  <a:schemeClr val="accent6">
                    <a:lumMod val="50000"/>
                  </a:schemeClr>
                </a:solidFill>
                <a:latin typeface="JasmineUPC" pitchFamily="18" charset="-34"/>
                <a:cs typeface="JasmineUPC" pitchFamily="18" charset="-34"/>
              </a:rPr>
              <a:t>สระ</a:t>
            </a:r>
            <a:endParaRPr lang="th-TH" dirty="0">
              <a:solidFill>
                <a:schemeClr val="accent6">
                  <a:lumMod val="50000"/>
                </a:schemeClr>
              </a:solidFill>
              <a:latin typeface="JasmineUPC" pitchFamily="18" charset="-34"/>
              <a:cs typeface="JasmineUPC" pitchFamily="18" charset="-34"/>
            </a:endParaRPr>
          </a:p>
        </p:txBody>
      </p:sp>
      <p:sp>
        <p:nvSpPr>
          <p:cNvPr id="9" name="สี่เหลี่ยมผืนผ้ามุมมน 8"/>
          <p:cNvSpPr/>
          <p:nvPr/>
        </p:nvSpPr>
        <p:spPr>
          <a:xfrm>
            <a:off x="876265" y="2394553"/>
            <a:ext cx="2088232" cy="504056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 smtClean="0">
                <a:solidFill>
                  <a:schemeClr val="accent6">
                    <a:lumMod val="50000"/>
                  </a:schemeClr>
                </a:solidFill>
                <a:latin typeface="JasmineUPC" pitchFamily="18" charset="-34"/>
                <a:cs typeface="JasmineUPC" pitchFamily="18" charset="-34"/>
              </a:rPr>
              <a:t>มาตราตัวสะกด</a:t>
            </a:r>
            <a:endParaRPr lang="th-TH" dirty="0">
              <a:solidFill>
                <a:schemeClr val="accent6">
                  <a:lumMod val="50000"/>
                </a:schemeClr>
              </a:solidFill>
              <a:latin typeface="JasmineUPC" pitchFamily="18" charset="-34"/>
              <a:cs typeface="JasmineUPC" pitchFamily="18" charset="-34"/>
            </a:endParaRPr>
          </a:p>
        </p:txBody>
      </p:sp>
      <p:sp>
        <p:nvSpPr>
          <p:cNvPr id="12" name="สี่เหลี่ยมผืนผ้ามุมมน 11"/>
          <p:cNvSpPr/>
          <p:nvPr/>
        </p:nvSpPr>
        <p:spPr>
          <a:xfrm>
            <a:off x="868218" y="3147814"/>
            <a:ext cx="2088232" cy="504056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 smtClean="0">
                <a:solidFill>
                  <a:schemeClr val="accent6">
                    <a:lumMod val="50000"/>
                  </a:schemeClr>
                </a:solidFill>
                <a:latin typeface="JasmineUPC" pitchFamily="18" charset="-34"/>
                <a:cs typeface="JasmineUPC" pitchFamily="18" charset="-34"/>
              </a:rPr>
              <a:t>วรรณยุกต์</a:t>
            </a:r>
            <a:endParaRPr lang="th-TH" dirty="0">
              <a:solidFill>
                <a:schemeClr val="accent6">
                  <a:lumMod val="50000"/>
                </a:schemeClr>
              </a:solidFill>
              <a:latin typeface="JasmineUPC" pitchFamily="18" charset="-34"/>
              <a:cs typeface="JasmineUPC" pitchFamily="18" charset="-34"/>
            </a:endParaRPr>
          </a:p>
        </p:txBody>
      </p:sp>
      <p:sp>
        <p:nvSpPr>
          <p:cNvPr id="13" name="สี่เหลี่ยมผืนผ้ามุมมน 12"/>
          <p:cNvSpPr/>
          <p:nvPr/>
        </p:nvSpPr>
        <p:spPr>
          <a:xfrm>
            <a:off x="876265" y="3903898"/>
            <a:ext cx="2088232" cy="504056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 smtClean="0">
                <a:solidFill>
                  <a:schemeClr val="accent6">
                    <a:lumMod val="50000"/>
                  </a:schemeClr>
                </a:solidFill>
                <a:latin typeface="JasmineUPC" pitchFamily="18" charset="-34"/>
                <a:cs typeface="JasmineUPC" pitchFamily="18" charset="-34"/>
              </a:rPr>
              <a:t>ประโยค</a:t>
            </a:r>
            <a:endParaRPr lang="th-TH" dirty="0">
              <a:solidFill>
                <a:schemeClr val="accent6">
                  <a:lumMod val="50000"/>
                </a:schemeClr>
              </a:solidFill>
              <a:latin typeface="JasmineUPC" pitchFamily="18" charset="-34"/>
              <a:cs typeface="JasmineUPC" pitchFamily="18" charset="-34"/>
            </a:endParaRPr>
          </a:p>
        </p:txBody>
      </p:sp>
      <p:sp>
        <p:nvSpPr>
          <p:cNvPr id="14" name="สี่เหลี่ยมผืนผ้ามุมมน 13"/>
          <p:cNvSpPr/>
          <p:nvPr/>
        </p:nvSpPr>
        <p:spPr>
          <a:xfrm>
            <a:off x="4139952" y="1134413"/>
            <a:ext cx="4536504" cy="3024336"/>
          </a:xfrm>
          <a:prstGeom prst="roundRect">
            <a:avLst/>
          </a:prstGeom>
          <a:noFill/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dirty="0" smtClean="0">
                <a:solidFill>
                  <a:schemeClr val="accent6">
                    <a:lumMod val="50000"/>
                  </a:schemeClr>
                </a:solidFill>
                <a:latin typeface="JasmineUPC" pitchFamily="18" charset="-34"/>
                <a:cs typeface="JasmineUPC" pitchFamily="18" charset="-34"/>
              </a:rPr>
              <a:t>ผู้เรียนต้องเรียนตามลำดับความง่ายไปยาก</a:t>
            </a:r>
          </a:p>
          <a:p>
            <a:pPr algn="ctr"/>
            <a:r>
              <a:rPr lang="th-TH" sz="2400" dirty="0" smtClean="0">
                <a:solidFill>
                  <a:srgbClr val="7030A0"/>
                </a:solidFill>
                <a:latin typeface="JasmineUPC" pitchFamily="18" charset="-34"/>
                <a:cs typeface="JasmineUPC" pitchFamily="18" charset="-34"/>
              </a:rPr>
              <a:t>1 </a:t>
            </a:r>
            <a:r>
              <a:rPr lang="en-US" sz="2400" dirty="0" smtClean="0">
                <a:solidFill>
                  <a:srgbClr val="7030A0"/>
                </a:solidFill>
                <a:latin typeface="JasmineUPC" pitchFamily="18" charset="-34"/>
                <a:cs typeface="JasmineUPC" pitchFamily="18" charset="-34"/>
              </a:rPr>
              <a:t>-&gt; 2 -&gt; 3 -&gt; 4 -&gt; 5</a:t>
            </a:r>
          </a:p>
          <a:p>
            <a:pPr algn="ctr"/>
            <a:r>
              <a:rPr lang="th-TH" sz="2400" dirty="0" smtClean="0">
                <a:solidFill>
                  <a:schemeClr val="accent6">
                    <a:lumMod val="50000"/>
                  </a:schemeClr>
                </a:solidFill>
                <a:latin typeface="JasmineUPC" pitchFamily="18" charset="-34"/>
                <a:cs typeface="JasmineUPC" pitchFamily="18" charset="-34"/>
              </a:rPr>
              <a:t>เรียนข้ามไม่ได้ แต่ย้อนกลับไปได้</a:t>
            </a:r>
            <a:br>
              <a:rPr lang="th-TH" sz="2400" dirty="0" smtClean="0">
                <a:solidFill>
                  <a:schemeClr val="accent6">
                    <a:lumMod val="50000"/>
                  </a:schemeClr>
                </a:solidFill>
                <a:latin typeface="JasmineUPC" pitchFamily="18" charset="-34"/>
                <a:cs typeface="JasmineUPC" pitchFamily="18" charset="-34"/>
              </a:rPr>
            </a:br>
            <a:r>
              <a:rPr lang="th-TH" sz="2400" u="sng" dirty="0" smtClean="0">
                <a:solidFill>
                  <a:srgbClr val="FF0000"/>
                </a:solidFill>
                <a:latin typeface="JasmineUPC" pitchFamily="18" charset="-34"/>
                <a:cs typeface="JasmineUPC" pitchFamily="18" charset="-34"/>
              </a:rPr>
              <a:t>ตัวอย่าง</a:t>
            </a:r>
            <a:r>
              <a:rPr lang="th-TH" sz="2400" dirty="0" smtClean="0">
                <a:solidFill>
                  <a:schemeClr val="accent6">
                    <a:lumMod val="50000"/>
                  </a:schemeClr>
                </a:solidFill>
                <a:latin typeface="JasmineUPC" pitchFamily="18" charset="-34"/>
                <a:cs typeface="JasmineUPC" pitchFamily="18" charset="-34"/>
              </a:rPr>
              <a:t> ปัจจุบันเรียน</a:t>
            </a:r>
            <a:r>
              <a:rPr lang="th-TH" sz="2400" b="1" dirty="0" smtClean="0">
                <a:solidFill>
                  <a:srgbClr val="00B050"/>
                </a:solidFill>
                <a:latin typeface="JasmineUPC" pitchFamily="18" charset="-34"/>
                <a:cs typeface="JasmineUPC" pitchFamily="18" charset="-34"/>
              </a:rPr>
              <a:t>บทที่3 </a:t>
            </a:r>
            <a:r>
              <a:rPr lang="th-TH" sz="2400" dirty="0" smtClean="0">
                <a:solidFill>
                  <a:schemeClr val="accent6">
                    <a:lumMod val="50000"/>
                  </a:schemeClr>
                </a:solidFill>
                <a:latin typeface="JasmineUPC" pitchFamily="18" charset="-34"/>
                <a:cs typeface="JasmineUPC" pitchFamily="18" charset="-34"/>
              </a:rPr>
              <a:t>ข้ามไปเรียน 4 และ 5 </a:t>
            </a:r>
            <a:r>
              <a:rPr lang="th-TH" sz="2400" dirty="0" smtClean="0">
                <a:solidFill>
                  <a:srgbClr val="FF0000"/>
                </a:solidFill>
                <a:latin typeface="JasmineUPC" pitchFamily="18" charset="-34"/>
                <a:cs typeface="JasmineUPC" pitchFamily="18" charset="-34"/>
              </a:rPr>
              <a:t>ไม่ได้</a:t>
            </a:r>
            <a:r>
              <a:rPr lang="th-TH" sz="2400" dirty="0" smtClean="0">
                <a:solidFill>
                  <a:schemeClr val="accent6">
                    <a:lumMod val="50000"/>
                  </a:schemeClr>
                </a:solidFill>
                <a:latin typeface="JasmineUPC" pitchFamily="18" charset="-34"/>
                <a:cs typeface="JasmineUPC" pitchFamily="18" charset="-34"/>
              </a:rPr>
              <a:t> แต่ย้อนกลับไปเรียน 1 2 3 ได้</a:t>
            </a:r>
            <a:endParaRPr lang="th-TH" sz="2400" dirty="0">
              <a:solidFill>
                <a:schemeClr val="accent6">
                  <a:lumMod val="50000"/>
                </a:schemeClr>
              </a:solidFill>
              <a:latin typeface="JasmineUPC" pitchFamily="18" charset="-34"/>
              <a:cs typeface="JasmineUPC" pitchFamily="18" charset="-34"/>
            </a:endParaRPr>
          </a:p>
        </p:txBody>
      </p:sp>
      <p:sp>
        <p:nvSpPr>
          <p:cNvPr id="3" name="วงรี 2"/>
          <p:cNvSpPr/>
          <p:nvPr/>
        </p:nvSpPr>
        <p:spPr>
          <a:xfrm>
            <a:off x="924472" y="1012454"/>
            <a:ext cx="263152" cy="26315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 smtClean="0">
                <a:solidFill>
                  <a:schemeClr val="tx1"/>
                </a:solidFill>
                <a:latin typeface="JasmineUPC" pitchFamily="18" charset="-34"/>
                <a:cs typeface="JasmineUPC" pitchFamily="18" charset="-34"/>
              </a:rPr>
              <a:t>1</a:t>
            </a:r>
            <a:endParaRPr lang="th-TH" dirty="0">
              <a:solidFill>
                <a:schemeClr val="tx1"/>
              </a:solidFill>
              <a:latin typeface="JasmineUPC" pitchFamily="18" charset="-34"/>
              <a:cs typeface="JasmineUPC" pitchFamily="18" charset="-34"/>
            </a:endParaRPr>
          </a:p>
        </p:txBody>
      </p:sp>
      <p:sp>
        <p:nvSpPr>
          <p:cNvPr id="15" name="วงรี 14"/>
          <p:cNvSpPr/>
          <p:nvPr/>
        </p:nvSpPr>
        <p:spPr>
          <a:xfrm>
            <a:off x="924472" y="1651011"/>
            <a:ext cx="263152" cy="26315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 smtClean="0">
                <a:solidFill>
                  <a:schemeClr val="tx1"/>
                </a:solidFill>
                <a:latin typeface="JasmineUPC" pitchFamily="18" charset="-34"/>
                <a:cs typeface="JasmineUPC" pitchFamily="18" charset="-34"/>
              </a:rPr>
              <a:t>2</a:t>
            </a:r>
            <a:endParaRPr lang="th-TH" dirty="0">
              <a:solidFill>
                <a:schemeClr val="tx1"/>
              </a:solidFill>
              <a:latin typeface="JasmineUPC" pitchFamily="18" charset="-34"/>
              <a:cs typeface="JasmineUPC" pitchFamily="18" charset="-34"/>
            </a:endParaRPr>
          </a:p>
        </p:txBody>
      </p:sp>
      <p:sp>
        <p:nvSpPr>
          <p:cNvPr id="16" name="วงรี 15"/>
          <p:cNvSpPr/>
          <p:nvPr/>
        </p:nvSpPr>
        <p:spPr>
          <a:xfrm>
            <a:off x="924472" y="2440174"/>
            <a:ext cx="263152" cy="26315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 smtClean="0">
                <a:solidFill>
                  <a:schemeClr val="tx1"/>
                </a:solidFill>
                <a:latin typeface="JasmineUPC" pitchFamily="18" charset="-34"/>
                <a:cs typeface="JasmineUPC" pitchFamily="18" charset="-34"/>
              </a:rPr>
              <a:t>3</a:t>
            </a:r>
            <a:endParaRPr lang="th-TH" dirty="0">
              <a:solidFill>
                <a:schemeClr val="tx1"/>
              </a:solidFill>
              <a:latin typeface="JasmineUPC" pitchFamily="18" charset="-34"/>
              <a:cs typeface="JasmineUPC" pitchFamily="18" charset="-34"/>
            </a:endParaRPr>
          </a:p>
        </p:txBody>
      </p:sp>
      <p:sp>
        <p:nvSpPr>
          <p:cNvPr id="17" name="วงรี 16"/>
          <p:cNvSpPr/>
          <p:nvPr/>
        </p:nvSpPr>
        <p:spPr>
          <a:xfrm>
            <a:off x="924472" y="3268266"/>
            <a:ext cx="263152" cy="26315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 smtClean="0">
                <a:solidFill>
                  <a:schemeClr val="tx1"/>
                </a:solidFill>
                <a:latin typeface="JasmineUPC" pitchFamily="18" charset="-34"/>
                <a:cs typeface="JasmineUPC" pitchFamily="18" charset="-34"/>
              </a:rPr>
              <a:t>4</a:t>
            </a:r>
            <a:endParaRPr lang="th-TH" dirty="0">
              <a:solidFill>
                <a:schemeClr val="tx1"/>
              </a:solidFill>
              <a:latin typeface="JasmineUPC" pitchFamily="18" charset="-34"/>
              <a:cs typeface="JasmineUPC" pitchFamily="18" charset="-34"/>
            </a:endParaRPr>
          </a:p>
        </p:txBody>
      </p:sp>
      <p:sp>
        <p:nvSpPr>
          <p:cNvPr id="18" name="วงรี 17"/>
          <p:cNvSpPr/>
          <p:nvPr/>
        </p:nvSpPr>
        <p:spPr>
          <a:xfrm>
            <a:off x="923658" y="4024350"/>
            <a:ext cx="263152" cy="26315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 smtClean="0">
                <a:solidFill>
                  <a:schemeClr val="tx1"/>
                </a:solidFill>
                <a:latin typeface="JasmineUPC" pitchFamily="18" charset="-34"/>
                <a:cs typeface="JasmineUPC" pitchFamily="18" charset="-34"/>
              </a:rPr>
              <a:t>5</a:t>
            </a:r>
            <a:endParaRPr lang="th-TH" dirty="0">
              <a:solidFill>
                <a:schemeClr val="tx1"/>
              </a:solidFill>
              <a:latin typeface="JasmineUPC" pitchFamily="18" charset="-34"/>
              <a:cs typeface="JasmineUPC" pitchFamily="18" charset="-34"/>
            </a:endParaRPr>
          </a:p>
        </p:txBody>
      </p:sp>
      <p:sp>
        <p:nvSpPr>
          <p:cNvPr id="20" name="ปุ่มปฏิบัติการ: หน้าแรก 19">
            <a:hlinkClick r:id="" action="ppaction://hlinkshowjump?jump=firstslide" highlightClick="1"/>
          </p:cNvPr>
          <p:cNvSpPr/>
          <p:nvPr/>
        </p:nvSpPr>
        <p:spPr>
          <a:xfrm>
            <a:off x="1763688" y="4587974"/>
            <a:ext cx="288032" cy="288032"/>
          </a:xfrm>
          <a:prstGeom prst="actionButtonHom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116268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425692" y="88619"/>
            <a:ext cx="2292615" cy="52322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th-TH" b="1" dirty="0">
                <a:solidFill>
                  <a:prstClr val="black"/>
                </a:solidFill>
                <a:latin typeface="JasmineUPC" pitchFamily="18" charset="-34"/>
                <a:cs typeface="JasmineUPC" pitchFamily="18" charset="-34"/>
              </a:rPr>
              <a:t>หน้า พยัญชนะไทย</a:t>
            </a:r>
          </a:p>
        </p:txBody>
      </p:sp>
      <p:sp>
        <p:nvSpPr>
          <p:cNvPr id="5" name="สี่เหลี่ยมผืนผ้า 4"/>
          <p:cNvSpPr/>
          <p:nvPr/>
        </p:nvSpPr>
        <p:spPr>
          <a:xfrm>
            <a:off x="516225" y="611839"/>
            <a:ext cx="2808312" cy="43719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>
              <a:solidFill>
                <a:prstClr val="white"/>
              </a:solidFill>
            </a:endParaRPr>
          </a:p>
        </p:txBody>
      </p:sp>
      <p:sp>
        <p:nvSpPr>
          <p:cNvPr id="8" name="สี่เหลี่ยมผืนผ้ามุมมน 7"/>
          <p:cNvSpPr/>
          <p:nvPr/>
        </p:nvSpPr>
        <p:spPr>
          <a:xfrm>
            <a:off x="868218" y="1635646"/>
            <a:ext cx="2088232" cy="504056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 smtClean="0">
                <a:solidFill>
                  <a:schemeClr val="accent1">
                    <a:lumMod val="75000"/>
                  </a:schemeClr>
                </a:solidFill>
                <a:latin typeface="JasmineUPC" pitchFamily="18" charset="-34"/>
                <a:cs typeface="JasmineUPC" pitchFamily="18" charset="-34"/>
              </a:rPr>
              <a:t>แบบทดสอบ</a:t>
            </a:r>
            <a:r>
              <a:rPr lang="th-TH" sz="2000" dirty="0">
                <a:solidFill>
                  <a:schemeClr val="accent1">
                    <a:lumMod val="75000"/>
                  </a:schemeClr>
                </a:solidFill>
                <a:latin typeface="JasmineUPC" pitchFamily="18" charset="-34"/>
                <a:cs typeface="JasmineUPC" pitchFamily="18" charset="-34"/>
              </a:rPr>
              <a:t>พยัญชนะไทย</a:t>
            </a:r>
          </a:p>
        </p:txBody>
      </p:sp>
      <p:sp>
        <p:nvSpPr>
          <p:cNvPr id="9" name="สี่เหลี่ยมผืนผ้ามุมมน 8"/>
          <p:cNvSpPr/>
          <p:nvPr/>
        </p:nvSpPr>
        <p:spPr>
          <a:xfrm>
            <a:off x="876265" y="2394553"/>
            <a:ext cx="2088232" cy="504056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dirty="0" smtClean="0">
                <a:solidFill>
                  <a:schemeClr val="accent1">
                    <a:lumMod val="75000"/>
                  </a:schemeClr>
                </a:solidFill>
                <a:latin typeface="JasmineUPC" pitchFamily="18" charset="-34"/>
                <a:cs typeface="JasmineUPC" pitchFamily="18" charset="-34"/>
              </a:rPr>
              <a:t>เสียงพยัญชนะไทย</a:t>
            </a:r>
            <a:endParaRPr lang="th-TH" sz="2400" dirty="0">
              <a:solidFill>
                <a:schemeClr val="accent1">
                  <a:lumMod val="75000"/>
                </a:schemeClr>
              </a:solidFill>
              <a:latin typeface="JasmineUPC" pitchFamily="18" charset="-34"/>
              <a:cs typeface="JasmineUPC" pitchFamily="18" charset="-34"/>
            </a:endParaRPr>
          </a:p>
        </p:txBody>
      </p:sp>
      <p:sp>
        <p:nvSpPr>
          <p:cNvPr id="12" name="สี่เหลี่ยมผืนผ้ามุมมน 11"/>
          <p:cNvSpPr/>
          <p:nvPr/>
        </p:nvSpPr>
        <p:spPr>
          <a:xfrm>
            <a:off x="868218" y="3147814"/>
            <a:ext cx="2088232" cy="504056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 smtClean="0">
                <a:solidFill>
                  <a:schemeClr val="accent1">
                    <a:lumMod val="75000"/>
                  </a:schemeClr>
                </a:solidFill>
                <a:latin typeface="JasmineUPC" pitchFamily="18" charset="-34"/>
                <a:cs typeface="JasmineUPC" pitchFamily="18" charset="-34"/>
              </a:rPr>
              <a:t>ฝึกแยกเสียงพยัญชนะ</a:t>
            </a:r>
            <a:endParaRPr lang="th-TH" sz="2000" dirty="0">
              <a:solidFill>
                <a:schemeClr val="accent1">
                  <a:lumMod val="75000"/>
                </a:schemeClr>
              </a:solidFill>
              <a:latin typeface="JasmineUPC" pitchFamily="18" charset="-34"/>
              <a:cs typeface="JasmineUPC" pitchFamily="18" charset="-34"/>
            </a:endParaRPr>
          </a:p>
        </p:txBody>
      </p:sp>
      <p:sp>
        <p:nvSpPr>
          <p:cNvPr id="14" name="สี่เหลี่ยมผืนผ้ามุมมน 13"/>
          <p:cNvSpPr/>
          <p:nvPr/>
        </p:nvSpPr>
        <p:spPr>
          <a:xfrm>
            <a:off x="4139952" y="1134413"/>
            <a:ext cx="4536504" cy="3024336"/>
          </a:xfrm>
          <a:prstGeom prst="roundRect">
            <a:avLst/>
          </a:prstGeom>
          <a:noFill/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dirty="0">
                <a:solidFill>
                  <a:srgbClr val="F79646">
                    <a:lumMod val="50000"/>
                  </a:srgbClr>
                </a:solidFill>
                <a:latin typeface="JasmineUPC" pitchFamily="18" charset="-34"/>
                <a:cs typeface="JasmineUPC" pitchFamily="18" charset="-34"/>
              </a:rPr>
              <a:t>ผู้เรียนต้องเรียนตามลำดับความง่ายไปยาก</a:t>
            </a:r>
          </a:p>
          <a:p>
            <a:pPr algn="ctr"/>
            <a:r>
              <a:rPr lang="th-TH" sz="2400" dirty="0">
                <a:solidFill>
                  <a:srgbClr val="7030A0"/>
                </a:solidFill>
                <a:latin typeface="JasmineUPC" pitchFamily="18" charset="-34"/>
                <a:cs typeface="JasmineUPC" pitchFamily="18" charset="-34"/>
              </a:rPr>
              <a:t>1 </a:t>
            </a:r>
            <a:r>
              <a:rPr lang="en-US" sz="2400" dirty="0">
                <a:solidFill>
                  <a:srgbClr val="7030A0"/>
                </a:solidFill>
                <a:latin typeface="JasmineUPC" pitchFamily="18" charset="-34"/>
                <a:cs typeface="JasmineUPC" pitchFamily="18" charset="-34"/>
              </a:rPr>
              <a:t>-&gt; 2 -&gt; 3 -&gt; 4 -&gt; 5</a:t>
            </a:r>
          </a:p>
          <a:p>
            <a:pPr algn="ctr"/>
            <a:r>
              <a:rPr lang="th-TH" sz="2400" dirty="0">
                <a:solidFill>
                  <a:srgbClr val="F79646">
                    <a:lumMod val="50000"/>
                  </a:srgbClr>
                </a:solidFill>
                <a:latin typeface="JasmineUPC" pitchFamily="18" charset="-34"/>
                <a:cs typeface="JasmineUPC" pitchFamily="18" charset="-34"/>
              </a:rPr>
              <a:t>เรียนข้ามไม่ได้ แต่ย้อนกลับไปได้</a:t>
            </a:r>
            <a:br>
              <a:rPr lang="th-TH" sz="2400" dirty="0">
                <a:solidFill>
                  <a:srgbClr val="F79646">
                    <a:lumMod val="50000"/>
                  </a:srgbClr>
                </a:solidFill>
                <a:latin typeface="JasmineUPC" pitchFamily="18" charset="-34"/>
                <a:cs typeface="JasmineUPC" pitchFamily="18" charset="-34"/>
              </a:rPr>
            </a:br>
            <a:r>
              <a:rPr lang="th-TH" sz="2400" u="sng" dirty="0">
                <a:solidFill>
                  <a:srgbClr val="FF0000"/>
                </a:solidFill>
                <a:latin typeface="JasmineUPC" pitchFamily="18" charset="-34"/>
                <a:cs typeface="JasmineUPC" pitchFamily="18" charset="-34"/>
              </a:rPr>
              <a:t>ตัวอย่าง</a:t>
            </a:r>
            <a:r>
              <a:rPr lang="th-TH" sz="2400" dirty="0">
                <a:solidFill>
                  <a:srgbClr val="F79646">
                    <a:lumMod val="50000"/>
                  </a:srgbClr>
                </a:solidFill>
                <a:latin typeface="JasmineUPC" pitchFamily="18" charset="-34"/>
                <a:cs typeface="JasmineUPC" pitchFamily="18" charset="-34"/>
              </a:rPr>
              <a:t> ปัจจุบันเรียน</a:t>
            </a:r>
            <a:r>
              <a:rPr lang="th-TH" sz="2400" b="1" dirty="0">
                <a:solidFill>
                  <a:srgbClr val="00B050"/>
                </a:solidFill>
                <a:latin typeface="JasmineUPC" pitchFamily="18" charset="-34"/>
                <a:cs typeface="JasmineUPC" pitchFamily="18" charset="-34"/>
              </a:rPr>
              <a:t>บทที่3 </a:t>
            </a:r>
            <a:r>
              <a:rPr lang="th-TH" sz="2400" dirty="0">
                <a:solidFill>
                  <a:srgbClr val="F79646">
                    <a:lumMod val="50000"/>
                  </a:srgbClr>
                </a:solidFill>
                <a:latin typeface="JasmineUPC" pitchFamily="18" charset="-34"/>
                <a:cs typeface="JasmineUPC" pitchFamily="18" charset="-34"/>
              </a:rPr>
              <a:t>ข้ามไปเรียน 4 และ 5 </a:t>
            </a:r>
            <a:r>
              <a:rPr lang="th-TH" sz="2400" dirty="0">
                <a:solidFill>
                  <a:srgbClr val="FF0000"/>
                </a:solidFill>
                <a:latin typeface="JasmineUPC" pitchFamily="18" charset="-34"/>
                <a:cs typeface="JasmineUPC" pitchFamily="18" charset="-34"/>
              </a:rPr>
              <a:t>ไม่ได้</a:t>
            </a:r>
            <a:r>
              <a:rPr lang="th-TH" sz="2400" dirty="0">
                <a:solidFill>
                  <a:srgbClr val="F79646">
                    <a:lumMod val="50000"/>
                  </a:srgbClr>
                </a:solidFill>
                <a:latin typeface="JasmineUPC" pitchFamily="18" charset="-34"/>
                <a:cs typeface="JasmineUPC" pitchFamily="18" charset="-34"/>
              </a:rPr>
              <a:t> แต่ย้อนกลับไปเรียน 1 2 3 ได้</a:t>
            </a:r>
          </a:p>
        </p:txBody>
      </p:sp>
      <p:sp>
        <p:nvSpPr>
          <p:cNvPr id="19" name="สี่เหลี่ยมผืนผ้า 18"/>
          <p:cNvSpPr>
            <a:spLocks noChangeAspect="1"/>
          </p:cNvSpPr>
          <p:nvPr/>
        </p:nvSpPr>
        <p:spPr>
          <a:xfrm>
            <a:off x="1619672" y="4562127"/>
            <a:ext cx="504056" cy="31387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0000" lnSpcReduction="20000"/>
          </a:bodyPr>
          <a:lstStyle/>
          <a:p>
            <a:pPr algn="ctr"/>
            <a:r>
              <a:rPr lang="en-US" sz="1800" b="1" dirty="0" smtClean="0">
                <a:solidFill>
                  <a:schemeClr val="accent5">
                    <a:lumMod val="50000"/>
                  </a:schemeClr>
                </a:solidFill>
                <a:latin typeface="JasmineUPC" pitchFamily="18" charset="-34"/>
                <a:cs typeface="JasmineUPC" pitchFamily="18" charset="-34"/>
              </a:rPr>
              <a:t>MENU</a:t>
            </a:r>
            <a:endParaRPr lang="th-TH" sz="1800" b="1" dirty="0">
              <a:solidFill>
                <a:schemeClr val="accent5">
                  <a:lumMod val="50000"/>
                </a:schemeClr>
              </a:solidFill>
              <a:latin typeface="JasmineUPC" pitchFamily="18" charset="-34"/>
              <a:cs typeface="JasmineUPC" pitchFamily="18" charset="-34"/>
            </a:endParaRPr>
          </a:p>
        </p:txBody>
      </p:sp>
      <p:sp>
        <p:nvSpPr>
          <p:cNvPr id="11" name="สี่เหลี่ยมผืนผ้ามุมมน 11"/>
          <p:cNvSpPr/>
          <p:nvPr/>
        </p:nvSpPr>
        <p:spPr>
          <a:xfrm>
            <a:off x="868218" y="3813773"/>
            <a:ext cx="2088232" cy="504056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 smtClean="0">
                <a:solidFill>
                  <a:schemeClr val="accent1">
                    <a:lumMod val="75000"/>
                  </a:schemeClr>
                </a:solidFill>
                <a:latin typeface="JasmineUPC" pitchFamily="18" charset="-34"/>
                <a:cs typeface="JasmineUPC" pitchFamily="18" charset="-34"/>
              </a:rPr>
              <a:t>ฝึกเขียนพยัญชนะ</a:t>
            </a:r>
            <a:endParaRPr lang="th-TH" dirty="0">
              <a:solidFill>
                <a:schemeClr val="accent1">
                  <a:lumMod val="75000"/>
                </a:schemeClr>
              </a:solidFill>
              <a:latin typeface="JasmineUPC" pitchFamily="18" charset="-34"/>
              <a:cs typeface="JasmineUPC" pitchFamily="18" charset="-34"/>
            </a:endParaRPr>
          </a:p>
        </p:txBody>
      </p:sp>
      <p:sp>
        <p:nvSpPr>
          <p:cNvPr id="13" name="สี่เหลี่ยมผืนผ้ามุมมน 6"/>
          <p:cNvSpPr/>
          <p:nvPr/>
        </p:nvSpPr>
        <p:spPr>
          <a:xfrm>
            <a:off x="876265" y="846144"/>
            <a:ext cx="2088232" cy="504056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JasmineUPC" pitchFamily="18" charset="-34"/>
                <a:ea typeface="+mn-ea"/>
                <a:cs typeface="JasmineUPC" pitchFamily="18" charset="-34"/>
              </a:rPr>
              <a:t>เรียนพยัญชนะ</a:t>
            </a:r>
            <a:r>
              <a:rPr kumimoji="0" lang="th-TH" sz="2400" b="0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JasmineUPC" pitchFamily="18" charset="-34"/>
                <a:ea typeface="+mn-ea"/>
                <a:cs typeface="JasmineUPC" pitchFamily="18" charset="-34"/>
              </a:rPr>
              <a:t>ไทย</a:t>
            </a:r>
          </a:p>
        </p:txBody>
      </p:sp>
    </p:spTree>
    <p:extLst>
      <p:ext uri="{BB962C8B-B14F-4D97-AF65-F5344CB8AC3E}">
        <p14:creationId xmlns:p14="http://schemas.microsoft.com/office/powerpoint/2010/main" val="2963470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สี่เหลี่ยมผืนผ้า 4"/>
          <p:cNvSpPr/>
          <p:nvPr/>
        </p:nvSpPr>
        <p:spPr>
          <a:xfrm>
            <a:off x="516225" y="611839"/>
            <a:ext cx="2808312" cy="43719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>
              <a:solidFill>
                <a:prstClr val="white"/>
              </a:solidFill>
            </a:endParaRPr>
          </a:p>
        </p:txBody>
      </p:sp>
      <p:sp>
        <p:nvSpPr>
          <p:cNvPr id="10" name="สี่เหลี่ยมผืนผ้ามุมมน 9"/>
          <p:cNvSpPr/>
          <p:nvPr/>
        </p:nvSpPr>
        <p:spPr>
          <a:xfrm>
            <a:off x="3742893" y="1533861"/>
            <a:ext cx="5014604" cy="3024336"/>
          </a:xfrm>
          <a:prstGeom prst="roundRect">
            <a:avLst/>
          </a:prstGeom>
          <a:noFill/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th-TH" b="1" dirty="0" smtClean="0">
                <a:solidFill>
                  <a:srgbClr val="00B050"/>
                </a:solidFill>
                <a:latin typeface="JasmineUPC" pitchFamily="18" charset="-34"/>
                <a:cs typeface="JasmineUPC" pitchFamily="18" charset="-34"/>
              </a:rPr>
              <a:t>สอนเชื่อมโยงพยัญชนะกับภาพ</a:t>
            </a:r>
            <a:r>
              <a:rPr lang="th-TH" dirty="0" smtClean="0">
                <a:solidFill>
                  <a:schemeClr val="accent6">
                    <a:lumMod val="50000"/>
                  </a:schemeClr>
                </a:solidFill>
                <a:latin typeface="JasmineUPC" pitchFamily="18" charset="-34"/>
                <a:cs typeface="JasmineUPC" pitchFamily="18" charset="-34"/>
              </a:rPr>
              <a:t/>
            </a:r>
            <a:br>
              <a:rPr lang="th-TH" dirty="0" smtClean="0">
                <a:solidFill>
                  <a:schemeClr val="accent6">
                    <a:lumMod val="50000"/>
                  </a:schemeClr>
                </a:solidFill>
                <a:latin typeface="JasmineUPC" pitchFamily="18" charset="-34"/>
                <a:cs typeface="JasmineUPC" pitchFamily="18" charset="-34"/>
              </a:rPr>
            </a:br>
            <a:r>
              <a:rPr lang="th-TH" dirty="0" smtClean="0">
                <a:solidFill>
                  <a:schemeClr val="accent6">
                    <a:lumMod val="50000"/>
                  </a:schemeClr>
                </a:solidFill>
                <a:latin typeface="JasmineUPC" pitchFamily="18" charset="-34"/>
                <a:cs typeface="JasmineUPC" pitchFamily="18" charset="-34"/>
              </a:rPr>
              <a:t>- ใช้ภาพขึ้นก่อนพยัญชนะ เพราะเด็กจะจำภาพง่ายกว่า</a:t>
            </a:r>
          </a:p>
          <a:p>
            <a:r>
              <a:rPr lang="th-TH" dirty="0" smtClean="0">
                <a:solidFill>
                  <a:schemeClr val="accent6">
                    <a:lumMod val="50000"/>
                  </a:schemeClr>
                </a:solidFill>
                <a:latin typeface="JasmineUPC" pitchFamily="18" charset="-34"/>
                <a:cs typeface="JasmineUPC" pitchFamily="18" charset="-34"/>
              </a:rPr>
              <a:t>- เสียงมีไอคอนให้กดฟังซ้ำได้</a:t>
            </a:r>
          </a:p>
          <a:p>
            <a:r>
              <a:rPr lang="th-TH" dirty="0" smtClean="0">
                <a:solidFill>
                  <a:schemeClr val="accent6">
                    <a:lumMod val="50000"/>
                  </a:schemeClr>
                </a:solidFill>
                <a:latin typeface="JasmineUPC" pitchFamily="18" charset="-34"/>
                <a:cs typeface="JasmineUPC" pitchFamily="18" charset="-34"/>
              </a:rPr>
              <a:t>- มีไอคอนให้คลิก</a:t>
            </a:r>
            <a:r>
              <a:rPr lang="th-TH" dirty="0" err="1" smtClean="0">
                <a:solidFill>
                  <a:schemeClr val="accent6">
                    <a:lumMod val="50000"/>
                  </a:schemeClr>
                </a:solidFill>
                <a:latin typeface="JasmineUPC" pitchFamily="18" charset="-34"/>
                <a:cs typeface="JasmineUPC" pitchFamily="18" charset="-34"/>
              </a:rPr>
              <a:t>ลิงก์</a:t>
            </a:r>
            <a:r>
              <a:rPr lang="th-TH" dirty="0" smtClean="0">
                <a:solidFill>
                  <a:schemeClr val="accent6">
                    <a:lumMod val="50000"/>
                  </a:schemeClr>
                </a:solidFill>
                <a:latin typeface="JasmineUPC" pitchFamily="18" charset="-34"/>
                <a:cs typeface="JasmineUPC" pitchFamily="18" charset="-34"/>
              </a:rPr>
              <a:t>ไปยัง </a:t>
            </a:r>
            <a:r>
              <a:rPr lang="th-TH" dirty="0" smtClean="0">
                <a:solidFill>
                  <a:schemeClr val="accent5">
                    <a:lumMod val="75000"/>
                  </a:schemeClr>
                </a:solidFill>
                <a:latin typeface="JasmineUPC" pitchFamily="18" charset="-34"/>
                <a:cs typeface="JasmineUPC" pitchFamily="18" charset="-34"/>
              </a:rPr>
              <a:t>หน้าเมนูพยัญชนะไทย</a:t>
            </a:r>
            <a:r>
              <a:rPr lang="th-TH" dirty="0" smtClean="0">
                <a:solidFill>
                  <a:schemeClr val="accent6">
                    <a:lumMod val="50000"/>
                  </a:schemeClr>
                </a:solidFill>
                <a:latin typeface="JasmineUPC" pitchFamily="18" charset="-34"/>
                <a:cs typeface="JasmineUPC" pitchFamily="18" charset="-34"/>
              </a:rPr>
              <a:t> หรือ </a:t>
            </a:r>
            <a:r>
              <a:rPr lang="th-TH" dirty="0" smtClean="0">
                <a:solidFill>
                  <a:schemeClr val="accent5">
                    <a:lumMod val="75000"/>
                  </a:schemeClr>
                </a:solidFill>
                <a:latin typeface="JasmineUPC" pitchFamily="18" charset="-34"/>
                <a:cs typeface="JasmineUPC" pitchFamily="18" charset="-34"/>
              </a:rPr>
              <a:t>หน้าถัดไป</a:t>
            </a:r>
          </a:p>
          <a:p>
            <a:pPr algn="ctr"/>
            <a:endParaRPr lang="th-TH" dirty="0">
              <a:solidFill>
                <a:schemeClr val="accent6">
                  <a:lumMod val="50000"/>
                </a:schemeClr>
              </a:solidFill>
              <a:latin typeface="JasmineUPC" pitchFamily="18" charset="-34"/>
              <a:cs typeface="JasmineUPC" pitchFamily="18" charset="-34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85374" y="1537791"/>
            <a:ext cx="1398140" cy="37702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23900" dirty="0" smtClean="0">
                <a:solidFill>
                  <a:schemeClr val="accent4">
                    <a:lumMod val="40000"/>
                    <a:lumOff val="60000"/>
                  </a:schemeClr>
                </a:solidFill>
                <a:latin typeface="Angsana New" pitchFamily="18" charset="-34"/>
              </a:rPr>
              <a:t>ก</a:t>
            </a:r>
            <a:endParaRPr lang="th-TH" sz="23900" dirty="0">
              <a:solidFill>
                <a:schemeClr val="accent4">
                  <a:lumMod val="40000"/>
                  <a:lumOff val="60000"/>
                </a:schemeClr>
              </a:solidFill>
              <a:latin typeface="Angsana New" pitchFamily="18" charset="-34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61" r="18763"/>
          <a:stretch/>
        </p:blipFill>
        <p:spPr bwMode="auto">
          <a:xfrm>
            <a:off x="1013986" y="983753"/>
            <a:ext cx="1757814" cy="1681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ปุ่มปฏิบัติการ: เสียง 2">
            <a:hlinkClick r:id="" action="ppaction://noaction" highlightClick="1">
              <a:snd r:embed="rId3" name="applause.wav"/>
            </a:hlinkClick>
          </p:cNvPr>
          <p:cNvSpPr/>
          <p:nvPr/>
        </p:nvSpPr>
        <p:spPr>
          <a:xfrm>
            <a:off x="2555331" y="3842047"/>
            <a:ext cx="360485" cy="360040"/>
          </a:xfrm>
          <a:prstGeom prst="actionButtonSoun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6" name="ลูกศรขวา 15"/>
          <p:cNvSpPr/>
          <p:nvPr/>
        </p:nvSpPr>
        <p:spPr>
          <a:xfrm>
            <a:off x="2411760" y="4562127"/>
            <a:ext cx="467829" cy="313879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4" name="สี่เหลี่ยมผืนผ้า 13"/>
          <p:cNvSpPr>
            <a:spLocks noChangeAspect="1"/>
          </p:cNvSpPr>
          <p:nvPr/>
        </p:nvSpPr>
        <p:spPr>
          <a:xfrm>
            <a:off x="1619672" y="4562127"/>
            <a:ext cx="504056" cy="31387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0000" lnSpcReduction="20000"/>
          </a:bodyPr>
          <a:lstStyle/>
          <a:p>
            <a:pPr algn="ctr"/>
            <a:r>
              <a:rPr lang="en-US" sz="1800" b="1" dirty="0" smtClean="0">
                <a:solidFill>
                  <a:schemeClr val="accent5">
                    <a:lumMod val="50000"/>
                  </a:schemeClr>
                </a:solidFill>
                <a:latin typeface="JasmineUPC" pitchFamily="18" charset="-34"/>
                <a:cs typeface="JasmineUPC" pitchFamily="18" charset="-34"/>
              </a:rPr>
              <a:t>MENU</a:t>
            </a:r>
            <a:endParaRPr lang="th-TH" sz="1800" b="1" dirty="0">
              <a:solidFill>
                <a:schemeClr val="accent5">
                  <a:lumMod val="50000"/>
                </a:schemeClr>
              </a:solidFill>
              <a:latin typeface="JasmineUPC" pitchFamily="18" charset="-34"/>
              <a:cs typeface="JasmineUPC" pitchFamily="18" charset="-34"/>
            </a:endParaRPr>
          </a:p>
        </p:txBody>
      </p:sp>
      <p:sp>
        <p:nvSpPr>
          <p:cNvPr id="12" name="สี่เหลี่ยมผืนผ้ามุมมน 6"/>
          <p:cNvSpPr/>
          <p:nvPr/>
        </p:nvSpPr>
        <p:spPr>
          <a:xfrm>
            <a:off x="3046330" y="35546"/>
            <a:ext cx="3051339" cy="504056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 smtClean="0">
                <a:solidFill>
                  <a:schemeClr val="accent1">
                    <a:lumMod val="75000"/>
                  </a:schemeClr>
                </a:solidFill>
                <a:latin typeface="JasmineUPC" pitchFamily="18" charset="-34"/>
                <a:cs typeface="JasmineUPC" pitchFamily="18" charset="-34"/>
              </a:rPr>
              <a:t>หน้า1 “เรียนพยัญชนะไทย”</a:t>
            </a:r>
            <a:endParaRPr lang="th-TH" dirty="0">
              <a:solidFill>
                <a:schemeClr val="accent1">
                  <a:lumMod val="75000"/>
                </a:schemeClr>
              </a:solidFill>
              <a:latin typeface="JasmineUPC" pitchFamily="18" charset="-34"/>
              <a:cs typeface="JasmineUPC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978625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สี่เหลี่ยมผืนผ้า 4"/>
          <p:cNvSpPr/>
          <p:nvPr/>
        </p:nvSpPr>
        <p:spPr>
          <a:xfrm>
            <a:off x="516225" y="611839"/>
            <a:ext cx="2808312" cy="43719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>
              <a:solidFill>
                <a:prstClr val="white"/>
              </a:solidFill>
            </a:endParaRPr>
          </a:p>
        </p:txBody>
      </p:sp>
      <p:sp>
        <p:nvSpPr>
          <p:cNvPr id="10" name="สี่เหลี่ยมผืนผ้ามุมมน 9"/>
          <p:cNvSpPr/>
          <p:nvPr/>
        </p:nvSpPr>
        <p:spPr>
          <a:xfrm>
            <a:off x="3923928" y="1491630"/>
            <a:ext cx="4824536" cy="3024336"/>
          </a:xfrm>
          <a:prstGeom prst="roundRect">
            <a:avLst/>
          </a:prstGeom>
          <a:noFill/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th-TH" b="1" dirty="0" smtClean="0">
                <a:solidFill>
                  <a:srgbClr val="00B050"/>
                </a:solidFill>
                <a:latin typeface="JasmineUPC" pitchFamily="18" charset="-34"/>
                <a:cs typeface="JasmineUPC" pitchFamily="18" charset="-34"/>
              </a:rPr>
              <a:t>สอนเชื่อมโยงพยัญชนะกับภาพ</a:t>
            </a:r>
            <a:r>
              <a:rPr lang="th-TH" dirty="0" smtClean="0">
                <a:solidFill>
                  <a:schemeClr val="accent6">
                    <a:lumMod val="50000"/>
                  </a:schemeClr>
                </a:solidFill>
                <a:latin typeface="JasmineUPC" pitchFamily="18" charset="-34"/>
                <a:cs typeface="JasmineUPC" pitchFamily="18" charset="-34"/>
              </a:rPr>
              <a:t/>
            </a:r>
            <a:br>
              <a:rPr lang="th-TH" dirty="0" smtClean="0">
                <a:solidFill>
                  <a:schemeClr val="accent6">
                    <a:lumMod val="50000"/>
                  </a:schemeClr>
                </a:solidFill>
                <a:latin typeface="JasmineUPC" pitchFamily="18" charset="-34"/>
                <a:cs typeface="JasmineUPC" pitchFamily="18" charset="-34"/>
              </a:rPr>
            </a:br>
            <a:r>
              <a:rPr lang="th-TH" dirty="0" smtClean="0">
                <a:solidFill>
                  <a:schemeClr val="accent6">
                    <a:lumMod val="50000"/>
                  </a:schemeClr>
                </a:solidFill>
                <a:latin typeface="JasmineUPC" pitchFamily="18" charset="-34"/>
                <a:cs typeface="JasmineUPC" pitchFamily="18" charset="-34"/>
              </a:rPr>
              <a:t>- รูปแบบเหมือนหน้าแรก เพิ่มเติมแค่ปุ่ม</a:t>
            </a:r>
          </a:p>
          <a:p>
            <a:r>
              <a:rPr lang="th-TH" dirty="0" smtClean="0">
                <a:solidFill>
                  <a:schemeClr val="accent6">
                    <a:lumMod val="50000"/>
                  </a:schemeClr>
                </a:solidFill>
                <a:latin typeface="JasmineUPC" pitchFamily="18" charset="-34"/>
                <a:cs typeface="JasmineUPC" pitchFamily="18" charset="-34"/>
              </a:rPr>
              <a:t>ไอคอน </a:t>
            </a:r>
            <a:r>
              <a:rPr lang="th-TH" dirty="0" smtClean="0">
                <a:solidFill>
                  <a:schemeClr val="accent5">
                    <a:lumMod val="75000"/>
                  </a:schemeClr>
                </a:solidFill>
                <a:latin typeface="JasmineUPC" pitchFamily="18" charset="-34"/>
                <a:cs typeface="JasmineUPC" pitchFamily="18" charset="-34"/>
              </a:rPr>
              <a:t>หน้าย้อนกลับ</a:t>
            </a:r>
          </a:p>
          <a:p>
            <a:r>
              <a:rPr lang="th-TH" dirty="0" smtClean="0">
                <a:solidFill>
                  <a:schemeClr val="accent6">
                    <a:lumMod val="50000"/>
                  </a:schemeClr>
                </a:solidFill>
                <a:latin typeface="JasmineUPC" pitchFamily="18" charset="-34"/>
                <a:cs typeface="JasmineUPC" pitchFamily="18" charset="-34"/>
              </a:rPr>
              <a:t>- ทำลักษณะนี้ตั้งแต่ ก. ไก่ ถึง ฮ.นกฮูก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172064" y="1635646"/>
            <a:ext cx="1337226" cy="37702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23900" dirty="0">
                <a:solidFill>
                  <a:schemeClr val="accent4">
                    <a:lumMod val="40000"/>
                    <a:lumOff val="60000"/>
                  </a:schemeClr>
                </a:solidFill>
                <a:latin typeface="Angsana New" pitchFamily="18" charset="-34"/>
              </a:rPr>
              <a:t>ข</a:t>
            </a:r>
          </a:p>
        </p:txBody>
      </p:sp>
      <p:sp>
        <p:nvSpPr>
          <p:cNvPr id="3" name="ปุ่มปฏิบัติการ: เสียง 2">
            <a:hlinkClick r:id="" action="ppaction://noaction" highlightClick="1">
              <a:snd r:embed="rId2" name="applause.wav"/>
            </a:hlinkClick>
          </p:cNvPr>
          <p:cNvSpPr/>
          <p:nvPr/>
        </p:nvSpPr>
        <p:spPr>
          <a:xfrm>
            <a:off x="2555331" y="3831363"/>
            <a:ext cx="360485" cy="360040"/>
          </a:xfrm>
          <a:prstGeom prst="actionButtonSoun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9" name="ลูกศรขวา 8"/>
          <p:cNvSpPr/>
          <p:nvPr/>
        </p:nvSpPr>
        <p:spPr>
          <a:xfrm>
            <a:off x="2411760" y="4562127"/>
            <a:ext cx="467829" cy="313879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2" name="ลูกศรขวา 11"/>
          <p:cNvSpPr/>
          <p:nvPr/>
        </p:nvSpPr>
        <p:spPr>
          <a:xfrm flipH="1">
            <a:off x="944792" y="4562127"/>
            <a:ext cx="467829" cy="313879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495" y="1160692"/>
            <a:ext cx="2200418" cy="14830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สี่เหลี่ยมผืนผ้า 12"/>
          <p:cNvSpPr>
            <a:spLocks noChangeAspect="1"/>
          </p:cNvSpPr>
          <p:nvPr/>
        </p:nvSpPr>
        <p:spPr>
          <a:xfrm>
            <a:off x="1619672" y="4562127"/>
            <a:ext cx="504056" cy="31387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0000" lnSpcReduction="20000"/>
          </a:bodyPr>
          <a:lstStyle/>
          <a:p>
            <a:pPr algn="ctr"/>
            <a:r>
              <a:rPr lang="en-US" sz="1800" b="1" dirty="0" smtClean="0">
                <a:solidFill>
                  <a:schemeClr val="accent5">
                    <a:lumMod val="50000"/>
                  </a:schemeClr>
                </a:solidFill>
                <a:latin typeface="JasmineUPC" pitchFamily="18" charset="-34"/>
                <a:cs typeface="JasmineUPC" pitchFamily="18" charset="-34"/>
              </a:rPr>
              <a:t>MENU</a:t>
            </a:r>
            <a:endParaRPr lang="th-TH" sz="1800" b="1" dirty="0">
              <a:solidFill>
                <a:schemeClr val="accent5">
                  <a:lumMod val="50000"/>
                </a:schemeClr>
              </a:solidFill>
              <a:latin typeface="JasmineUPC" pitchFamily="18" charset="-34"/>
              <a:cs typeface="JasmineUPC" pitchFamily="18" charset="-34"/>
            </a:endParaRPr>
          </a:p>
        </p:txBody>
      </p:sp>
      <p:sp>
        <p:nvSpPr>
          <p:cNvPr id="15" name="สี่เหลี่ยมผืนผ้ามุมมน 6"/>
          <p:cNvSpPr/>
          <p:nvPr/>
        </p:nvSpPr>
        <p:spPr>
          <a:xfrm>
            <a:off x="3046330" y="35546"/>
            <a:ext cx="3051339" cy="504056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 smtClean="0">
                <a:solidFill>
                  <a:schemeClr val="accent1">
                    <a:lumMod val="75000"/>
                  </a:schemeClr>
                </a:solidFill>
                <a:latin typeface="JasmineUPC" pitchFamily="18" charset="-34"/>
                <a:cs typeface="JasmineUPC" pitchFamily="18" charset="-34"/>
              </a:rPr>
              <a:t>หน้า1 “เรียนพยัญชนะไทย”</a:t>
            </a:r>
            <a:endParaRPr lang="th-TH" dirty="0">
              <a:solidFill>
                <a:schemeClr val="accent1">
                  <a:lumMod val="75000"/>
                </a:schemeClr>
              </a:solidFill>
              <a:latin typeface="JasmineUPC" pitchFamily="18" charset="-34"/>
              <a:cs typeface="JasmineUPC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201091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7784" y="-225342"/>
            <a:ext cx="3528392" cy="5666814"/>
          </a:xfrm>
        </p:spPr>
      </p:pic>
    </p:spTree>
    <p:extLst>
      <p:ext uri="{BB962C8B-B14F-4D97-AF65-F5344CB8AC3E}">
        <p14:creationId xmlns:p14="http://schemas.microsoft.com/office/powerpoint/2010/main" val="36052795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425692" y="88619"/>
            <a:ext cx="2292615" cy="52322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asmineUPC" pitchFamily="18" charset="-34"/>
                <a:ea typeface="+mn-ea"/>
                <a:cs typeface="JasmineUPC" pitchFamily="18" charset="-34"/>
              </a:rPr>
              <a:t>หน้า พยัญชนะไทย</a:t>
            </a:r>
          </a:p>
        </p:txBody>
      </p:sp>
      <p:sp>
        <p:nvSpPr>
          <p:cNvPr id="5" name="สี่เหลี่ยมผืนผ้า 4"/>
          <p:cNvSpPr/>
          <p:nvPr/>
        </p:nvSpPr>
        <p:spPr>
          <a:xfrm>
            <a:off x="3203848" y="611839"/>
            <a:ext cx="2808312" cy="43719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7" name="สี่เหลี่ยมผืนผ้ามุมมน 6"/>
          <p:cNvSpPr/>
          <p:nvPr/>
        </p:nvSpPr>
        <p:spPr>
          <a:xfrm>
            <a:off x="3555841" y="915566"/>
            <a:ext cx="2088232" cy="504056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JasmineUPC" pitchFamily="18" charset="-34"/>
                <a:ea typeface="+mn-ea"/>
                <a:cs typeface="JasmineUPC" pitchFamily="18" charset="-34"/>
              </a:rPr>
              <a:t>เรียนพยัญชนะ</a:t>
            </a:r>
            <a:r>
              <a:rPr kumimoji="0" lang="th-TH" sz="2400" b="0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JasmineUPC" pitchFamily="18" charset="-34"/>
                <a:ea typeface="+mn-ea"/>
                <a:cs typeface="JasmineUPC" pitchFamily="18" charset="-34"/>
              </a:rPr>
              <a:t>ไทย</a:t>
            </a:r>
          </a:p>
        </p:txBody>
      </p:sp>
      <p:sp>
        <p:nvSpPr>
          <p:cNvPr id="8" name="สี่เหลี่ยมผืนผ้ามุมมน 7"/>
          <p:cNvSpPr/>
          <p:nvPr/>
        </p:nvSpPr>
        <p:spPr>
          <a:xfrm>
            <a:off x="3555841" y="1635646"/>
            <a:ext cx="2088232" cy="504056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JasmineUPC" pitchFamily="18" charset="-34"/>
                <a:ea typeface="+mn-ea"/>
                <a:cs typeface="JasmineUPC" pitchFamily="18" charset="-34"/>
              </a:rPr>
              <a:t>แบบทดสอบ</a:t>
            </a:r>
            <a:r>
              <a:rPr kumimoji="0" lang="th-TH" sz="2000" b="0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JasmineUPC" pitchFamily="18" charset="-34"/>
                <a:ea typeface="+mn-ea"/>
                <a:cs typeface="JasmineUPC" pitchFamily="18" charset="-34"/>
              </a:rPr>
              <a:t>พยัญชนะไทย</a:t>
            </a:r>
          </a:p>
        </p:txBody>
      </p:sp>
      <p:sp>
        <p:nvSpPr>
          <p:cNvPr id="9" name="สี่เหลี่ยมผืนผ้ามุมมน 8"/>
          <p:cNvSpPr/>
          <p:nvPr/>
        </p:nvSpPr>
        <p:spPr>
          <a:xfrm>
            <a:off x="3563888" y="2394553"/>
            <a:ext cx="2088232" cy="504056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JasmineUPC" pitchFamily="18" charset="-34"/>
                <a:ea typeface="+mn-ea"/>
                <a:cs typeface="JasmineUPC" pitchFamily="18" charset="-34"/>
              </a:rPr>
              <a:t>เสียงพยัญชนะไทย</a:t>
            </a:r>
            <a:endParaRPr kumimoji="0" lang="th-TH" sz="2400" b="0" i="0" u="none" strike="noStrike" kern="1200" cap="none" spc="0" normalizeH="0" baseline="0" noProof="0" dirty="0">
              <a:ln>
                <a:noFill/>
              </a:ln>
              <a:solidFill>
                <a:srgbClr val="4F81BD">
                  <a:lumMod val="75000"/>
                </a:srgbClr>
              </a:solidFill>
              <a:effectLst/>
              <a:uLnTx/>
              <a:uFillTx/>
              <a:latin typeface="JasmineUPC" pitchFamily="18" charset="-34"/>
              <a:ea typeface="+mn-ea"/>
              <a:cs typeface="JasmineUPC" pitchFamily="18" charset="-34"/>
            </a:endParaRPr>
          </a:p>
        </p:txBody>
      </p:sp>
      <p:sp>
        <p:nvSpPr>
          <p:cNvPr id="12" name="สี่เหลี่ยมผืนผ้ามุมมน 11"/>
          <p:cNvSpPr/>
          <p:nvPr/>
        </p:nvSpPr>
        <p:spPr>
          <a:xfrm>
            <a:off x="3555841" y="3147814"/>
            <a:ext cx="2088232" cy="504056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JasmineUPC" pitchFamily="18" charset="-34"/>
                <a:ea typeface="+mn-ea"/>
                <a:cs typeface="JasmineUPC" pitchFamily="18" charset="-34"/>
              </a:rPr>
              <a:t>ฝึกแยกเสียงพยัญชนะ</a:t>
            </a:r>
            <a:endParaRPr kumimoji="0" lang="th-TH" sz="2000" b="0" i="0" u="none" strike="noStrike" kern="1200" cap="none" spc="0" normalizeH="0" baseline="0" noProof="0" dirty="0">
              <a:ln>
                <a:noFill/>
              </a:ln>
              <a:solidFill>
                <a:srgbClr val="4F81BD">
                  <a:lumMod val="75000"/>
                </a:srgbClr>
              </a:solidFill>
              <a:effectLst/>
              <a:uLnTx/>
              <a:uFillTx/>
              <a:latin typeface="JasmineUPC" pitchFamily="18" charset="-34"/>
              <a:ea typeface="+mn-ea"/>
              <a:cs typeface="JasmineUPC" pitchFamily="18" charset="-34"/>
            </a:endParaRPr>
          </a:p>
        </p:txBody>
      </p:sp>
      <p:sp>
        <p:nvSpPr>
          <p:cNvPr id="19" name="สี่เหลี่ยมผืนผ้า 18"/>
          <p:cNvSpPr>
            <a:spLocks noChangeAspect="1"/>
          </p:cNvSpPr>
          <p:nvPr/>
        </p:nvSpPr>
        <p:spPr>
          <a:xfrm>
            <a:off x="4307295" y="4562127"/>
            <a:ext cx="504056" cy="31387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0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4BACC6">
                    <a:lumMod val="50000"/>
                  </a:srgbClr>
                </a:solidFill>
                <a:effectLst/>
                <a:uLnTx/>
                <a:uFillTx/>
                <a:latin typeface="JasmineUPC" pitchFamily="18" charset="-34"/>
                <a:ea typeface="+mn-ea"/>
                <a:cs typeface="JasmineUPC" pitchFamily="18" charset="-34"/>
              </a:rPr>
              <a:t>MENU</a:t>
            </a:r>
            <a:endParaRPr kumimoji="0" lang="th-TH" sz="1800" b="1" i="0" u="none" strike="noStrike" kern="1200" cap="none" spc="0" normalizeH="0" baseline="0" noProof="0" dirty="0">
              <a:ln>
                <a:noFill/>
              </a:ln>
              <a:solidFill>
                <a:srgbClr val="4BACC6">
                  <a:lumMod val="50000"/>
                </a:srgbClr>
              </a:solidFill>
              <a:effectLst/>
              <a:uLnTx/>
              <a:uFillTx/>
              <a:latin typeface="JasmineUPC" pitchFamily="18" charset="-34"/>
              <a:ea typeface="+mn-ea"/>
              <a:cs typeface="JasmineUPC" pitchFamily="18" charset="-34"/>
            </a:endParaRPr>
          </a:p>
        </p:txBody>
      </p:sp>
      <p:sp>
        <p:nvSpPr>
          <p:cNvPr id="11" name="สี่เหลี่ยมผืนผ้ามุมมน 11"/>
          <p:cNvSpPr/>
          <p:nvPr/>
        </p:nvSpPr>
        <p:spPr>
          <a:xfrm>
            <a:off x="3555841" y="3813773"/>
            <a:ext cx="2088232" cy="504056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JasmineUPC" pitchFamily="18" charset="-34"/>
                <a:ea typeface="+mn-ea"/>
                <a:cs typeface="JasmineUPC" pitchFamily="18" charset="-34"/>
              </a:rPr>
              <a:t>ฝึกเขียนพยัญชนะ</a:t>
            </a:r>
            <a:endParaRPr kumimoji="0" lang="th-TH" sz="2800" b="0" i="0" u="none" strike="noStrike" kern="1200" cap="none" spc="0" normalizeH="0" baseline="0" noProof="0" dirty="0">
              <a:ln>
                <a:noFill/>
              </a:ln>
              <a:solidFill>
                <a:srgbClr val="4F81BD">
                  <a:lumMod val="75000"/>
                </a:srgbClr>
              </a:solidFill>
              <a:effectLst/>
              <a:uLnTx/>
              <a:uFillTx/>
              <a:latin typeface="JasmineUPC" pitchFamily="18" charset="-34"/>
              <a:ea typeface="+mn-ea"/>
              <a:cs typeface="JasmineUPC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958547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 12"/>
          <p:cNvSpPr/>
          <p:nvPr/>
        </p:nvSpPr>
        <p:spPr>
          <a:xfrm>
            <a:off x="696036" y="699434"/>
            <a:ext cx="2303060" cy="410456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62168" y="934858"/>
            <a:ext cx="1709382" cy="368489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/>
            <a:r>
              <a:rPr lang="th-TH" sz="2100" dirty="0">
                <a:solidFill>
                  <a:prstClr val="black"/>
                </a:solidFill>
                <a:latin typeface="TH Charm of AU" panose="020B0500040200020003" pitchFamily="34" charset="-34"/>
                <a:cs typeface="TH Charm of AU" panose="020B0500040200020003" pitchFamily="34" charset="-34"/>
              </a:rPr>
              <a:t>แบบฝึกหัดพยัญชนะ</a:t>
            </a:r>
            <a:endParaRPr lang="en-US" sz="2100" dirty="0">
              <a:solidFill>
                <a:prstClr val="black"/>
              </a:solidFill>
              <a:latin typeface="TH Charm of AU" panose="020B0500040200020003" pitchFamily="34" charset="-34"/>
              <a:cs typeface="TH Charm of AU" panose="020B0500040200020003" pitchFamily="34" charset="-34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004115" y="1419622"/>
            <a:ext cx="1686902" cy="415498"/>
          </a:xfrm>
          <a:prstGeom prst="rect">
            <a:avLst/>
          </a:prstGeom>
          <a:solidFill>
            <a:srgbClr val="FFC000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685800"/>
            <a:r>
              <a:rPr lang="en-US" sz="2100" dirty="0">
                <a:solidFill>
                  <a:prstClr val="black"/>
                </a:solidFill>
                <a:latin typeface="TH Charm of AU" panose="020B0500040200020003" pitchFamily="34" charset="-34"/>
                <a:cs typeface="TH Charm of AU" panose="020B0500040200020003" pitchFamily="34" charset="-34"/>
              </a:rPr>
              <a:t>Part1 : </a:t>
            </a:r>
            <a:r>
              <a:rPr lang="th-TH" sz="2100" dirty="0">
                <a:solidFill>
                  <a:prstClr val="black"/>
                </a:solidFill>
                <a:latin typeface="TH Charm of AU" panose="020B0500040200020003" pitchFamily="34" charset="-34"/>
                <a:cs typeface="TH Charm of AU" panose="020B0500040200020003" pitchFamily="34" charset="-34"/>
              </a:rPr>
              <a:t>ก</a:t>
            </a:r>
            <a:r>
              <a:rPr lang="th-TH" sz="2100" dirty="0" smtClean="0">
                <a:solidFill>
                  <a:prstClr val="black"/>
                </a:solidFill>
                <a:latin typeface="TH Charm of AU" panose="020B0500040200020003" pitchFamily="34" charset="-34"/>
                <a:cs typeface="TH Charm of AU" panose="020B0500040200020003" pitchFamily="34" charset="-34"/>
              </a:rPr>
              <a:t>-ฉ</a:t>
            </a:r>
            <a:r>
              <a:rPr lang="en-US" sz="2100" dirty="0" smtClean="0">
                <a:solidFill>
                  <a:prstClr val="black"/>
                </a:solidFill>
                <a:latin typeface="TH Charm of AU" panose="020B0500040200020003" pitchFamily="34" charset="-34"/>
                <a:cs typeface="TH Charm of AU" panose="020B0500040200020003" pitchFamily="34" charset="-34"/>
              </a:rPr>
              <a:t> </a:t>
            </a:r>
            <a:endParaRPr lang="th-TH" sz="2100" dirty="0">
              <a:solidFill>
                <a:prstClr val="black"/>
              </a:solidFill>
              <a:latin typeface="TH Charm of AU" panose="020B0500040200020003" pitchFamily="34" charset="-34"/>
              <a:cs typeface="TH Charm of AU" panose="020B0500040200020003" pitchFamily="34" charset="-34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004115" y="1943356"/>
            <a:ext cx="1686902" cy="415498"/>
          </a:xfrm>
          <a:prstGeom prst="rect">
            <a:avLst/>
          </a:prstGeom>
          <a:solidFill>
            <a:srgbClr val="FFC000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685800"/>
            <a:r>
              <a:rPr lang="en-US" sz="2100" dirty="0">
                <a:solidFill>
                  <a:prstClr val="black"/>
                </a:solidFill>
                <a:latin typeface="TH Charm of AU" panose="020B0500040200020003" pitchFamily="34" charset="-34"/>
                <a:cs typeface="TH Charm of AU" panose="020B0500040200020003" pitchFamily="34" charset="-34"/>
              </a:rPr>
              <a:t>Part</a:t>
            </a:r>
            <a:r>
              <a:rPr lang="th-TH" sz="2100" dirty="0">
                <a:solidFill>
                  <a:prstClr val="black"/>
                </a:solidFill>
                <a:latin typeface="TH Charm of AU" panose="020B0500040200020003" pitchFamily="34" charset="-34"/>
                <a:cs typeface="TH Charm of AU" panose="020B0500040200020003" pitchFamily="34" charset="-34"/>
              </a:rPr>
              <a:t>2</a:t>
            </a:r>
            <a:r>
              <a:rPr lang="en-US" sz="2100" dirty="0">
                <a:solidFill>
                  <a:prstClr val="black"/>
                </a:solidFill>
                <a:latin typeface="TH Charm of AU" panose="020B0500040200020003" pitchFamily="34" charset="-34"/>
                <a:cs typeface="TH Charm of AU" panose="020B0500040200020003" pitchFamily="34" charset="-34"/>
              </a:rPr>
              <a:t> : </a:t>
            </a:r>
            <a:r>
              <a:rPr lang="th-TH" sz="2100" dirty="0" smtClean="0">
                <a:solidFill>
                  <a:prstClr val="black"/>
                </a:solidFill>
                <a:latin typeface="TH Charm of AU" panose="020B0500040200020003" pitchFamily="34" charset="-34"/>
                <a:cs typeface="TH Charm of AU" panose="020B0500040200020003" pitchFamily="34" charset="-34"/>
              </a:rPr>
              <a:t>ช-ฒ</a:t>
            </a:r>
            <a:r>
              <a:rPr lang="en-US" sz="2100" dirty="0" smtClean="0">
                <a:solidFill>
                  <a:prstClr val="black"/>
                </a:solidFill>
                <a:latin typeface="TH Charm of AU" panose="020B0500040200020003" pitchFamily="34" charset="-34"/>
                <a:cs typeface="TH Charm of AU" panose="020B0500040200020003" pitchFamily="34" charset="-34"/>
              </a:rPr>
              <a:t> </a:t>
            </a:r>
            <a:endParaRPr lang="th-TH" sz="2100" dirty="0">
              <a:solidFill>
                <a:prstClr val="black"/>
              </a:solidFill>
              <a:latin typeface="TH Charm of AU" panose="020B0500040200020003" pitchFamily="34" charset="-34"/>
              <a:cs typeface="TH Charm of AU" panose="020B0500040200020003" pitchFamily="34" charset="-3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004114" y="2454273"/>
            <a:ext cx="1686902" cy="415498"/>
          </a:xfrm>
          <a:prstGeom prst="rect">
            <a:avLst/>
          </a:prstGeom>
          <a:solidFill>
            <a:srgbClr val="FFC000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685800"/>
            <a:r>
              <a:rPr lang="en-US" sz="2100" dirty="0">
                <a:solidFill>
                  <a:prstClr val="black"/>
                </a:solidFill>
                <a:latin typeface="TH Charm of AU" panose="020B0500040200020003" pitchFamily="34" charset="-34"/>
                <a:cs typeface="TH Charm of AU" panose="020B0500040200020003" pitchFamily="34" charset="-34"/>
              </a:rPr>
              <a:t>Part</a:t>
            </a:r>
            <a:r>
              <a:rPr lang="th-TH" sz="2100" dirty="0">
                <a:solidFill>
                  <a:prstClr val="black"/>
                </a:solidFill>
                <a:latin typeface="TH Charm of AU" panose="020B0500040200020003" pitchFamily="34" charset="-34"/>
                <a:cs typeface="TH Charm of AU" panose="020B0500040200020003" pitchFamily="34" charset="-34"/>
              </a:rPr>
              <a:t>3</a:t>
            </a:r>
            <a:r>
              <a:rPr lang="en-US" sz="2100" dirty="0">
                <a:solidFill>
                  <a:prstClr val="black"/>
                </a:solidFill>
                <a:latin typeface="TH Charm of AU" panose="020B0500040200020003" pitchFamily="34" charset="-34"/>
                <a:cs typeface="TH Charm of AU" panose="020B0500040200020003" pitchFamily="34" charset="-34"/>
              </a:rPr>
              <a:t> : </a:t>
            </a:r>
            <a:r>
              <a:rPr lang="th-TH" sz="2100" dirty="0" smtClean="0">
                <a:solidFill>
                  <a:prstClr val="black"/>
                </a:solidFill>
                <a:latin typeface="TH Charm of AU" panose="020B0500040200020003" pitchFamily="34" charset="-34"/>
                <a:cs typeface="TH Charm of AU" panose="020B0500040200020003" pitchFamily="34" charset="-34"/>
              </a:rPr>
              <a:t>ณ-ป</a:t>
            </a:r>
            <a:endParaRPr lang="th-TH" sz="2100" dirty="0">
              <a:solidFill>
                <a:prstClr val="black"/>
              </a:solidFill>
              <a:latin typeface="TH Charm of AU" panose="020B0500040200020003" pitchFamily="34" charset="-34"/>
              <a:cs typeface="TH Charm of AU" panose="020B0500040200020003" pitchFamily="34" charset="-3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004114" y="2994940"/>
            <a:ext cx="1686902" cy="415498"/>
          </a:xfrm>
          <a:prstGeom prst="rect">
            <a:avLst/>
          </a:prstGeom>
          <a:solidFill>
            <a:srgbClr val="FFC000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685800"/>
            <a:r>
              <a:rPr lang="en-US" sz="2100" dirty="0">
                <a:solidFill>
                  <a:prstClr val="black"/>
                </a:solidFill>
                <a:latin typeface="TH Charm of AU" panose="020B0500040200020003" pitchFamily="34" charset="-34"/>
                <a:cs typeface="TH Charm of AU" panose="020B0500040200020003" pitchFamily="34" charset="-34"/>
              </a:rPr>
              <a:t>Part</a:t>
            </a:r>
            <a:r>
              <a:rPr lang="th-TH" sz="2100" dirty="0">
                <a:solidFill>
                  <a:prstClr val="black"/>
                </a:solidFill>
                <a:latin typeface="TH Charm of AU" panose="020B0500040200020003" pitchFamily="34" charset="-34"/>
                <a:cs typeface="TH Charm of AU" panose="020B0500040200020003" pitchFamily="34" charset="-34"/>
              </a:rPr>
              <a:t>4</a:t>
            </a:r>
            <a:r>
              <a:rPr lang="en-US" sz="2100" dirty="0">
                <a:solidFill>
                  <a:prstClr val="black"/>
                </a:solidFill>
                <a:latin typeface="TH Charm of AU" panose="020B0500040200020003" pitchFamily="34" charset="-34"/>
                <a:cs typeface="TH Charm of AU" panose="020B0500040200020003" pitchFamily="34" charset="-34"/>
              </a:rPr>
              <a:t> : </a:t>
            </a:r>
            <a:r>
              <a:rPr lang="th-TH" sz="2100" dirty="0" smtClean="0">
                <a:solidFill>
                  <a:prstClr val="black"/>
                </a:solidFill>
                <a:latin typeface="TH Charm of AU" panose="020B0500040200020003" pitchFamily="34" charset="-34"/>
                <a:cs typeface="TH Charm of AU" panose="020B0500040200020003" pitchFamily="34" charset="-34"/>
              </a:rPr>
              <a:t>ผ-ล</a:t>
            </a:r>
            <a:endParaRPr lang="th-TH" sz="2100" dirty="0">
              <a:solidFill>
                <a:prstClr val="black"/>
              </a:solidFill>
              <a:latin typeface="TH Charm of AU" panose="020B0500040200020003" pitchFamily="34" charset="-34"/>
              <a:cs typeface="TH Charm of AU" panose="020B0500040200020003" pitchFamily="34" charset="-34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004114" y="4125217"/>
            <a:ext cx="1686902" cy="415498"/>
          </a:xfrm>
          <a:prstGeom prst="rect">
            <a:avLst/>
          </a:prstGeom>
          <a:solidFill>
            <a:srgbClr val="FFC000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685800"/>
            <a:r>
              <a:rPr lang="en-US" sz="2100" dirty="0">
                <a:solidFill>
                  <a:prstClr val="black"/>
                </a:solidFill>
                <a:latin typeface="TH Charm of AU" panose="020B0500040200020003" pitchFamily="34" charset="-34"/>
                <a:cs typeface="TH Charm of AU" panose="020B0500040200020003" pitchFamily="34" charset="-34"/>
              </a:rPr>
              <a:t>Part</a:t>
            </a:r>
            <a:r>
              <a:rPr lang="th-TH" sz="2100" dirty="0">
                <a:solidFill>
                  <a:prstClr val="black"/>
                </a:solidFill>
                <a:latin typeface="TH Charm of AU" panose="020B0500040200020003" pitchFamily="34" charset="-34"/>
                <a:cs typeface="TH Charm of AU" panose="020B0500040200020003" pitchFamily="34" charset="-34"/>
              </a:rPr>
              <a:t>5</a:t>
            </a:r>
            <a:r>
              <a:rPr lang="en-US" sz="2100" dirty="0">
                <a:solidFill>
                  <a:prstClr val="black"/>
                </a:solidFill>
                <a:latin typeface="TH Charm of AU" panose="020B0500040200020003" pitchFamily="34" charset="-34"/>
                <a:cs typeface="TH Charm of AU" panose="020B0500040200020003" pitchFamily="34" charset="-34"/>
              </a:rPr>
              <a:t> : </a:t>
            </a:r>
            <a:r>
              <a:rPr lang="th-TH" sz="2100" dirty="0">
                <a:solidFill>
                  <a:prstClr val="black"/>
                </a:solidFill>
                <a:latin typeface="TH Charm of AU" panose="020B0500040200020003" pitchFamily="34" charset="-34"/>
                <a:cs typeface="TH Charm of AU" panose="020B0500040200020003" pitchFamily="34" charset="-34"/>
              </a:rPr>
              <a:t>ทบทวนก-ฮ</a:t>
            </a:r>
          </a:p>
        </p:txBody>
      </p:sp>
      <p:sp>
        <p:nvSpPr>
          <p:cNvPr id="20" name="สี่เหลี่ยมผืนผ้ามุมมน 7"/>
          <p:cNvSpPr/>
          <p:nvPr/>
        </p:nvSpPr>
        <p:spPr>
          <a:xfrm>
            <a:off x="2591780" y="71015"/>
            <a:ext cx="3960440" cy="504056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 smtClean="0">
                <a:solidFill>
                  <a:schemeClr val="accent1">
                    <a:lumMod val="75000"/>
                  </a:schemeClr>
                </a:solidFill>
                <a:latin typeface="JasmineUPC" pitchFamily="18" charset="-34"/>
                <a:cs typeface="JasmineUPC" pitchFamily="18" charset="-34"/>
              </a:rPr>
              <a:t>หน้า2 “แบบทดสอบ</a:t>
            </a:r>
            <a:r>
              <a:rPr lang="th-TH" dirty="0">
                <a:solidFill>
                  <a:schemeClr val="accent1">
                    <a:lumMod val="75000"/>
                  </a:schemeClr>
                </a:solidFill>
                <a:latin typeface="JasmineUPC" pitchFamily="18" charset="-34"/>
                <a:cs typeface="JasmineUPC" pitchFamily="18" charset="-34"/>
              </a:rPr>
              <a:t>พยัญชนะ</a:t>
            </a:r>
            <a:r>
              <a:rPr lang="th-TH" dirty="0" smtClean="0">
                <a:solidFill>
                  <a:schemeClr val="accent1">
                    <a:lumMod val="75000"/>
                  </a:schemeClr>
                </a:solidFill>
                <a:latin typeface="JasmineUPC" pitchFamily="18" charset="-34"/>
                <a:cs typeface="JasmineUPC" pitchFamily="18" charset="-34"/>
              </a:rPr>
              <a:t>ไทย”</a:t>
            </a:r>
            <a:endParaRPr lang="th-TH" dirty="0">
              <a:solidFill>
                <a:schemeClr val="accent1">
                  <a:lumMod val="75000"/>
                </a:schemeClr>
              </a:solidFill>
              <a:latin typeface="JasmineUPC" pitchFamily="18" charset="-34"/>
              <a:cs typeface="JasmineUPC" pitchFamily="18" charset="-34"/>
            </a:endParaRPr>
          </a:p>
        </p:txBody>
      </p:sp>
      <p:sp>
        <p:nvSpPr>
          <p:cNvPr id="21" name="Line Callout 1 20"/>
          <p:cNvSpPr/>
          <p:nvPr/>
        </p:nvSpPr>
        <p:spPr>
          <a:xfrm>
            <a:off x="3707904" y="1221956"/>
            <a:ext cx="5184576" cy="3295630"/>
          </a:xfrm>
          <a:prstGeom prst="borderCallout1">
            <a:avLst>
              <a:gd name="adj1" fmla="val 51271"/>
              <a:gd name="adj2" fmla="val -23"/>
              <a:gd name="adj3" fmla="val 135"/>
              <a:gd name="adj4" fmla="val -23001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dirty="0" smtClean="0">
                <a:solidFill>
                  <a:schemeClr val="tx1"/>
                </a:solidFill>
                <a:latin typeface="JasmineUPC" panose="02020603050405020304" pitchFamily="18" charset="-34"/>
                <a:cs typeface="JasmineUPC" panose="02020603050405020304" pitchFamily="18" charset="-34"/>
              </a:rPr>
              <a:t>ให้มีหน้าเมนูด้วย</a:t>
            </a:r>
          </a:p>
          <a:p>
            <a:pPr marL="457200" indent="-457200">
              <a:buFontTx/>
              <a:buChar char="-"/>
            </a:pPr>
            <a:r>
              <a:rPr lang="th-TH" sz="2400" dirty="0" smtClean="0">
                <a:solidFill>
                  <a:schemeClr val="tx1"/>
                </a:solidFill>
                <a:latin typeface="JasmineUPC" panose="02020603050405020304" pitchFamily="18" charset="-34"/>
                <a:cs typeface="JasmineUPC" panose="02020603050405020304" pitchFamily="18" charset="-34"/>
              </a:rPr>
              <a:t>ในหนึ่ง</a:t>
            </a:r>
            <a:r>
              <a:rPr lang="en-US" sz="2400" dirty="0" smtClean="0">
                <a:solidFill>
                  <a:schemeClr val="tx1"/>
                </a:solidFill>
                <a:latin typeface="JasmineUPC" panose="02020603050405020304" pitchFamily="18" charset="-34"/>
                <a:cs typeface="JasmineUPC" panose="02020603050405020304" pitchFamily="18" charset="-34"/>
              </a:rPr>
              <a:t>Part</a:t>
            </a:r>
            <a:r>
              <a:rPr lang="th-TH" sz="2400" dirty="0" smtClean="0">
                <a:solidFill>
                  <a:schemeClr val="tx1"/>
                </a:solidFill>
                <a:latin typeface="JasmineUPC" panose="02020603050405020304" pitchFamily="18" charset="-34"/>
                <a:cs typeface="JasmineUPC" panose="02020603050405020304" pitchFamily="18" charset="-34"/>
              </a:rPr>
              <a:t>ให้มีหลายแบบทดสอบ ดังนี้</a:t>
            </a:r>
          </a:p>
          <a:p>
            <a:r>
              <a:rPr lang="th-TH" sz="2400" dirty="0" smtClean="0">
                <a:solidFill>
                  <a:srgbClr val="7030A0"/>
                </a:solidFill>
                <a:latin typeface="JasmineUPC" panose="02020603050405020304" pitchFamily="18" charset="-34"/>
                <a:cs typeface="JasmineUPC" panose="02020603050405020304" pitchFamily="18" charset="-34"/>
              </a:rPr>
              <a:t>ส่วนที่1 ทดสอบความจำ </a:t>
            </a:r>
            <a:r>
              <a:rPr lang="th-TH" sz="2400" dirty="0">
                <a:solidFill>
                  <a:srgbClr val="7030A0"/>
                </a:solidFill>
                <a:latin typeface="JasmineUPC" panose="02020603050405020304" pitchFamily="18" charset="-34"/>
                <a:cs typeface="JasmineUPC" panose="02020603050405020304" pitchFamily="18" charset="-34"/>
              </a:rPr>
              <a:t>(โจทย์</a:t>
            </a:r>
            <a:r>
              <a:rPr lang="th-TH" sz="2400" dirty="0" smtClean="0">
                <a:solidFill>
                  <a:srgbClr val="7030A0"/>
                </a:solidFill>
                <a:latin typeface="JasmineUPC" panose="02020603050405020304" pitchFamily="18" charset="-34"/>
                <a:cs typeface="JasmineUPC" panose="02020603050405020304" pitchFamily="18" charset="-34"/>
              </a:rPr>
              <a:t>เป็นภาพ)</a:t>
            </a:r>
            <a:r>
              <a:rPr lang="th-TH" sz="2400" dirty="0" smtClean="0">
                <a:solidFill>
                  <a:schemeClr val="tx1"/>
                </a:solidFill>
                <a:latin typeface="JasmineUPC" panose="02020603050405020304" pitchFamily="18" charset="-34"/>
                <a:cs typeface="JasmineUPC" panose="02020603050405020304" pitchFamily="18" charset="-34"/>
              </a:rPr>
              <a:t/>
            </a:r>
            <a:br>
              <a:rPr lang="th-TH" sz="2400" dirty="0" smtClean="0">
                <a:solidFill>
                  <a:schemeClr val="tx1"/>
                </a:solidFill>
                <a:latin typeface="JasmineUPC" panose="02020603050405020304" pitchFamily="18" charset="-34"/>
                <a:cs typeface="JasmineUPC" panose="02020603050405020304" pitchFamily="18" charset="-34"/>
              </a:rPr>
            </a:br>
            <a:r>
              <a:rPr lang="th-TH" sz="2000" dirty="0" smtClean="0">
                <a:solidFill>
                  <a:schemeClr val="tx1"/>
                </a:solidFill>
                <a:latin typeface="JasmineUPC" panose="02020603050405020304" pitchFamily="18" charset="-34"/>
                <a:cs typeface="JasmineUPC" panose="02020603050405020304" pitchFamily="18" charset="-34"/>
              </a:rPr>
              <a:t> ทดสอบทุกตัว (11ตัว มี11ข้อ)แล้วดึงข้อมูลอักษรที่ตอบผิดมา</a:t>
            </a:r>
            <a:r>
              <a:rPr lang="en-US" sz="2000" dirty="0" err="1" smtClean="0">
                <a:solidFill>
                  <a:schemeClr val="tx1"/>
                </a:solidFill>
                <a:latin typeface="JasmineUPC" panose="02020603050405020304" pitchFamily="18" charset="-34"/>
                <a:cs typeface="JasmineUPC" panose="02020603050405020304" pitchFamily="18" charset="-34"/>
              </a:rPr>
              <a:t>Ramdom</a:t>
            </a:r>
            <a:r>
              <a:rPr lang="th-TH" sz="2000" dirty="0" smtClean="0">
                <a:solidFill>
                  <a:schemeClr val="tx1"/>
                </a:solidFill>
                <a:latin typeface="JasmineUPC" panose="02020603050405020304" pitchFamily="18" charset="-34"/>
                <a:cs typeface="JasmineUPC" panose="02020603050405020304" pitchFamily="18" charset="-34"/>
              </a:rPr>
              <a:t>ใหม่อีกครั้งก่อนขึ้นส่วนที่3</a:t>
            </a:r>
          </a:p>
          <a:p>
            <a:r>
              <a:rPr lang="th-TH" sz="2400" dirty="0">
                <a:solidFill>
                  <a:srgbClr val="7030A0"/>
                </a:solidFill>
                <a:latin typeface="JasmineUPC" panose="02020603050405020304" pitchFamily="18" charset="-34"/>
                <a:cs typeface="JasmineUPC" panose="02020603050405020304" pitchFamily="18" charset="-34"/>
              </a:rPr>
              <a:t>ส่วนที่3 ทดสอบ</a:t>
            </a:r>
            <a:r>
              <a:rPr lang="th-TH" sz="2400" dirty="0" smtClean="0">
                <a:solidFill>
                  <a:srgbClr val="7030A0"/>
                </a:solidFill>
                <a:latin typeface="JasmineUPC" panose="02020603050405020304" pitchFamily="18" charset="-34"/>
                <a:cs typeface="JasmineUPC" panose="02020603050405020304" pitchFamily="18" charset="-34"/>
              </a:rPr>
              <a:t>ความจำ (โจทย์เป็นพยัญชนะ)</a:t>
            </a:r>
            <a:r>
              <a:rPr lang="th-TH" sz="2400" dirty="0" smtClean="0">
                <a:solidFill>
                  <a:schemeClr val="tx1"/>
                </a:solidFill>
                <a:latin typeface="JasmineUPC" panose="02020603050405020304" pitchFamily="18" charset="-34"/>
                <a:cs typeface="JasmineUPC" panose="02020603050405020304" pitchFamily="18" charset="-34"/>
              </a:rPr>
              <a:t/>
            </a:r>
            <a:br>
              <a:rPr lang="th-TH" sz="2400" dirty="0" smtClean="0">
                <a:solidFill>
                  <a:schemeClr val="tx1"/>
                </a:solidFill>
                <a:latin typeface="JasmineUPC" panose="02020603050405020304" pitchFamily="18" charset="-34"/>
                <a:cs typeface="JasmineUPC" panose="02020603050405020304" pitchFamily="18" charset="-34"/>
              </a:rPr>
            </a:br>
            <a:r>
              <a:rPr lang="th-TH" sz="2000" dirty="0" smtClean="0">
                <a:solidFill>
                  <a:schemeClr val="tx1"/>
                </a:solidFill>
                <a:latin typeface="JasmineUPC" panose="02020603050405020304" pitchFamily="18" charset="-34"/>
                <a:cs typeface="JasmineUPC" panose="02020603050405020304" pitchFamily="18" charset="-34"/>
              </a:rPr>
              <a:t>เหมือนส่วนที่1 ทดสอบทุกตัว แล้วดึงข้อที่เด็กตอบผิดมา</a:t>
            </a:r>
            <a:r>
              <a:rPr lang="en-US" sz="2000" dirty="0">
                <a:solidFill>
                  <a:schemeClr val="tx1"/>
                </a:solidFill>
                <a:latin typeface="JasmineUPC" panose="02020603050405020304" pitchFamily="18" charset="-34"/>
                <a:cs typeface="JasmineUPC" panose="02020603050405020304" pitchFamily="18" charset="-34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JasmineUPC" panose="02020603050405020304" pitchFamily="18" charset="-34"/>
                <a:cs typeface="JasmineUPC" panose="02020603050405020304" pitchFamily="18" charset="-34"/>
              </a:rPr>
              <a:t>Ramdom</a:t>
            </a:r>
            <a:r>
              <a:rPr lang="th-TH" sz="2000" dirty="0" smtClean="0">
                <a:solidFill>
                  <a:schemeClr val="tx1"/>
                </a:solidFill>
                <a:latin typeface="JasmineUPC" panose="02020603050405020304" pitchFamily="18" charset="-34"/>
                <a:cs typeface="JasmineUPC" panose="02020603050405020304" pitchFamily="18" charset="-34"/>
              </a:rPr>
              <a:t>ซ้ำ</a:t>
            </a:r>
            <a:r>
              <a:rPr lang="th-TH" sz="2000" dirty="0">
                <a:solidFill>
                  <a:schemeClr val="tx1"/>
                </a:solidFill>
                <a:latin typeface="JasmineUPC" panose="02020603050405020304" pitchFamily="18" charset="-34"/>
                <a:cs typeface="JasmineUPC" panose="02020603050405020304" pitchFamily="18" charset="-34"/>
              </a:rPr>
              <a:t/>
            </a:r>
            <a:br>
              <a:rPr lang="th-TH" sz="2000" dirty="0">
                <a:solidFill>
                  <a:schemeClr val="tx1"/>
                </a:solidFill>
                <a:latin typeface="JasmineUPC" panose="02020603050405020304" pitchFamily="18" charset="-34"/>
                <a:cs typeface="JasmineUPC" panose="02020603050405020304" pitchFamily="18" charset="-34"/>
              </a:rPr>
            </a:br>
            <a:r>
              <a:rPr lang="th-TH" sz="2400" dirty="0">
                <a:solidFill>
                  <a:srgbClr val="7030A0"/>
                </a:solidFill>
                <a:latin typeface="JasmineUPC" panose="02020603050405020304" pitchFamily="18" charset="-34"/>
                <a:cs typeface="JasmineUPC" panose="02020603050405020304" pitchFamily="18" charset="-34"/>
              </a:rPr>
              <a:t>ส่วนที่ </a:t>
            </a:r>
            <a:r>
              <a:rPr lang="th-TH" sz="2400" dirty="0" smtClean="0">
                <a:solidFill>
                  <a:srgbClr val="7030A0"/>
                </a:solidFill>
                <a:latin typeface="JasmineUPC" panose="02020603050405020304" pitchFamily="18" charset="-34"/>
                <a:cs typeface="JasmineUPC" panose="02020603050405020304" pitchFamily="18" charset="-34"/>
              </a:rPr>
              <a:t>4 ทดสอบความจำ (จับคู่ภาพพยัญชนะ)</a:t>
            </a:r>
            <a:r>
              <a:rPr lang="th-TH" dirty="0" smtClean="0">
                <a:solidFill>
                  <a:srgbClr val="7030A0"/>
                </a:solidFill>
                <a:latin typeface="JasmineUPC" panose="02020603050405020304" pitchFamily="18" charset="-34"/>
                <a:cs typeface="JasmineUPC" panose="02020603050405020304" pitchFamily="18" charset="-34"/>
              </a:rPr>
              <a:t/>
            </a:r>
            <a:br>
              <a:rPr lang="th-TH" dirty="0" smtClean="0">
                <a:solidFill>
                  <a:srgbClr val="7030A0"/>
                </a:solidFill>
                <a:latin typeface="JasmineUPC" panose="02020603050405020304" pitchFamily="18" charset="-34"/>
                <a:cs typeface="JasmineUPC" panose="02020603050405020304" pitchFamily="18" charset="-34"/>
              </a:rPr>
            </a:br>
            <a:r>
              <a:rPr lang="th-TH" sz="2000" dirty="0">
                <a:solidFill>
                  <a:schemeClr val="tx1"/>
                </a:solidFill>
                <a:latin typeface="JasmineUPC" panose="02020603050405020304" pitchFamily="18" charset="-34"/>
                <a:cs typeface="JasmineUPC" panose="02020603050405020304" pitchFamily="18" charset="-34"/>
              </a:rPr>
              <a:t>เหมือนส่วนที่</a:t>
            </a:r>
            <a:r>
              <a:rPr lang="th-TH" sz="2000" dirty="0" smtClean="0">
                <a:solidFill>
                  <a:schemeClr val="tx1"/>
                </a:solidFill>
                <a:latin typeface="JasmineUPC" panose="02020603050405020304" pitchFamily="18" charset="-34"/>
                <a:cs typeface="JasmineUPC" panose="02020603050405020304" pitchFamily="18" charset="-34"/>
              </a:rPr>
              <a:t>1และ2 </a:t>
            </a:r>
            <a:r>
              <a:rPr lang="th-TH" sz="2000" dirty="0">
                <a:solidFill>
                  <a:schemeClr val="tx1"/>
                </a:solidFill>
                <a:latin typeface="JasmineUPC" panose="02020603050405020304" pitchFamily="18" charset="-34"/>
                <a:cs typeface="JasmineUPC" panose="02020603050405020304" pitchFamily="18" charset="-34"/>
              </a:rPr>
              <a:t>ทดสอบทุกตัว แล้วดึงข้อที่เด็กตอบผิดมา </a:t>
            </a:r>
            <a:r>
              <a:rPr lang="en-US" sz="2000" dirty="0" err="1">
                <a:solidFill>
                  <a:schemeClr val="tx1"/>
                </a:solidFill>
                <a:latin typeface="JasmineUPC" panose="02020603050405020304" pitchFamily="18" charset="-34"/>
                <a:cs typeface="JasmineUPC" panose="02020603050405020304" pitchFamily="18" charset="-34"/>
              </a:rPr>
              <a:t>Ramdom</a:t>
            </a:r>
            <a:r>
              <a:rPr lang="th-TH" sz="2000" dirty="0" smtClean="0">
                <a:solidFill>
                  <a:schemeClr val="tx1"/>
                </a:solidFill>
                <a:latin typeface="JasmineUPC" panose="02020603050405020304" pitchFamily="18" charset="-34"/>
                <a:cs typeface="JasmineUPC" panose="02020603050405020304" pitchFamily="18" charset="-34"/>
              </a:rPr>
              <a:t>ซ้ำ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00496" y="3549153"/>
            <a:ext cx="1686902" cy="415498"/>
          </a:xfrm>
          <a:prstGeom prst="rect">
            <a:avLst/>
          </a:prstGeom>
          <a:solidFill>
            <a:srgbClr val="FFC000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685800"/>
            <a:r>
              <a:rPr lang="en-US" sz="2100" dirty="0" smtClean="0">
                <a:solidFill>
                  <a:prstClr val="black"/>
                </a:solidFill>
                <a:latin typeface="TH Charm of AU" panose="020B0500040200020003" pitchFamily="34" charset="-34"/>
                <a:cs typeface="TH Charm of AU" panose="020B0500040200020003" pitchFamily="34" charset="-34"/>
              </a:rPr>
              <a:t>Part</a:t>
            </a:r>
            <a:r>
              <a:rPr lang="th-TH" sz="2100" dirty="0" smtClean="0">
                <a:solidFill>
                  <a:prstClr val="black"/>
                </a:solidFill>
                <a:latin typeface="TH Charm of AU" panose="020B0500040200020003" pitchFamily="34" charset="-34"/>
                <a:cs typeface="TH Charm of AU" panose="020B0500040200020003" pitchFamily="34" charset="-34"/>
              </a:rPr>
              <a:t>5</a:t>
            </a:r>
            <a:r>
              <a:rPr lang="en-US" sz="2100" dirty="0" smtClean="0">
                <a:solidFill>
                  <a:prstClr val="black"/>
                </a:solidFill>
                <a:latin typeface="TH Charm of AU" panose="020B0500040200020003" pitchFamily="34" charset="-34"/>
                <a:cs typeface="TH Charm of AU" panose="020B0500040200020003" pitchFamily="34" charset="-34"/>
              </a:rPr>
              <a:t> </a:t>
            </a:r>
            <a:r>
              <a:rPr lang="en-US" sz="2100" dirty="0">
                <a:solidFill>
                  <a:prstClr val="black"/>
                </a:solidFill>
                <a:latin typeface="TH Charm of AU" panose="020B0500040200020003" pitchFamily="34" charset="-34"/>
                <a:cs typeface="TH Charm of AU" panose="020B0500040200020003" pitchFamily="34" charset="-34"/>
              </a:rPr>
              <a:t>: </a:t>
            </a:r>
            <a:r>
              <a:rPr lang="th-TH" sz="2100" dirty="0" smtClean="0">
                <a:solidFill>
                  <a:prstClr val="black"/>
                </a:solidFill>
                <a:latin typeface="TH Charm of AU" panose="020B0500040200020003" pitchFamily="34" charset="-34"/>
                <a:cs typeface="TH Charm of AU" panose="020B0500040200020003" pitchFamily="34" charset="-34"/>
              </a:rPr>
              <a:t>ว-ฮ</a:t>
            </a:r>
            <a:endParaRPr lang="th-TH" sz="2100" dirty="0">
              <a:solidFill>
                <a:prstClr val="black"/>
              </a:solidFill>
              <a:latin typeface="TH Charm of AU" panose="020B0500040200020003" pitchFamily="34" charset="-34"/>
              <a:cs typeface="TH Charm of AU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889852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สี่เหลี่ยมผืนผ้า 4"/>
          <p:cNvSpPr/>
          <p:nvPr/>
        </p:nvSpPr>
        <p:spPr>
          <a:xfrm>
            <a:off x="516225" y="611839"/>
            <a:ext cx="2808312" cy="43719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>
              <a:solidFill>
                <a:prstClr val="white"/>
              </a:solidFill>
            </a:endParaRPr>
          </a:p>
        </p:txBody>
      </p:sp>
      <p:sp>
        <p:nvSpPr>
          <p:cNvPr id="10" name="สี่เหลี่ยมผืนผ้ามุมมน 9"/>
          <p:cNvSpPr/>
          <p:nvPr/>
        </p:nvSpPr>
        <p:spPr>
          <a:xfrm>
            <a:off x="3727057" y="611840"/>
            <a:ext cx="4949399" cy="4391466"/>
          </a:xfrm>
          <a:prstGeom prst="roundRect">
            <a:avLst/>
          </a:prstGeom>
          <a:noFill/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th-TH" b="1" dirty="0" smtClean="0">
                <a:solidFill>
                  <a:srgbClr val="00B050"/>
                </a:solidFill>
                <a:latin typeface="JasmineUPC" pitchFamily="18" charset="-34"/>
                <a:cs typeface="JasmineUPC" pitchFamily="18" charset="-34"/>
              </a:rPr>
              <a:t>ส่วนที่ 1 ทดสอบความจำ</a:t>
            </a:r>
            <a:r>
              <a:rPr lang="th-TH" dirty="0" smtClean="0">
                <a:solidFill>
                  <a:schemeClr val="accent6">
                    <a:lumMod val="50000"/>
                  </a:schemeClr>
                </a:solidFill>
                <a:latin typeface="JasmineUPC" pitchFamily="18" charset="-34"/>
                <a:cs typeface="JasmineUPC" pitchFamily="18" charset="-34"/>
              </a:rPr>
              <a:t/>
            </a:r>
            <a:br>
              <a:rPr lang="th-TH" dirty="0" smtClean="0">
                <a:solidFill>
                  <a:schemeClr val="accent6">
                    <a:lumMod val="50000"/>
                  </a:schemeClr>
                </a:solidFill>
                <a:latin typeface="JasmineUPC" pitchFamily="18" charset="-34"/>
                <a:cs typeface="JasmineUPC" pitchFamily="18" charset="-34"/>
              </a:rPr>
            </a:br>
            <a:r>
              <a:rPr lang="th-TH" dirty="0" smtClean="0">
                <a:solidFill>
                  <a:schemeClr val="accent6">
                    <a:lumMod val="50000"/>
                  </a:schemeClr>
                </a:solidFill>
                <a:latin typeface="JasmineUPC" pitchFamily="18" charset="-34"/>
                <a:cs typeface="JasmineUPC" pitchFamily="18" charset="-34"/>
              </a:rPr>
              <a:t>- ขึ้นภาพ พร้อมเสียงอ่าน “ก.ไก่”</a:t>
            </a:r>
          </a:p>
          <a:p>
            <a:r>
              <a:rPr lang="th-TH" dirty="0" smtClean="0">
                <a:solidFill>
                  <a:schemeClr val="accent6">
                    <a:lumMod val="50000"/>
                  </a:schemeClr>
                </a:solidFill>
                <a:latin typeface="JasmineUPC" pitchFamily="18" charset="-34"/>
                <a:cs typeface="JasmineUPC" pitchFamily="18" charset="-34"/>
              </a:rPr>
              <a:t>- ให้ผู้เรียนคลิกเลือกข้อที่ถูก เมื่อ</a:t>
            </a:r>
            <a:r>
              <a:rPr lang="th-TH" dirty="0">
                <a:solidFill>
                  <a:schemeClr val="accent6">
                    <a:lumMod val="50000"/>
                  </a:schemeClr>
                </a:solidFill>
                <a:latin typeface="JasmineUPC" pitchFamily="18" charset="-34"/>
                <a:cs typeface="JasmineUPC" pitchFamily="18" charset="-34"/>
              </a:rPr>
              <a:t>คลิกถูกมีเสียง “เก่งมากค่ะ</a:t>
            </a:r>
            <a:r>
              <a:rPr lang="th-TH" dirty="0" smtClean="0">
                <a:solidFill>
                  <a:schemeClr val="accent6">
                    <a:lumMod val="50000"/>
                  </a:schemeClr>
                </a:solidFill>
                <a:latin typeface="JasmineUPC" pitchFamily="18" charset="-34"/>
                <a:cs typeface="JasmineUPC" pitchFamily="18" charset="-34"/>
              </a:rPr>
              <a:t>”</a:t>
            </a:r>
          </a:p>
          <a:p>
            <a:r>
              <a:rPr lang="th-TH" dirty="0" smtClean="0">
                <a:solidFill>
                  <a:schemeClr val="accent6">
                    <a:lumMod val="50000"/>
                  </a:schemeClr>
                </a:solidFill>
                <a:latin typeface="JasmineUPC" pitchFamily="18" charset="-34"/>
                <a:cs typeface="JasmineUPC" pitchFamily="18" charset="-34"/>
              </a:rPr>
              <a:t>- หากคลิกผิด ให้ขึ้นเฉลยแล้วไป ข้อต่อไปอัตโนมัติ</a:t>
            </a:r>
          </a:p>
          <a:p>
            <a:r>
              <a:rPr lang="th-TH" dirty="0" smtClean="0">
                <a:solidFill>
                  <a:schemeClr val="accent6">
                    <a:lumMod val="50000"/>
                  </a:schemeClr>
                </a:solidFill>
                <a:latin typeface="JasmineUPC" pitchFamily="18" charset="-34"/>
                <a:cs typeface="JasmineUPC" pitchFamily="18" charset="-34"/>
              </a:rPr>
              <a:t>- ให้ระบบ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JasmineUPC" pitchFamily="18" charset="-34"/>
                <a:cs typeface="JasmineUPC" pitchFamily="18" charset="-34"/>
              </a:rPr>
              <a:t>R</a:t>
            </a: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JasmineUPC" pitchFamily="18" charset="-34"/>
                <a:cs typeface="JasmineUPC" pitchFamily="18" charset="-34"/>
              </a:rPr>
              <a:t>andom</a:t>
            </a:r>
            <a:r>
              <a:rPr lang="th-TH" dirty="0" smtClean="0">
                <a:solidFill>
                  <a:schemeClr val="accent6">
                    <a:lumMod val="50000"/>
                  </a:schemeClr>
                </a:solidFill>
                <a:latin typeface="JasmineUPC" pitchFamily="18" charset="-34"/>
                <a:cs typeface="JasmineUPC" pitchFamily="18" charset="-34"/>
              </a:rPr>
              <a:t> ข้อที่ตอบผิดขึ้นมาใหม่อีกครั้ง เมื่อทำผ่านไปแล้ว 2-3ข้อ</a:t>
            </a:r>
          </a:p>
          <a:p>
            <a:r>
              <a:rPr lang="th-TH" dirty="0" smtClean="0">
                <a:solidFill>
                  <a:srgbClr val="F79646">
                    <a:lumMod val="50000"/>
                  </a:srgbClr>
                </a:solidFill>
                <a:latin typeface="JasmineUPC" pitchFamily="18" charset="-34"/>
                <a:cs typeface="JasmineUPC" pitchFamily="18" charset="-34"/>
              </a:rPr>
              <a:t>- ผู้เรียนจะคลิกไอคอนถัดไปเมื่อเลือกตอบไปแล้วเท่านั้น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761816" y="2571750"/>
            <a:ext cx="244810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9600" dirty="0">
                <a:solidFill>
                  <a:schemeClr val="accent4">
                    <a:lumMod val="40000"/>
                    <a:lumOff val="60000"/>
                  </a:schemeClr>
                </a:solidFill>
                <a:latin typeface="Angsana New" pitchFamily="18" charset="-34"/>
              </a:rPr>
              <a:t>ท</a:t>
            </a:r>
            <a:r>
              <a:rPr lang="th-TH" sz="9600" dirty="0" smtClean="0">
                <a:solidFill>
                  <a:schemeClr val="accent4">
                    <a:lumMod val="40000"/>
                    <a:lumOff val="60000"/>
                  </a:schemeClr>
                </a:solidFill>
                <a:latin typeface="Angsana New" pitchFamily="18" charset="-34"/>
              </a:rPr>
              <a:t> ก พ </a:t>
            </a:r>
            <a:endParaRPr lang="th-TH" sz="9600" dirty="0">
              <a:solidFill>
                <a:schemeClr val="accent4">
                  <a:lumMod val="40000"/>
                  <a:lumOff val="60000"/>
                </a:schemeClr>
              </a:solidFill>
              <a:latin typeface="Angsana New" pitchFamily="18" charset="-34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61" r="18763"/>
          <a:stretch/>
        </p:blipFill>
        <p:spPr bwMode="auto">
          <a:xfrm>
            <a:off x="1013986" y="983753"/>
            <a:ext cx="1757814" cy="1681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ปุ่มปฏิบัติการ: เสียง 2">
            <a:hlinkClick r:id="" action="ppaction://noaction" highlightClick="1">
              <a:snd r:embed="rId3" name="applause.wav"/>
            </a:hlinkClick>
          </p:cNvPr>
          <p:cNvSpPr/>
          <p:nvPr/>
        </p:nvSpPr>
        <p:spPr>
          <a:xfrm>
            <a:off x="2371790" y="2305173"/>
            <a:ext cx="360485" cy="360040"/>
          </a:xfrm>
          <a:prstGeom prst="actionButtonSound">
            <a:avLst/>
          </a:prstGeom>
          <a:solidFill>
            <a:schemeClr val="accent1">
              <a:lumMod val="20000"/>
              <a:lumOff val="80000"/>
              <a:alpha val="4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4" name="สี่เหลี่ยมผืนผ้า 13"/>
          <p:cNvSpPr>
            <a:spLocks noChangeAspect="1"/>
          </p:cNvSpPr>
          <p:nvPr/>
        </p:nvSpPr>
        <p:spPr>
          <a:xfrm>
            <a:off x="1619672" y="4562127"/>
            <a:ext cx="504056" cy="31387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0000" lnSpcReduction="20000"/>
          </a:bodyPr>
          <a:lstStyle/>
          <a:p>
            <a:pPr algn="ctr"/>
            <a:r>
              <a:rPr lang="en-US" sz="1800" b="1" dirty="0" smtClean="0">
                <a:solidFill>
                  <a:schemeClr val="accent5">
                    <a:lumMod val="50000"/>
                  </a:schemeClr>
                </a:solidFill>
                <a:latin typeface="JasmineUPC" pitchFamily="18" charset="-34"/>
                <a:cs typeface="JasmineUPC" pitchFamily="18" charset="-34"/>
              </a:rPr>
              <a:t>MENU</a:t>
            </a:r>
            <a:endParaRPr lang="th-TH" sz="1800" b="1" dirty="0">
              <a:solidFill>
                <a:schemeClr val="accent5">
                  <a:lumMod val="50000"/>
                </a:schemeClr>
              </a:solidFill>
              <a:latin typeface="JasmineUPC" pitchFamily="18" charset="-34"/>
              <a:cs typeface="JasmineUPC" pitchFamily="18" charset="-34"/>
            </a:endParaRPr>
          </a:p>
        </p:txBody>
      </p:sp>
      <p:sp>
        <p:nvSpPr>
          <p:cNvPr id="11" name="ลูกศรขวา 10"/>
          <p:cNvSpPr/>
          <p:nvPr/>
        </p:nvSpPr>
        <p:spPr>
          <a:xfrm>
            <a:off x="2411760" y="4562127"/>
            <a:ext cx="467829" cy="313879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3" name="สี่เหลี่ยมผืนผ้ามุมมน 7"/>
          <p:cNvSpPr/>
          <p:nvPr/>
        </p:nvSpPr>
        <p:spPr>
          <a:xfrm>
            <a:off x="2591780" y="71015"/>
            <a:ext cx="3960440" cy="504056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 smtClean="0">
                <a:solidFill>
                  <a:schemeClr val="accent1">
                    <a:lumMod val="75000"/>
                  </a:schemeClr>
                </a:solidFill>
                <a:latin typeface="JasmineUPC" pitchFamily="18" charset="-34"/>
                <a:cs typeface="JasmineUPC" pitchFamily="18" charset="-34"/>
              </a:rPr>
              <a:t>หน้า2 “แบบทดสอบ</a:t>
            </a:r>
            <a:r>
              <a:rPr lang="th-TH" dirty="0">
                <a:solidFill>
                  <a:schemeClr val="accent1">
                    <a:lumMod val="75000"/>
                  </a:schemeClr>
                </a:solidFill>
                <a:latin typeface="JasmineUPC" pitchFamily="18" charset="-34"/>
                <a:cs typeface="JasmineUPC" pitchFamily="18" charset="-34"/>
              </a:rPr>
              <a:t>พยัญชนะ</a:t>
            </a:r>
            <a:r>
              <a:rPr lang="th-TH" dirty="0" smtClean="0">
                <a:solidFill>
                  <a:schemeClr val="accent1">
                    <a:lumMod val="75000"/>
                  </a:schemeClr>
                </a:solidFill>
                <a:latin typeface="JasmineUPC" pitchFamily="18" charset="-34"/>
                <a:cs typeface="JasmineUPC" pitchFamily="18" charset="-34"/>
              </a:rPr>
              <a:t>ไทย”</a:t>
            </a:r>
            <a:endParaRPr lang="th-TH" dirty="0">
              <a:solidFill>
                <a:schemeClr val="accent1">
                  <a:lumMod val="75000"/>
                </a:schemeClr>
              </a:solidFill>
              <a:latin typeface="JasmineUPC" pitchFamily="18" charset="-34"/>
              <a:cs typeface="JasmineUPC" pitchFamily="18" charset="-34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780076" y="2832913"/>
            <a:ext cx="739242" cy="998072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195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สี่เหลี่ยมผืนผ้า 4"/>
          <p:cNvSpPr/>
          <p:nvPr/>
        </p:nvSpPr>
        <p:spPr>
          <a:xfrm>
            <a:off x="516225" y="611839"/>
            <a:ext cx="2808312" cy="43719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10" name="สี่เหลี่ยมผืนผ้ามุมมน 9"/>
          <p:cNvSpPr/>
          <p:nvPr/>
        </p:nvSpPr>
        <p:spPr>
          <a:xfrm>
            <a:off x="3895248" y="693187"/>
            <a:ext cx="4536504" cy="4182819"/>
          </a:xfrm>
          <a:prstGeom prst="roundRect">
            <a:avLst/>
          </a:prstGeom>
          <a:noFill/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r>
              <a:rPr lang="th-TH" b="1" dirty="0" smtClean="0">
                <a:solidFill>
                  <a:srgbClr val="00B050"/>
                </a:solidFill>
                <a:latin typeface="JasmineUPC" pitchFamily="18" charset="-34"/>
                <a:cs typeface="JasmineUPC" pitchFamily="18" charset="-34"/>
              </a:rPr>
              <a:t>ส่วนที่ 2 ฝึก</a:t>
            </a:r>
            <a:r>
              <a:rPr lang="th-TH" b="1" dirty="0">
                <a:solidFill>
                  <a:srgbClr val="00B050"/>
                </a:solidFill>
                <a:latin typeface="JasmineUPC" pitchFamily="18" charset="-34"/>
                <a:cs typeface="JasmineUPC" pitchFamily="18" charset="-34"/>
              </a:rPr>
              <a:t>แยกพยัญชนะที่</a:t>
            </a:r>
            <a:r>
              <a:rPr lang="th-TH" b="1" dirty="0" smtClean="0">
                <a:solidFill>
                  <a:srgbClr val="00B050"/>
                </a:solidFill>
                <a:latin typeface="JasmineUPC" pitchFamily="18" charset="-34"/>
                <a:cs typeface="JasmineUPC" pitchFamily="18" charset="-34"/>
              </a:rPr>
              <a:t>คล้ายกัน</a:t>
            </a:r>
          </a:p>
          <a:p>
            <a:pPr lvl="0"/>
            <a:r>
              <a:rPr kumimoji="0" lang="th-TH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JasmineUPC" pitchFamily="18" charset="-34"/>
                <a:ea typeface="+mn-ea"/>
                <a:cs typeface="JasmineUPC" pitchFamily="18" charset="-34"/>
              </a:rPr>
              <a:t>-</a:t>
            </a:r>
            <a:r>
              <a:rPr kumimoji="0" lang="th-TH" sz="2800" b="0" i="0" u="none" strike="noStrike" kern="1200" cap="none" spc="0" normalizeH="0" noProof="0" dirty="0" smtClean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JasmineUPC" pitchFamily="18" charset="-34"/>
                <a:ea typeface="+mn-ea"/>
                <a:cs typeface="JasmineUPC" pitchFamily="18" charset="-34"/>
              </a:rPr>
              <a:t> </a:t>
            </a:r>
            <a:r>
              <a:rPr lang="th-TH" dirty="0" smtClean="0">
                <a:solidFill>
                  <a:srgbClr val="F79646">
                    <a:lumMod val="50000"/>
                  </a:srgbClr>
                </a:solidFill>
                <a:latin typeface="JasmineUPC" pitchFamily="18" charset="-34"/>
                <a:cs typeface="JasmineUPC" pitchFamily="18" charset="-34"/>
              </a:rPr>
              <a:t>เมื่อผู้เรียนตอบ</a:t>
            </a:r>
            <a:r>
              <a:rPr lang="th-TH" b="1" dirty="0" smtClean="0">
                <a:solidFill>
                  <a:srgbClr val="00B050"/>
                </a:solidFill>
                <a:latin typeface="JasmineUPC" pitchFamily="18" charset="-34"/>
                <a:cs typeface="JasmineUPC" pitchFamily="18" charset="-34"/>
              </a:rPr>
              <a:t>ส่วนที่1 </a:t>
            </a:r>
            <a:r>
              <a:rPr lang="th-TH" dirty="0" smtClean="0">
                <a:solidFill>
                  <a:srgbClr val="F79646">
                    <a:lumMod val="50000"/>
                  </a:srgbClr>
                </a:solidFill>
                <a:latin typeface="JasmineUPC" pitchFamily="18" charset="-34"/>
                <a:cs typeface="JasmineUPC" pitchFamily="18" charset="-34"/>
              </a:rPr>
              <a:t>ถูกติดต่อกัน 10 ข้อ ให้เพิ่มความยากโดยปรับตัวเลือกให้เป็นพยัญชนะที่มีลักษณะคล้ายกัน</a:t>
            </a:r>
            <a:endParaRPr lang="th-TH" dirty="0">
              <a:solidFill>
                <a:srgbClr val="4BACC6">
                  <a:lumMod val="75000"/>
                </a:srgbClr>
              </a:solidFill>
              <a:latin typeface="JasmineUPC" pitchFamily="18" charset="-34"/>
              <a:cs typeface="JasmineUPC" pitchFamily="18" charset="-34"/>
            </a:endParaRPr>
          </a:p>
          <a:p>
            <a:pPr lvl="0"/>
            <a:r>
              <a:rPr lang="th-TH" dirty="0" smtClean="0">
                <a:solidFill>
                  <a:srgbClr val="F79646">
                    <a:lumMod val="50000"/>
                  </a:srgbClr>
                </a:solidFill>
                <a:latin typeface="JasmineUPC" pitchFamily="18" charset="-34"/>
                <a:cs typeface="JasmineUPC" pitchFamily="18" charset="-34"/>
              </a:rPr>
              <a:t>- รูปแบบของแบบทดสอบคล้าย</a:t>
            </a:r>
            <a:r>
              <a:rPr lang="th-TH" dirty="0" smtClean="0">
                <a:solidFill>
                  <a:srgbClr val="00B050"/>
                </a:solidFill>
                <a:latin typeface="JasmineUPC" pitchFamily="18" charset="-34"/>
                <a:cs typeface="JasmineUPC" pitchFamily="18" charset="-34"/>
              </a:rPr>
              <a:t>ส่วนที่1 </a:t>
            </a:r>
            <a:r>
              <a:rPr lang="th-TH" dirty="0" smtClean="0">
                <a:solidFill>
                  <a:schemeClr val="accent6">
                    <a:lumMod val="50000"/>
                  </a:schemeClr>
                </a:solidFill>
                <a:latin typeface="JasmineUPC" pitchFamily="18" charset="-34"/>
                <a:cs typeface="JasmineUPC" pitchFamily="18" charset="-34"/>
              </a:rPr>
              <a:t>ทำถูกติดต่อกัน 10ข้อ ให้ไป </a:t>
            </a:r>
            <a:r>
              <a:rPr lang="th-TH" dirty="0" smtClean="0">
                <a:solidFill>
                  <a:srgbClr val="00B050"/>
                </a:solidFill>
                <a:latin typeface="JasmineUPC" pitchFamily="18" charset="-34"/>
                <a:cs typeface="JasmineUPC" pitchFamily="18" charset="-34"/>
              </a:rPr>
              <a:t>ส่วนที่3</a:t>
            </a:r>
            <a:endParaRPr lang="th-TH" dirty="0">
              <a:solidFill>
                <a:srgbClr val="00B050"/>
              </a:solidFill>
              <a:latin typeface="JasmineUPC" pitchFamily="18" charset="-34"/>
              <a:cs typeface="JasmineUPC" pitchFamily="18" charset="-34"/>
            </a:endParaRPr>
          </a:p>
        </p:txBody>
      </p:sp>
      <p:sp>
        <p:nvSpPr>
          <p:cNvPr id="14" name="สี่เหลี่ยมผืนผ้า 13"/>
          <p:cNvSpPr>
            <a:spLocks noChangeAspect="1"/>
          </p:cNvSpPr>
          <p:nvPr/>
        </p:nvSpPr>
        <p:spPr>
          <a:xfrm>
            <a:off x="1619672" y="4562127"/>
            <a:ext cx="504056" cy="31387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0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BACC6">
                    <a:lumMod val="50000"/>
                  </a:srgbClr>
                </a:solidFill>
                <a:effectLst/>
                <a:uLnTx/>
                <a:uFillTx/>
                <a:latin typeface="JasmineUPC" pitchFamily="18" charset="-34"/>
                <a:ea typeface="+mn-ea"/>
                <a:cs typeface="JasmineUPC" pitchFamily="18" charset="-34"/>
              </a:rPr>
              <a:t>MENU</a:t>
            </a:r>
            <a:endParaRPr kumimoji="0" lang="th-TH" sz="1800" b="1" i="0" u="none" strike="noStrike" kern="1200" cap="none" spc="0" normalizeH="0" baseline="0" noProof="0" dirty="0">
              <a:ln>
                <a:noFill/>
              </a:ln>
              <a:solidFill>
                <a:srgbClr val="4BACC6">
                  <a:lumMod val="50000"/>
                </a:srgbClr>
              </a:solidFill>
              <a:effectLst/>
              <a:uLnTx/>
              <a:uFillTx/>
              <a:latin typeface="JasmineUPC" pitchFamily="18" charset="-34"/>
              <a:ea typeface="+mn-ea"/>
              <a:cs typeface="JasmineUPC" pitchFamily="18" charset="-34"/>
            </a:endParaRPr>
          </a:p>
        </p:txBody>
      </p:sp>
      <p:sp>
        <p:nvSpPr>
          <p:cNvPr id="11" name="ลูกศรขวา 10"/>
          <p:cNvSpPr/>
          <p:nvPr/>
        </p:nvSpPr>
        <p:spPr>
          <a:xfrm>
            <a:off x="2411760" y="4562127"/>
            <a:ext cx="467829" cy="313879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6" name="AutoShape 2" descr="à¸à¸¥à¸à¸²à¸£à¸à¹à¸à¸«à¸²à¸£à¸¹à¸à¸ à¸²à¸à¸ªà¸³à¸«à¸£à¸±à¸ à¸à¸«à¸²à¸£"/>
          <p:cNvSpPr>
            <a:spLocks noChangeAspect="1" noChangeArrowheads="1"/>
          </p:cNvSpPr>
          <p:nvPr/>
        </p:nvSpPr>
        <p:spPr bwMode="auto">
          <a:xfrm>
            <a:off x="190500" y="-2127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61764" y="2448925"/>
            <a:ext cx="833883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11500" dirty="0" smtClean="0">
                <a:solidFill>
                  <a:schemeClr val="accent1">
                    <a:lumMod val="75000"/>
                  </a:schemeClr>
                </a:solidFill>
                <a:latin typeface="Angsana New" pitchFamily="18" charset="-34"/>
              </a:rPr>
              <a:t>ภ</a:t>
            </a:r>
            <a:endParaRPr lang="th-TH" sz="11500" dirty="0">
              <a:solidFill>
                <a:schemeClr val="accent1">
                  <a:lumMod val="75000"/>
                </a:schemeClr>
              </a:solidFill>
              <a:latin typeface="Angsana New" pitchFamily="18" charset="-3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251241" y="2478035"/>
            <a:ext cx="774571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11500" dirty="0" smtClean="0">
                <a:solidFill>
                  <a:schemeClr val="accent1">
                    <a:lumMod val="75000"/>
                  </a:schemeClr>
                </a:solidFill>
                <a:latin typeface="Angsana New" pitchFamily="18" charset="-34"/>
              </a:rPr>
              <a:t>ถ</a:t>
            </a:r>
            <a:endParaRPr lang="th-TH" sz="11500" dirty="0">
              <a:solidFill>
                <a:schemeClr val="accent1">
                  <a:lumMod val="75000"/>
                </a:schemeClr>
              </a:solidFill>
              <a:latin typeface="Angsana New" pitchFamily="18" charset="-34"/>
            </a:endParaRPr>
          </a:p>
        </p:txBody>
      </p:sp>
      <p:pic>
        <p:nvPicPr>
          <p:cNvPr id="7" name="Picture 6" descr="เรื่องเรือ&lt;strong&gt;สำเภา&lt;/strong&gt;จีน | สาระ ความรู้ ข่าวสาร ความบันเทิง ของ ...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106" y="1114249"/>
            <a:ext cx="1440160" cy="14401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516878" y="2459047"/>
            <a:ext cx="774571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11500" dirty="0" smtClean="0">
                <a:solidFill>
                  <a:schemeClr val="accent1">
                    <a:lumMod val="75000"/>
                  </a:schemeClr>
                </a:solidFill>
                <a:latin typeface="Angsana New" pitchFamily="18" charset="-34"/>
              </a:rPr>
              <a:t>ก</a:t>
            </a:r>
            <a:endParaRPr lang="th-TH" sz="11500" dirty="0">
              <a:solidFill>
                <a:schemeClr val="accent1">
                  <a:lumMod val="75000"/>
                </a:schemeClr>
              </a:solidFill>
              <a:latin typeface="Angsana New" pitchFamily="18" charset="-34"/>
            </a:endParaRPr>
          </a:p>
        </p:txBody>
      </p:sp>
      <p:sp>
        <p:nvSpPr>
          <p:cNvPr id="3" name="Oval 2"/>
          <p:cNvSpPr/>
          <p:nvPr/>
        </p:nvSpPr>
        <p:spPr>
          <a:xfrm>
            <a:off x="780076" y="2832913"/>
            <a:ext cx="739242" cy="998072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สี่เหลี่ยมผืนผ้ามุมมน 7"/>
          <p:cNvSpPr/>
          <p:nvPr/>
        </p:nvSpPr>
        <p:spPr>
          <a:xfrm>
            <a:off x="2591780" y="71015"/>
            <a:ext cx="3960440" cy="504056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 smtClean="0">
                <a:solidFill>
                  <a:schemeClr val="accent1">
                    <a:lumMod val="75000"/>
                  </a:schemeClr>
                </a:solidFill>
                <a:latin typeface="JasmineUPC" pitchFamily="18" charset="-34"/>
                <a:cs typeface="JasmineUPC" pitchFamily="18" charset="-34"/>
              </a:rPr>
              <a:t>หน้า2 “แบบทดสอบ</a:t>
            </a:r>
            <a:r>
              <a:rPr lang="th-TH" dirty="0">
                <a:solidFill>
                  <a:schemeClr val="accent1">
                    <a:lumMod val="75000"/>
                  </a:schemeClr>
                </a:solidFill>
                <a:latin typeface="JasmineUPC" pitchFamily="18" charset="-34"/>
                <a:cs typeface="JasmineUPC" pitchFamily="18" charset="-34"/>
              </a:rPr>
              <a:t>พยัญชนะ</a:t>
            </a:r>
            <a:r>
              <a:rPr lang="th-TH" dirty="0" smtClean="0">
                <a:solidFill>
                  <a:schemeClr val="accent1">
                    <a:lumMod val="75000"/>
                  </a:schemeClr>
                </a:solidFill>
                <a:latin typeface="JasmineUPC" pitchFamily="18" charset="-34"/>
                <a:cs typeface="JasmineUPC" pitchFamily="18" charset="-34"/>
              </a:rPr>
              <a:t>ไทย”</a:t>
            </a:r>
            <a:endParaRPr lang="th-TH" dirty="0">
              <a:solidFill>
                <a:schemeClr val="accent1">
                  <a:lumMod val="75000"/>
                </a:schemeClr>
              </a:solidFill>
              <a:latin typeface="JasmineUPC" pitchFamily="18" charset="-34"/>
              <a:cs typeface="JasmineUPC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08571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800" y="-92546"/>
            <a:ext cx="3432909" cy="5513462"/>
          </a:xfrm>
        </p:spPr>
      </p:pic>
    </p:spTree>
    <p:extLst>
      <p:ext uri="{BB962C8B-B14F-4D97-AF65-F5344CB8AC3E}">
        <p14:creationId xmlns:p14="http://schemas.microsoft.com/office/powerpoint/2010/main" val="1479447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47664" y="1059582"/>
            <a:ext cx="6696744" cy="24482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numCol="2">
            <a:noAutofit/>
          </a:bodyPr>
          <a:lstStyle/>
          <a:p>
            <a:pPr lvl="0"/>
            <a:r>
              <a:rPr lang="th-TH" dirty="0">
                <a:solidFill>
                  <a:srgbClr val="4BACC6">
                    <a:lumMod val="50000"/>
                  </a:srgbClr>
                </a:solidFill>
                <a:latin typeface="JasmineUPC" pitchFamily="18" charset="-34"/>
                <a:cs typeface="JasmineUPC" pitchFamily="18" charset="-34"/>
              </a:rPr>
              <a:t>กลุ่ม1 – บ ป ษ ข ย</a:t>
            </a:r>
          </a:p>
          <a:p>
            <a:pPr lvl="0"/>
            <a:r>
              <a:rPr lang="th-TH" dirty="0">
                <a:solidFill>
                  <a:srgbClr val="4BACC6">
                    <a:lumMod val="50000"/>
                  </a:srgbClr>
                </a:solidFill>
                <a:latin typeface="JasmineUPC" pitchFamily="18" charset="-34"/>
                <a:cs typeface="JasmineUPC" pitchFamily="18" charset="-34"/>
              </a:rPr>
              <a:t>กลุ่ม2 – ก ภ ถ ฎ ฏ</a:t>
            </a:r>
          </a:p>
          <a:p>
            <a:pPr lvl="0"/>
            <a:r>
              <a:rPr lang="th-TH" dirty="0">
                <a:solidFill>
                  <a:srgbClr val="4BACC6">
                    <a:lumMod val="50000"/>
                  </a:srgbClr>
                </a:solidFill>
                <a:latin typeface="JasmineUPC" pitchFamily="18" charset="-34"/>
                <a:cs typeface="JasmineUPC" pitchFamily="18" charset="-34"/>
              </a:rPr>
              <a:t>กลุ่ม3 – ด ต ท ห ฑ</a:t>
            </a:r>
          </a:p>
          <a:p>
            <a:pPr lvl="0"/>
            <a:r>
              <a:rPr lang="th-TH" dirty="0">
                <a:solidFill>
                  <a:srgbClr val="4BACC6">
                    <a:lumMod val="50000"/>
                  </a:srgbClr>
                </a:solidFill>
                <a:latin typeface="JasmineUPC" pitchFamily="18" charset="-34"/>
                <a:cs typeface="JasmineUPC" pitchFamily="18" charset="-34"/>
              </a:rPr>
              <a:t>กลุ่ม4 – ผ ฝ พ ฟ ฬ</a:t>
            </a:r>
          </a:p>
          <a:p>
            <a:pPr lvl="0"/>
            <a:r>
              <a:rPr lang="th-TH" dirty="0">
                <a:solidFill>
                  <a:srgbClr val="4BACC6">
                    <a:lumMod val="50000"/>
                  </a:srgbClr>
                </a:solidFill>
                <a:latin typeface="JasmineUPC" pitchFamily="18" charset="-34"/>
                <a:cs typeface="JasmineUPC" pitchFamily="18" charset="-34"/>
              </a:rPr>
              <a:t>กลุ่ม5 – ง จ ร ว ธ</a:t>
            </a:r>
          </a:p>
          <a:p>
            <a:pPr lvl="0"/>
            <a:r>
              <a:rPr lang="th-TH" dirty="0">
                <a:solidFill>
                  <a:srgbClr val="4BACC6">
                    <a:lumMod val="50000"/>
                  </a:srgbClr>
                </a:solidFill>
                <a:latin typeface="JasmineUPC" pitchFamily="18" charset="-34"/>
                <a:cs typeface="JasmineUPC" pitchFamily="18" charset="-34"/>
              </a:rPr>
              <a:t>กลุ่ม6 – ล ส ศ ค ด</a:t>
            </a:r>
          </a:p>
          <a:p>
            <a:pPr lvl="0"/>
            <a:r>
              <a:rPr lang="th-TH" dirty="0">
                <a:solidFill>
                  <a:srgbClr val="4BACC6">
                    <a:lumMod val="50000"/>
                  </a:srgbClr>
                </a:solidFill>
                <a:latin typeface="JasmineUPC" pitchFamily="18" charset="-34"/>
                <a:cs typeface="JasmineUPC" pitchFamily="18" charset="-34"/>
              </a:rPr>
              <a:t>กลุ่ม7 – ม น ฆ ฉ </a:t>
            </a:r>
            <a:r>
              <a:rPr lang="th-TH" dirty="0" smtClean="0">
                <a:solidFill>
                  <a:srgbClr val="4BACC6">
                    <a:lumMod val="50000"/>
                  </a:srgbClr>
                </a:solidFill>
                <a:latin typeface="JasmineUPC" pitchFamily="18" charset="-34"/>
                <a:cs typeface="JasmineUPC" pitchFamily="18" charset="-34"/>
              </a:rPr>
              <a:t>ฐ</a:t>
            </a:r>
          </a:p>
          <a:p>
            <a:pPr lvl="0"/>
            <a:r>
              <a:rPr lang="th-TH" dirty="0" smtClean="0">
                <a:solidFill>
                  <a:srgbClr val="4BACC6">
                    <a:lumMod val="50000"/>
                  </a:srgbClr>
                </a:solidFill>
                <a:latin typeface="JasmineUPC" pitchFamily="18" charset="-34"/>
                <a:cs typeface="JasmineUPC" pitchFamily="18" charset="-34"/>
              </a:rPr>
              <a:t>กลุ่ม8 – ช ซ ฒ ฌ ญ</a:t>
            </a:r>
          </a:p>
          <a:p>
            <a:pPr lvl="0"/>
            <a:r>
              <a:rPr lang="th-TH" dirty="0" smtClean="0">
                <a:solidFill>
                  <a:srgbClr val="4BACC6">
                    <a:lumMod val="50000"/>
                  </a:srgbClr>
                </a:solidFill>
                <a:latin typeface="JasmineUPC" pitchFamily="18" charset="-34"/>
                <a:cs typeface="JasmineUPC" pitchFamily="18" charset="-34"/>
              </a:rPr>
              <a:t>กลุ่ม9 – อ ฮ ฉ ล ส</a:t>
            </a:r>
            <a:endParaRPr lang="th-TH" dirty="0">
              <a:solidFill>
                <a:srgbClr val="4BACC6">
                  <a:lumMod val="50000"/>
                </a:srgbClr>
              </a:solidFill>
              <a:latin typeface="JasmineUPC" pitchFamily="18" charset="-34"/>
              <a:cs typeface="JasmineUPC" pitchFamily="18" charset="-3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535224" y="267494"/>
            <a:ext cx="407355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h-TH" dirty="0" smtClean="0">
                <a:solidFill>
                  <a:srgbClr val="00B050"/>
                </a:solidFill>
                <a:latin typeface="JasmineUPC" panose="02020603050405020304" pitchFamily="18" charset="-34"/>
                <a:cs typeface="JasmineUPC" panose="02020603050405020304" pitchFamily="18" charset="-34"/>
              </a:rPr>
              <a:t>ตัวอย่างพยัญชนะ</a:t>
            </a:r>
            <a:r>
              <a:rPr lang="th-TH" dirty="0">
                <a:solidFill>
                  <a:srgbClr val="00B050"/>
                </a:solidFill>
                <a:latin typeface="JasmineUPC" panose="02020603050405020304" pitchFamily="18" charset="-34"/>
                <a:cs typeface="JasmineUPC" panose="02020603050405020304" pitchFamily="18" charset="-34"/>
              </a:rPr>
              <a:t>ที่มีลักษณะคล้ายกัน</a:t>
            </a:r>
          </a:p>
        </p:txBody>
      </p:sp>
    </p:spTree>
    <p:extLst>
      <p:ext uri="{BB962C8B-B14F-4D97-AF65-F5344CB8AC3E}">
        <p14:creationId xmlns:p14="http://schemas.microsoft.com/office/powerpoint/2010/main" val="34091292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สี่เหลี่ยมผืนผ้า 4"/>
          <p:cNvSpPr/>
          <p:nvPr/>
        </p:nvSpPr>
        <p:spPr>
          <a:xfrm>
            <a:off x="516225" y="611839"/>
            <a:ext cx="2808312" cy="43719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>
              <a:solidFill>
                <a:prstClr val="white"/>
              </a:solidFill>
            </a:endParaRPr>
          </a:p>
        </p:txBody>
      </p:sp>
      <p:sp>
        <p:nvSpPr>
          <p:cNvPr id="10" name="สี่เหลี่ยมผืนผ้ามุมมน 9"/>
          <p:cNvSpPr/>
          <p:nvPr/>
        </p:nvSpPr>
        <p:spPr>
          <a:xfrm>
            <a:off x="3923928" y="1129509"/>
            <a:ext cx="4680520" cy="3708183"/>
          </a:xfrm>
          <a:prstGeom prst="roundRect">
            <a:avLst/>
          </a:prstGeom>
          <a:noFill/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th-TH" b="1" dirty="0">
                <a:solidFill>
                  <a:srgbClr val="00B050"/>
                </a:solidFill>
                <a:latin typeface="JasmineUPC" pitchFamily="18" charset="-34"/>
                <a:cs typeface="JasmineUPC" pitchFamily="18" charset="-34"/>
              </a:rPr>
              <a:t>ส่วนที่ </a:t>
            </a:r>
            <a:r>
              <a:rPr lang="th-TH" b="1" dirty="0" smtClean="0">
                <a:solidFill>
                  <a:srgbClr val="00B050"/>
                </a:solidFill>
                <a:latin typeface="JasmineUPC" pitchFamily="18" charset="-34"/>
                <a:cs typeface="JasmineUPC" pitchFamily="18" charset="-34"/>
              </a:rPr>
              <a:t>3 </a:t>
            </a:r>
            <a:r>
              <a:rPr lang="th-TH" b="1" dirty="0">
                <a:solidFill>
                  <a:srgbClr val="00B050"/>
                </a:solidFill>
                <a:latin typeface="JasmineUPC" pitchFamily="18" charset="-34"/>
                <a:cs typeface="JasmineUPC" pitchFamily="18" charset="-34"/>
              </a:rPr>
              <a:t>ทดสอบความจำ</a:t>
            </a:r>
            <a:r>
              <a:rPr lang="th-TH" dirty="0">
                <a:solidFill>
                  <a:srgbClr val="F79646">
                    <a:lumMod val="50000"/>
                  </a:srgbClr>
                </a:solidFill>
                <a:latin typeface="JasmineUPC" pitchFamily="18" charset="-34"/>
                <a:cs typeface="JasmineUPC" pitchFamily="18" charset="-34"/>
              </a:rPr>
              <a:t/>
            </a:r>
            <a:br>
              <a:rPr lang="th-TH" dirty="0">
                <a:solidFill>
                  <a:srgbClr val="F79646">
                    <a:lumMod val="50000"/>
                  </a:srgbClr>
                </a:solidFill>
                <a:latin typeface="JasmineUPC" pitchFamily="18" charset="-34"/>
                <a:cs typeface="JasmineUPC" pitchFamily="18" charset="-34"/>
              </a:rPr>
            </a:br>
            <a:r>
              <a:rPr lang="th-TH" dirty="0">
                <a:solidFill>
                  <a:srgbClr val="F79646">
                    <a:lumMod val="50000"/>
                  </a:srgbClr>
                </a:solidFill>
                <a:latin typeface="JasmineUPC" pitchFamily="18" charset="-34"/>
                <a:cs typeface="JasmineUPC" pitchFamily="18" charset="-34"/>
              </a:rPr>
              <a:t>- </a:t>
            </a:r>
            <a:r>
              <a:rPr lang="th-TH" dirty="0" smtClean="0">
                <a:solidFill>
                  <a:srgbClr val="F79646">
                    <a:lumMod val="50000"/>
                  </a:srgbClr>
                </a:solidFill>
                <a:latin typeface="JasmineUPC" pitchFamily="18" charset="-34"/>
                <a:cs typeface="JasmineUPC" pitchFamily="18" charset="-34"/>
              </a:rPr>
              <a:t>ลองเปลี่ยนโจทย์เป็นพยัญชนะ แล้วให้ผู้เรียนคลิกเลือกภาพที่ตรงกับพยัญชนะ</a:t>
            </a:r>
            <a:br>
              <a:rPr lang="th-TH" dirty="0" smtClean="0">
                <a:solidFill>
                  <a:srgbClr val="F79646">
                    <a:lumMod val="50000"/>
                  </a:srgbClr>
                </a:solidFill>
                <a:latin typeface="JasmineUPC" pitchFamily="18" charset="-34"/>
                <a:cs typeface="JasmineUPC" pitchFamily="18" charset="-34"/>
              </a:rPr>
            </a:br>
            <a:r>
              <a:rPr lang="th-TH" dirty="0" smtClean="0">
                <a:solidFill>
                  <a:srgbClr val="F79646">
                    <a:lumMod val="50000"/>
                  </a:srgbClr>
                </a:solidFill>
                <a:latin typeface="JasmineUPC" pitchFamily="18" charset="-34"/>
                <a:cs typeface="JasmineUPC" pitchFamily="18" charset="-34"/>
              </a:rPr>
              <a:t>- เมื่อขึ้นพยัญชนะ ให้มีเสียงอ่าน เช่น ท.ทหาร</a:t>
            </a:r>
          </a:p>
          <a:p>
            <a:r>
              <a:rPr lang="th-TH" dirty="0" smtClean="0">
                <a:solidFill>
                  <a:srgbClr val="F79646">
                    <a:lumMod val="50000"/>
                  </a:srgbClr>
                </a:solidFill>
                <a:latin typeface="JasmineUPC" pitchFamily="18" charset="-34"/>
                <a:cs typeface="JasmineUPC" pitchFamily="18" charset="-34"/>
              </a:rPr>
              <a:t>- ผู้เรียนจะคลิกไอคอนถัดไปเมื่อเลือกตอบไปแล้วเท่านั้น</a:t>
            </a:r>
          </a:p>
          <a:p>
            <a:r>
              <a:rPr lang="th-TH" dirty="0" smtClean="0">
                <a:solidFill>
                  <a:srgbClr val="F79646">
                    <a:lumMod val="50000"/>
                  </a:srgbClr>
                </a:solidFill>
                <a:latin typeface="JasmineUPC" pitchFamily="18" charset="-34"/>
                <a:cs typeface="JasmineUPC" pitchFamily="18" charset="-34"/>
              </a:rPr>
              <a:t>- ตอบถูกติดต่อกัน 10 ข้อ ให้ไป</a:t>
            </a:r>
            <a:r>
              <a:rPr lang="th-TH" dirty="0" smtClean="0">
                <a:solidFill>
                  <a:srgbClr val="00B050"/>
                </a:solidFill>
                <a:latin typeface="JasmineUPC" pitchFamily="18" charset="-34"/>
                <a:cs typeface="JasmineUPC" pitchFamily="18" charset="-34"/>
              </a:rPr>
              <a:t>ส่วนที่4</a:t>
            </a:r>
            <a:endParaRPr lang="th-TH" dirty="0">
              <a:solidFill>
                <a:srgbClr val="00B050"/>
              </a:solidFill>
              <a:latin typeface="JasmineUPC" pitchFamily="18" charset="-34"/>
              <a:cs typeface="JasmineUPC" pitchFamily="18" charset="-34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412621" y="812468"/>
            <a:ext cx="817853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11500" dirty="0" smtClean="0">
                <a:solidFill>
                  <a:srgbClr val="8064A2">
                    <a:lumMod val="40000"/>
                    <a:lumOff val="60000"/>
                  </a:srgbClr>
                </a:solidFill>
                <a:latin typeface="Angsana New" pitchFamily="18" charset="-34"/>
              </a:rPr>
              <a:t>ท</a:t>
            </a:r>
            <a:endParaRPr lang="th-TH" sz="11500" dirty="0">
              <a:solidFill>
                <a:srgbClr val="8064A2">
                  <a:lumMod val="40000"/>
                  <a:lumOff val="60000"/>
                </a:srgbClr>
              </a:solidFill>
              <a:latin typeface="Angsana New" pitchFamily="18" charset="-34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61" r="18763"/>
          <a:stretch/>
        </p:blipFill>
        <p:spPr bwMode="auto">
          <a:xfrm>
            <a:off x="740765" y="2563236"/>
            <a:ext cx="878907" cy="840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ปุ่มปฏิบัติการ: เสียง 2">
            <a:hlinkClick r:id="" action="ppaction://noaction" highlightClick="1">
              <a:snd r:embed="rId3" name="applause.wav"/>
            </a:hlinkClick>
          </p:cNvPr>
          <p:cNvSpPr/>
          <p:nvPr/>
        </p:nvSpPr>
        <p:spPr>
          <a:xfrm>
            <a:off x="2285189" y="1707654"/>
            <a:ext cx="270587" cy="270253"/>
          </a:xfrm>
          <a:prstGeom prst="actionButtonSound">
            <a:avLst/>
          </a:prstGeom>
          <a:solidFill>
            <a:schemeClr val="accent1">
              <a:lumMod val="20000"/>
              <a:lumOff val="80000"/>
              <a:alpha val="4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>
              <a:solidFill>
                <a:prstClr val="white"/>
              </a:solidFill>
            </a:endParaRPr>
          </a:p>
        </p:txBody>
      </p:sp>
      <p:sp>
        <p:nvSpPr>
          <p:cNvPr id="14" name="สี่เหลี่ยมผืนผ้า 13"/>
          <p:cNvSpPr>
            <a:spLocks noChangeAspect="1"/>
          </p:cNvSpPr>
          <p:nvPr/>
        </p:nvSpPr>
        <p:spPr>
          <a:xfrm>
            <a:off x="1619672" y="4562127"/>
            <a:ext cx="504056" cy="31387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0000" lnSpcReduction="20000"/>
          </a:bodyPr>
          <a:lstStyle/>
          <a:p>
            <a:pPr algn="ctr"/>
            <a:r>
              <a:rPr lang="en-US" sz="1800" b="1" dirty="0">
                <a:solidFill>
                  <a:srgbClr val="4BACC6">
                    <a:lumMod val="50000"/>
                  </a:srgbClr>
                </a:solidFill>
                <a:latin typeface="JasmineUPC" pitchFamily="18" charset="-34"/>
                <a:cs typeface="JasmineUPC" pitchFamily="18" charset="-34"/>
              </a:rPr>
              <a:t>MENU</a:t>
            </a:r>
            <a:endParaRPr lang="th-TH" sz="1800" b="1" dirty="0">
              <a:solidFill>
                <a:srgbClr val="4BACC6">
                  <a:lumMod val="50000"/>
                </a:srgbClr>
              </a:solidFill>
              <a:latin typeface="JasmineUPC" pitchFamily="18" charset="-34"/>
              <a:cs typeface="JasmineUPC" pitchFamily="18" charset="-34"/>
            </a:endParaRPr>
          </a:p>
        </p:txBody>
      </p:sp>
      <p:sp>
        <p:nvSpPr>
          <p:cNvPr id="11" name="ลูกศรขวา 10"/>
          <p:cNvSpPr/>
          <p:nvPr/>
        </p:nvSpPr>
        <p:spPr>
          <a:xfrm>
            <a:off x="2411760" y="4562127"/>
            <a:ext cx="467829" cy="313879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>
              <a:solidFill>
                <a:prstClr val="white"/>
              </a:solidFill>
            </a:endParaRPr>
          </a:p>
        </p:txBody>
      </p:sp>
      <p:sp>
        <p:nvSpPr>
          <p:cNvPr id="6" name="AutoShape 2" descr="à¸à¸¥à¸à¸²à¸£à¸à¹à¸à¸«à¸²à¸£à¸¹à¸à¸ à¸²à¸à¸ªà¸³à¸«à¸£à¸±à¸ à¸à¸«à¸²à¸£"/>
          <p:cNvSpPr>
            <a:spLocks noChangeAspect="1" noChangeArrowheads="1"/>
          </p:cNvSpPr>
          <p:nvPr/>
        </p:nvSpPr>
        <p:spPr bwMode="auto">
          <a:xfrm>
            <a:off x="190500" y="-2127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th-TH"/>
          </a:p>
        </p:txBody>
      </p:sp>
      <p:pic>
        <p:nvPicPr>
          <p:cNvPr id="3077" name="Picture 5" descr="à¸à¸¥à¸à¸²à¸£à¸à¹à¸à¸«à¸²à¸£à¸¹à¸à¸ à¸²à¸à¸ªà¸³à¸«à¸£à¸±à¸ à¸à¸«à¸²à¸£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74" r="11588"/>
          <a:stretch/>
        </p:blipFill>
        <p:spPr bwMode="auto">
          <a:xfrm>
            <a:off x="1998921" y="2579944"/>
            <a:ext cx="967564" cy="824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à¸à¸¥à¸à¸²à¸£à¸à¹à¸à¸«à¸²à¸£à¸¹à¸à¸ à¸²à¸à¸ªà¸³à¸«à¸£à¸±à¸ à¸¡à¹à¸²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765" y="3486995"/>
            <a:ext cx="863510" cy="741034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18" r="9218"/>
          <a:stretch/>
        </p:blipFill>
        <p:spPr bwMode="auto">
          <a:xfrm>
            <a:off x="1998921" y="3523046"/>
            <a:ext cx="992490" cy="6689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สี่เหลี่ยมผืนผ้ามุมมน 7"/>
          <p:cNvSpPr/>
          <p:nvPr/>
        </p:nvSpPr>
        <p:spPr>
          <a:xfrm>
            <a:off x="2591780" y="71015"/>
            <a:ext cx="3960440" cy="504056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 smtClean="0">
                <a:solidFill>
                  <a:schemeClr val="accent1">
                    <a:lumMod val="75000"/>
                  </a:schemeClr>
                </a:solidFill>
                <a:latin typeface="JasmineUPC" pitchFamily="18" charset="-34"/>
                <a:cs typeface="JasmineUPC" pitchFamily="18" charset="-34"/>
              </a:rPr>
              <a:t>หน้า2 “แบบทดสอบ</a:t>
            </a:r>
            <a:r>
              <a:rPr lang="th-TH" dirty="0">
                <a:solidFill>
                  <a:schemeClr val="accent1">
                    <a:lumMod val="75000"/>
                  </a:schemeClr>
                </a:solidFill>
                <a:latin typeface="JasmineUPC" pitchFamily="18" charset="-34"/>
                <a:cs typeface="JasmineUPC" pitchFamily="18" charset="-34"/>
              </a:rPr>
              <a:t>พยัญชนะ</a:t>
            </a:r>
            <a:r>
              <a:rPr lang="th-TH" dirty="0" smtClean="0">
                <a:solidFill>
                  <a:schemeClr val="accent1">
                    <a:lumMod val="75000"/>
                  </a:schemeClr>
                </a:solidFill>
                <a:latin typeface="JasmineUPC" pitchFamily="18" charset="-34"/>
                <a:cs typeface="JasmineUPC" pitchFamily="18" charset="-34"/>
              </a:rPr>
              <a:t>ไทย”</a:t>
            </a:r>
            <a:endParaRPr lang="th-TH" dirty="0">
              <a:solidFill>
                <a:schemeClr val="accent1">
                  <a:lumMod val="75000"/>
                </a:schemeClr>
              </a:solidFill>
              <a:latin typeface="JasmineUPC" pitchFamily="18" charset="-34"/>
              <a:cs typeface="JasmineUPC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711290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สี่เหลี่ยมผืนผ้า 4"/>
          <p:cNvSpPr/>
          <p:nvPr/>
        </p:nvSpPr>
        <p:spPr>
          <a:xfrm>
            <a:off x="516225" y="611839"/>
            <a:ext cx="2808312" cy="43719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10" name="สี่เหลี่ยมผืนผ้ามุมมน 9"/>
          <p:cNvSpPr/>
          <p:nvPr/>
        </p:nvSpPr>
        <p:spPr>
          <a:xfrm>
            <a:off x="3923928" y="1275606"/>
            <a:ext cx="4536504" cy="3227436"/>
          </a:xfrm>
          <a:prstGeom prst="roundRect">
            <a:avLst/>
          </a:prstGeom>
          <a:noFill/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r>
              <a:rPr kumimoji="0" lang="th-TH" sz="2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JasmineUPC" pitchFamily="18" charset="-34"/>
                <a:ea typeface="+mn-ea"/>
                <a:cs typeface="JasmineUPC" pitchFamily="18" charset="-34"/>
              </a:rPr>
              <a:t>ส่วนที่ </a:t>
            </a:r>
            <a:r>
              <a:rPr lang="th-TH" b="1" dirty="0" smtClean="0">
                <a:solidFill>
                  <a:srgbClr val="00B050"/>
                </a:solidFill>
                <a:latin typeface="JasmineUPC" pitchFamily="18" charset="-34"/>
                <a:cs typeface="JasmineUPC" pitchFamily="18" charset="-34"/>
              </a:rPr>
              <a:t>5 ทดสอบ</a:t>
            </a:r>
            <a:r>
              <a:rPr lang="th-TH" b="1" dirty="0">
                <a:solidFill>
                  <a:srgbClr val="00B050"/>
                </a:solidFill>
                <a:latin typeface="JasmineUPC" pitchFamily="18" charset="-34"/>
                <a:cs typeface="JasmineUPC" pitchFamily="18" charset="-34"/>
              </a:rPr>
              <a:t>ความจำ</a:t>
            </a:r>
            <a:r>
              <a:rPr kumimoji="0" lang="th-TH" sz="2800" b="0" i="0" u="none" strike="noStrike" kern="1200" cap="none" spc="0" normalizeH="0" baseline="0" noProof="0" dirty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JasmineUPC" pitchFamily="18" charset="-34"/>
                <a:ea typeface="+mn-ea"/>
                <a:cs typeface="JasmineUPC" pitchFamily="18" charset="-34"/>
              </a:rPr>
              <a:t/>
            </a:r>
            <a:br>
              <a:rPr kumimoji="0" lang="th-TH" sz="2800" b="0" i="0" u="none" strike="noStrike" kern="1200" cap="none" spc="0" normalizeH="0" baseline="0" noProof="0" dirty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JasmineUPC" pitchFamily="18" charset="-34"/>
                <a:ea typeface="+mn-ea"/>
                <a:cs typeface="JasmineUPC" pitchFamily="18" charset="-34"/>
              </a:rPr>
            </a:br>
            <a:r>
              <a:rPr kumimoji="0" lang="th-TH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JasmineUPC" pitchFamily="18" charset="-34"/>
                <a:ea typeface="+mn-ea"/>
                <a:cs typeface="JasmineUPC" pitchFamily="18" charset="-34"/>
              </a:rPr>
              <a:t>-มีเสียงบอกวิธีเล่นในครั้งแรก</a:t>
            </a:r>
          </a:p>
          <a:p>
            <a:pPr lvl="0"/>
            <a:r>
              <a:rPr lang="th-TH" dirty="0">
                <a:solidFill>
                  <a:srgbClr val="F79646">
                    <a:lumMod val="50000"/>
                  </a:srgbClr>
                </a:solidFill>
                <a:latin typeface="JasmineUPC" pitchFamily="18" charset="-34"/>
                <a:cs typeface="JasmineUPC" pitchFamily="18" charset="-34"/>
              </a:rPr>
              <a:t>-ให้</a:t>
            </a:r>
            <a:r>
              <a:rPr lang="th-TH" dirty="0" smtClean="0">
                <a:solidFill>
                  <a:srgbClr val="F79646">
                    <a:lumMod val="50000"/>
                  </a:srgbClr>
                </a:solidFill>
                <a:latin typeface="JasmineUPC" pitchFamily="18" charset="-34"/>
                <a:cs typeface="JasmineUPC" pitchFamily="18" charset="-34"/>
              </a:rPr>
              <a:t>ผู้เรียนฝึกจับคู่</a:t>
            </a:r>
            <a:r>
              <a:rPr lang="th-TH" dirty="0">
                <a:solidFill>
                  <a:srgbClr val="F79646">
                    <a:lumMod val="50000"/>
                  </a:srgbClr>
                </a:solidFill>
                <a:latin typeface="JasmineUPC" pitchFamily="18" charset="-34"/>
                <a:cs typeface="JasmineUPC" pitchFamily="18" charset="-34"/>
              </a:rPr>
              <a:t>พยัญชนะให้ตรงกับ</a:t>
            </a:r>
            <a:r>
              <a:rPr lang="th-TH" dirty="0" smtClean="0">
                <a:solidFill>
                  <a:srgbClr val="F79646">
                    <a:lumMod val="50000"/>
                  </a:srgbClr>
                </a:solidFill>
                <a:latin typeface="JasmineUPC" pitchFamily="18" charset="-34"/>
                <a:cs typeface="JasmineUPC" pitchFamily="18" charset="-34"/>
              </a:rPr>
              <a:t>ภาพ</a:t>
            </a:r>
            <a:r>
              <a:rPr kumimoji="0" lang="th-TH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JasmineUPC" pitchFamily="18" charset="-34"/>
                <a:ea typeface="+mn-ea"/>
                <a:cs typeface="JasmineUPC" pitchFamily="18" charset="-34"/>
              </a:rPr>
              <a:t/>
            </a:r>
            <a:br>
              <a:rPr kumimoji="0" lang="th-TH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JasmineUPC" pitchFamily="18" charset="-34"/>
                <a:ea typeface="+mn-ea"/>
                <a:cs typeface="JasmineUPC" pitchFamily="18" charset="-34"/>
              </a:rPr>
            </a:br>
            <a:r>
              <a:rPr kumimoji="0" lang="th-TH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JasmineUPC" pitchFamily="18" charset="-34"/>
                <a:ea typeface="+mn-ea"/>
                <a:cs typeface="JasmineUPC" pitchFamily="18" charset="-34"/>
              </a:rPr>
              <a:t>- ผู้เรียนจะคลิกไอคอนถัดไปเมื่อจับคู่ครบทุกตัวแล้วเท่านั้น</a:t>
            </a:r>
            <a:endParaRPr kumimoji="0" lang="th-TH" sz="2800" b="0" i="0" u="none" strike="noStrike" kern="1200" cap="none" spc="0" normalizeH="0" baseline="0" noProof="0" dirty="0">
              <a:ln>
                <a:noFill/>
              </a:ln>
              <a:solidFill>
                <a:srgbClr val="F79646">
                  <a:lumMod val="50000"/>
                </a:srgbClr>
              </a:solidFill>
              <a:effectLst/>
              <a:uLnTx/>
              <a:uFillTx/>
              <a:latin typeface="JasmineUPC" pitchFamily="18" charset="-34"/>
              <a:ea typeface="+mn-ea"/>
              <a:cs typeface="JasmineUPC" pitchFamily="18" charset="-34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24644" y="899297"/>
            <a:ext cx="25603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th-TH" sz="2400" dirty="0" smtClean="0">
                <a:solidFill>
                  <a:srgbClr val="F79646">
                    <a:lumMod val="50000"/>
                  </a:srgbClr>
                </a:solidFill>
                <a:latin typeface="Angsana New" pitchFamily="18" charset="-34"/>
                <a:cs typeface="Cordia New" panose="020B0304020202020204" pitchFamily="34" charset="-34"/>
              </a:rPr>
              <a:t>จับคู่พยัญชนะให้ตรงกับภาพ</a:t>
            </a:r>
            <a:endParaRPr kumimoji="0" lang="th-TH" sz="2400" b="0" i="0" u="none" strike="noStrike" kern="1200" cap="none" spc="0" normalizeH="0" baseline="0" noProof="0" dirty="0">
              <a:ln>
                <a:noFill/>
              </a:ln>
              <a:solidFill>
                <a:srgbClr val="F79646">
                  <a:lumMod val="50000"/>
                </a:srgbClr>
              </a:solidFill>
              <a:effectLst/>
              <a:uLnTx/>
              <a:uFillTx/>
              <a:latin typeface="Angsana New" pitchFamily="18" charset="-34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14" name="สี่เหลี่ยมผืนผ้า 13"/>
          <p:cNvSpPr>
            <a:spLocks noChangeAspect="1"/>
          </p:cNvSpPr>
          <p:nvPr/>
        </p:nvSpPr>
        <p:spPr>
          <a:xfrm>
            <a:off x="1619672" y="4562127"/>
            <a:ext cx="504056" cy="31387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0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BACC6">
                    <a:lumMod val="50000"/>
                  </a:srgbClr>
                </a:solidFill>
                <a:effectLst/>
                <a:uLnTx/>
                <a:uFillTx/>
                <a:latin typeface="JasmineUPC" pitchFamily="18" charset="-34"/>
                <a:ea typeface="+mn-ea"/>
                <a:cs typeface="JasmineUPC" pitchFamily="18" charset="-34"/>
              </a:rPr>
              <a:t>MENU</a:t>
            </a:r>
            <a:endParaRPr kumimoji="0" lang="th-TH" sz="1800" b="1" i="0" u="none" strike="noStrike" kern="1200" cap="none" spc="0" normalizeH="0" baseline="0" noProof="0" dirty="0">
              <a:ln>
                <a:noFill/>
              </a:ln>
              <a:solidFill>
                <a:srgbClr val="4BACC6">
                  <a:lumMod val="50000"/>
                </a:srgbClr>
              </a:solidFill>
              <a:effectLst/>
              <a:uLnTx/>
              <a:uFillTx/>
              <a:latin typeface="JasmineUPC" pitchFamily="18" charset="-34"/>
              <a:ea typeface="+mn-ea"/>
              <a:cs typeface="JasmineUPC" pitchFamily="18" charset="-34"/>
            </a:endParaRPr>
          </a:p>
        </p:txBody>
      </p:sp>
      <p:sp>
        <p:nvSpPr>
          <p:cNvPr id="11" name="ลูกศรขวา 10"/>
          <p:cNvSpPr/>
          <p:nvPr/>
        </p:nvSpPr>
        <p:spPr>
          <a:xfrm>
            <a:off x="2411760" y="4562127"/>
            <a:ext cx="467829" cy="313879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6" name="AutoShape 2" descr="à¸à¸¥à¸à¸²à¸£à¸à¹à¸à¸«à¸²à¸£à¸¹à¸à¸ à¸²à¸à¸ªà¸³à¸«à¸£à¸±à¸ à¸à¸«à¸²à¸£"/>
          <p:cNvSpPr>
            <a:spLocks noChangeAspect="1" noChangeArrowheads="1"/>
          </p:cNvSpPr>
          <p:nvPr/>
        </p:nvSpPr>
        <p:spPr bwMode="auto">
          <a:xfrm>
            <a:off x="190500" y="-2127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ordia New" panose="020B0304020202020204" pitchFamily="34" charset="-34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1403648" y="3507854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354336" y="1197208"/>
            <a:ext cx="66877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8800" dirty="0" smtClean="0">
                <a:solidFill>
                  <a:schemeClr val="accent1">
                    <a:lumMod val="75000"/>
                  </a:schemeClr>
                </a:solidFill>
                <a:latin typeface="Angsana New" pitchFamily="18" charset="-34"/>
              </a:rPr>
              <a:t>ท</a:t>
            </a:r>
            <a:endParaRPr lang="th-TH" sz="8800" dirty="0">
              <a:solidFill>
                <a:schemeClr val="accent1">
                  <a:lumMod val="75000"/>
                </a:schemeClr>
              </a:solidFill>
              <a:latin typeface="Angsana New" pitchFamily="18" charset="-34"/>
            </a:endParaRPr>
          </a:p>
        </p:txBody>
      </p:sp>
      <p:pic>
        <p:nvPicPr>
          <p:cNvPr id="16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61" r="18763"/>
          <a:stretch/>
        </p:blipFill>
        <p:spPr bwMode="auto">
          <a:xfrm>
            <a:off x="702771" y="1542119"/>
            <a:ext cx="715191" cy="684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" name="Picture 5" descr="à¸à¸¥à¸à¸²à¸£à¸à¹à¸à¸«à¸²à¸£à¸¹à¸à¸ à¸²à¸à¸ªà¸³à¸«à¸£à¸±à¸ à¸à¸«à¸²à¸£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74" r="11588"/>
          <a:stretch/>
        </p:blipFill>
        <p:spPr bwMode="auto">
          <a:xfrm>
            <a:off x="702771" y="2283718"/>
            <a:ext cx="787334" cy="670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8" descr="à¸à¸¥à¸à¸²à¸£à¸à¹à¸à¸«à¸²à¸£à¸¹à¸à¸ à¸²à¸à¸ªà¸³à¸«à¸£à¸±à¸ à¸¡à¹à¸²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035" y="3075806"/>
            <a:ext cx="702662" cy="603000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18" r="9218"/>
          <a:stretch/>
        </p:blipFill>
        <p:spPr bwMode="auto">
          <a:xfrm>
            <a:off x="702771" y="3795886"/>
            <a:ext cx="807617" cy="544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2420255" y="1917288"/>
            <a:ext cx="63671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8800" dirty="0" smtClean="0">
                <a:solidFill>
                  <a:schemeClr val="accent1">
                    <a:lumMod val="75000"/>
                  </a:schemeClr>
                </a:solidFill>
                <a:latin typeface="Angsana New" pitchFamily="18" charset="-34"/>
              </a:rPr>
              <a:t>ก</a:t>
            </a:r>
            <a:endParaRPr lang="th-TH" sz="8800" dirty="0">
              <a:solidFill>
                <a:schemeClr val="accent1">
                  <a:lumMod val="75000"/>
                </a:schemeClr>
              </a:solidFill>
              <a:latin typeface="Angsana New" pitchFamily="18" charset="-3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414681" y="2565360"/>
            <a:ext cx="609462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8800" dirty="0" smtClean="0">
                <a:solidFill>
                  <a:schemeClr val="accent1">
                    <a:lumMod val="75000"/>
                  </a:schemeClr>
                </a:solidFill>
                <a:latin typeface="Angsana New" pitchFamily="18" charset="-34"/>
              </a:rPr>
              <a:t>ข</a:t>
            </a:r>
            <a:endParaRPr lang="th-TH" sz="8800" dirty="0">
              <a:solidFill>
                <a:schemeClr val="accent1">
                  <a:lumMod val="75000"/>
                </a:schemeClr>
              </a:solidFill>
              <a:latin typeface="Angsana New" pitchFamily="18" charset="-3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389376" y="3300936"/>
            <a:ext cx="675185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8800" dirty="0" smtClean="0">
                <a:solidFill>
                  <a:schemeClr val="accent1">
                    <a:lumMod val="75000"/>
                  </a:schemeClr>
                </a:solidFill>
                <a:latin typeface="Angsana New" pitchFamily="18" charset="-34"/>
              </a:rPr>
              <a:t>ม</a:t>
            </a:r>
            <a:endParaRPr lang="th-TH" sz="8800" dirty="0">
              <a:solidFill>
                <a:schemeClr val="accent1">
                  <a:lumMod val="75000"/>
                </a:schemeClr>
              </a:solidFill>
              <a:latin typeface="Angsana New" pitchFamily="18" charset="-34"/>
            </a:endParaRPr>
          </a:p>
        </p:txBody>
      </p:sp>
      <p:sp>
        <p:nvSpPr>
          <p:cNvPr id="24" name="สี่เหลี่ยมผืนผ้ามุมมน 7"/>
          <p:cNvSpPr/>
          <p:nvPr/>
        </p:nvSpPr>
        <p:spPr>
          <a:xfrm>
            <a:off x="2591780" y="71015"/>
            <a:ext cx="3960440" cy="504056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 smtClean="0">
                <a:solidFill>
                  <a:schemeClr val="accent1">
                    <a:lumMod val="75000"/>
                  </a:schemeClr>
                </a:solidFill>
                <a:latin typeface="JasmineUPC" pitchFamily="18" charset="-34"/>
                <a:cs typeface="JasmineUPC" pitchFamily="18" charset="-34"/>
              </a:rPr>
              <a:t>หน้า2 “แบบทดสอบ</a:t>
            </a:r>
            <a:r>
              <a:rPr lang="th-TH" dirty="0">
                <a:solidFill>
                  <a:schemeClr val="accent1">
                    <a:lumMod val="75000"/>
                  </a:schemeClr>
                </a:solidFill>
                <a:latin typeface="JasmineUPC" pitchFamily="18" charset="-34"/>
                <a:cs typeface="JasmineUPC" pitchFamily="18" charset="-34"/>
              </a:rPr>
              <a:t>พยัญชนะ</a:t>
            </a:r>
            <a:r>
              <a:rPr lang="th-TH" dirty="0" smtClean="0">
                <a:solidFill>
                  <a:schemeClr val="accent1">
                    <a:lumMod val="75000"/>
                  </a:schemeClr>
                </a:solidFill>
                <a:latin typeface="JasmineUPC" pitchFamily="18" charset="-34"/>
                <a:cs typeface="JasmineUPC" pitchFamily="18" charset="-34"/>
              </a:rPr>
              <a:t>ไทย”</a:t>
            </a:r>
            <a:endParaRPr lang="th-TH" dirty="0">
              <a:solidFill>
                <a:schemeClr val="accent1">
                  <a:lumMod val="75000"/>
                </a:schemeClr>
              </a:solidFill>
              <a:latin typeface="JasmineUPC" pitchFamily="18" charset="-34"/>
              <a:cs typeface="JasmineUPC" pitchFamily="18" charset="-34"/>
            </a:endParaRPr>
          </a:p>
        </p:txBody>
      </p:sp>
      <p:cxnSp>
        <p:nvCxnSpPr>
          <p:cNvPr id="4" name="Straight Connector 3"/>
          <p:cNvCxnSpPr>
            <a:stCxn id="16" idx="3"/>
          </p:cNvCxnSpPr>
          <p:nvPr/>
        </p:nvCxnSpPr>
        <p:spPr>
          <a:xfrm>
            <a:off x="1417962" y="1884182"/>
            <a:ext cx="1173818" cy="687568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641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425692" y="88619"/>
            <a:ext cx="2292615" cy="52322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asmineUPC" pitchFamily="18" charset="-34"/>
                <a:ea typeface="+mn-ea"/>
                <a:cs typeface="JasmineUPC" pitchFamily="18" charset="-34"/>
              </a:rPr>
              <a:t>หน้า พยัญชนะไทย</a:t>
            </a:r>
          </a:p>
        </p:txBody>
      </p:sp>
      <p:sp>
        <p:nvSpPr>
          <p:cNvPr id="5" name="สี่เหลี่ยมผืนผ้า 4"/>
          <p:cNvSpPr/>
          <p:nvPr/>
        </p:nvSpPr>
        <p:spPr>
          <a:xfrm>
            <a:off x="3203848" y="611839"/>
            <a:ext cx="2808312" cy="43719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7" name="สี่เหลี่ยมผืนผ้ามุมมน 6"/>
          <p:cNvSpPr/>
          <p:nvPr/>
        </p:nvSpPr>
        <p:spPr>
          <a:xfrm>
            <a:off x="3555841" y="915566"/>
            <a:ext cx="2088232" cy="504056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JasmineUPC" pitchFamily="18" charset="-34"/>
                <a:ea typeface="+mn-ea"/>
                <a:cs typeface="JasmineUPC" pitchFamily="18" charset="-34"/>
              </a:rPr>
              <a:t>เรียนพยัญชนะ</a:t>
            </a:r>
            <a:r>
              <a:rPr kumimoji="0" lang="th-TH" sz="2400" b="0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JasmineUPC" pitchFamily="18" charset="-34"/>
                <a:ea typeface="+mn-ea"/>
                <a:cs typeface="JasmineUPC" pitchFamily="18" charset="-34"/>
              </a:rPr>
              <a:t>ไทย</a:t>
            </a:r>
          </a:p>
        </p:txBody>
      </p:sp>
      <p:sp>
        <p:nvSpPr>
          <p:cNvPr id="8" name="สี่เหลี่ยมผืนผ้ามุมมน 7"/>
          <p:cNvSpPr/>
          <p:nvPr/>
        </p:nvSpPr>
        <p:spPr>
          <a:xfrm>
            <a:off x="3555841" y="1635646"/>
            <a:ext cx="2088232" cy="504056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JasmineUPC" pitchFamily="18" charset="-34"/>
                <a:ea typeface="+mn-ea"/>
                <a:cs typeface="JasmineUPC" pitchFamily="18" charset="-34"/>
              </a:rPr>
              <a:t>แบบทดสอบ</a:t>
            </a:r>
            <a:r>
              <a:rPr kumimoji="0" lang="th-TH" sz="2000" b="0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JasmineUPC" pitchFamily="18" charset="-34"/>
                <a:ea typeface="+mn-ea"/>
                <a:cs typeface="JasmineUPC" pitchFamily="18" charset="-34"/>
              </a:rPr>
              <a:t>พยัญชนะไทย</a:t>
            </a:r>
          </a:p>
        </p:txBody>
      </p:sp>
      <p:sp>
        <p:nvSpPr>
          <p:cNvPr id="9" name="สี่เหลี่ยมผืนผ้ามุมมน 8"/>
          <p:cNvSpPr/>
          <p:nvPr/>
        </p:nvSpPr>
        <p:spPr>
          <a:xfrm>
            <a:off x="3563888" y="2394553"/>
            <a:ext cx="2088232" cy="504056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JasmineUPC" pitchFamily="18" charset="-34"/>
                <a:ea typeface="+mn-ea"/>
                <a:cs typeface="JasmineUPC" pitchFamily="18" charset="-34"/>
              </a:rPr>
              <a:t>เสียงพยัญชนะไทย</a:t>
            </a:r>
            <a:endParaRPr kumimoji="0" lang="th-TH" sz="2400" b="0" i="0" u="none" strike="noStrike" kern="1200" cap="none" spc="0" normalizeH="0" baseline="0" noProof="0" dirty="0">
              <a:ln>
                <a:noFill/>
              </a:ln>
              <a:solidFill>
                <a:srgbClr val="4F81BD">
                  <a:lumMod val="75000"/>
                </a:srgbClr>
              </a:solidFill>
              <a:effectLst/>
              <a:uLnTx/>
              <a:uFillTx/>
              <a:latin typeface="JasmineUPC" pitchFamily="18" charset="-34"/>
              <a:ea typeface="+mn-ea"/>
              <a:cs typeface="JasmineUPC" pitchFamily="18" charset="-34"/>
            </a:endParaRPr>
          </a:p>
        </p:txBody>
      </p:sp>
      <p:sp>
        <p:nvSpPr>
          <p:cNvPr id="12" name="สี่เหลี่ยมผืนผ้ามุมมน 11"/>
          <p:cNvSpPr/>
          <p:nvPr/>
        </p:nvSpPr>
        <p:spPr>
          <a:xfrm>
            <a:off x="3555841" y="3147814"/>
            <a:ext cx="2088232" cy="504056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JasmineUPC" pitchFamily="18" charset="-34"/>
                <a:ea typeface="+mn-ea"/>
                <a:cs typeface="JasmineUPC" pitchFamily="18" charset="-34"/>
              </a:rPr>
              <a:t>ฝึกแยกเสียงพยัญชนะ</a:t>
            </a:r>
            <a:endParaRPr kumimoji="0" lang="th-TH" sz="2000" b="0" i="0" u="none" strike="noStrike" kern="1200" cap="none" spc="0" normalizeH="0" baseline="0" noProof="0" dirty="0">
              <a:ln>
                <a:noFill/>
              </a:ln>
              <a:solidFill>
                <a:srgbClr val="4F81BD">
                  <a:lumMod val="75000"/>
                </a:srgbClr>
              </a:solidFill>
              <a:effectLst/>
              <a:uLnTx/>
              <a:uFillTx/>
              <a:latin typeface="JasmineUPC" pitchFamily="18" charset="-34"/>
              <a:ea typeface="+mn-ea"/>
              <a:cs typeface="JasmineUPC" pitchFamily="18" charset="-34"/>
            </a:endParaRPr>
          </a:p>
        </p:txBody>
      </p:sp>
      <p:sp>
        <p:nvSpPr>
          <p:cNvPr id="19" name="สี่เหลี่ยมผืนผ้า 18"/>
          <p:cNvSpPr>
            <a:spLocks noChangeAspect="1"/>
          </p:cNvSpPr>
          <p:nvPr/>
        </p:nvSpPr>
        <p:spPr>
          <a:xfrm>
            <a:off x="4307295" y="4562127"/>
            <a:ext cx="504056" cy="31387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0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4BACC6">
                    <a:lumMod val="50000"/>
                  </a:srgbClr>
                </a:solidFill>
                <a:effectLst/>
                <a:uLnTx/>
                <a:uFillTx/>
                <a:latin typeface="JasmineUPC" pitchFamily="18" charset="-34"/>
                <a:ea typeface="+mn-ea"/>
                <a:cs typeface="JasmineUPC" pitchFamily="18" charset="-34"/>
              </a:rPr>
              <a:t>MENU</a:t>
            </a:r>
            <a:endParaRPr kumimoji="0" lang="th-TH" sz="1800" b="1" i="0" u="none" strike="noStrike" kern="1200" cap="none" spc="0" normalizeH="0" baseline="0" noProof="0" dirty="0">
              <a:ln>
                <a:noFill/>
              </a:ln>
              <a:solidFill>
                <a:srgbClr val="4BACC6">
                  <a:lumMod val="50000"/>
                </a:srgbClr>
              </a:solidFill>
              <a:effectLst/>
              <a:uLnTx/>
              <a:uFillTx/>
              <a:latin typeface="JasmineUPC" pitchFamily="18" charset="-34"/>
              <a:ea typeface="+mn-ea"/>
              <a:cs typeface="JasmineUPC" pitchFamily="18" charset="-34"/>
            </a:endParaRPr>
          </a:p>
        </p:txBody>
      </p:sp>
      <p:sp>
        <p:nvSpPr>
          <p:cNvPr id="11" name="สี่เหลี่ยมผืนผ้ามุมมน 11"/>
          <p:cNvSpPr/>
          <p:nvPr/>
        </p:nvSpPr>
        <p:spPr>
          <a:xfrm>
            <a:off x="3555841" y="3813773"/>
            <a:ext cx="2088232" cy="504056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JasmineUPC" pitchFamily="18" charset="-34"/>
                <a:ea typeface="+mn-ea"/>
                <a:cs typeface="JasmineUPC" pitchFamily="18" charset="-34"/>
              </a:rPr>
              <a:t>ฝึกเขียนพยัญชนะ</a:t>
            </a:r>
            <a:endParaRPr kumimoji="0" lang="th-TH" sz="2800" b="0" i="0" u="none" strike="noStrike" kern="1200" cap="none" spc="0" normalizeH="0" baseline="0" noProof="0" dirty="0">
              <a:ln>
                <a:noFill/>
              </a:ln>
              <a:solidFill>
                <a:srgbClr val="4F81BD">
                  <a:lumMod val="75000"/>
                </a:srgbClr>
              </a:solidFill>
              <a:effectLst/>
              <a:uLnTx/>
              <a:uFillTx/>
              <a:latin typeface="JasmineUPC" pitchFamily="18" charset="-34"/>
              <a:ea typeface="+mn-ea"/>
              <a:cs typeface="JasmineUPC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369754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สี่เหลี่ยมผืนผ้า 4"/>
          <p:cNvSpPr/>
          <p:nvPr/>
        </p:nvSpPr>
        <p:spPr>
          <a:xfrm>
            <a:off x="516225" y="611839"/>
            <a:ext cx="2808312" cy="43719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10" name="สี่เหลี่ยมผืนผ้ามุมมน 9"/>
          <p:cNvSpPr/>
          <p:nvPr/>
        </p:nvSpPr>
        <p:spPr>
          <a:xfrm>
            <a:off x="3895248" y="1005527"/>
            <a:ext cx="4536504" cy="3708183"/>
          </a:xfrm>
          <a:prstGeom prst="roundRect">
            <a:avLst/>
          </a:prstGeom>
          <a:noFill/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JasmineUPC" pitchFamily="18" charset="-34"/>
                <a:ea typeface="+mn-ea"/>
                <a:cs typeface="JasmineUPC" pitchFamily="18" charset="-34"/>
              </a:rPr>
              <a:t>ฝึก</a:t>
            </a:r>
            <a:r>
              <a:rPr lang="th-TH" b="1" dirty="0" smtClean="0">
                <a:solidFill>
                  <a:srgbClr val="00B050"/>
                </a:solidFill>
                <a:latin typeface="JasmineUPC" pitchFamily="18" charset="-34"/>
                <a:cs typeface="JasmineUPC" pitchFamily="18" charset="-34"/>
              </a:rPr>
              <a:t>ให้ผู้เรียนฟังเสียง</a:t>
            </a:r>
            <a:r>
              <a:rPr kumimoji="0" lang="th-TH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JasmineUPC" pitchFamily="18" charset="-34"/>
                <a:ea typeface="+mn-ea"/>
                <a:cs typeface="JasmineUPC" pitchFamily="18" charset="-34"/>
              </a:rPr>
              <a:t>พยัญชนะ</a:t>
            </a:r>
          </a:p>
          <a:p>
            <a:pPr lvl="0"/>
            <a:r>
              <a:rPr kumimoji="0" lang="th-TH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JasmineUPC" pitchFamily="18" charset="-34"/>
                <a:ea typeface="+mn-ea"/>
                <a:cs typeface="JasmineUPC" pitchFamily="18" charset="-34"/>
              </a:rPr>
              <a:t>- มีเสียงคำสั่ง </a:t>
            </a:r>
            <a:r>
              <a:rPr lang="th-TH" dirty="0">
                <a:solidFill>
                  <a:srgbClr val="F79646">
                    <a:lumMod val="50000"/>
                  </a:srgbClr>
                </a:solidFill>
                <a:latin typeface="JasmineUPC" pitchFamily="18" charset="-34"/>
                <a:cs typeface="JasmineUPC" pitchFamily="18" charset="-34"/>
              </a:rPr>
              <a:t>“ฟังเสียง</a:t>
            </a:r>
            <a:r>
              <a:rPr lang="th-TH" dirty="0" smtClean="0">
                <a:solidFill>
                  <a:srgbClr val="F79646">
                    <a:lumMod val="50000"/>
                  </a:srgbClr>
                </a:solidFill>
                <a:latin typeface="JasmineUPC" pitchFamily="18" charset="-34"/>
                <a:cs typeface="JasmineUPC" pitchFamily="18" charset="-34"/>
              </a:rPr>
              <a:t>พยัญชนะต่อไปนี้ พร้อมออกเสียงตาม”</a:t>
            </a:r>
            <a:endParaRPr kumimoji="0" lang="th-TH" sz="2800" b="0" i="0" u="none" strike="noStrike" kern="1200" cap="none" spc="0" normalizeH="0" baseline="0" noProof="0" dirty="0" smtClean="0">
              <a:ln>
                <a:noFill/>
              </a:ln>
              <a:solidFill>
                <a:srgbClr val="F79646">
                  <a:lumMod val="50000"/>
                </a:srgbClr>
              </a:solidFill>
              <a:effectLst/>
              <a:uLnTx/>
              <a:uFillTx/>
              <a:latin typeface="JasmineUPC" pitchFamily="18" charset="-34"/>
              <a:ea typeface="+mn-ea"/>
              <a:cs typeface="JasmineUPC" pitchFamily="18" charset="-34"/>
            </a:endParaRPr>
          </a:p>
          <a:p>
            <a:pPr lvl="0"/>
            <a:r>
              <a:rPr kumimoji="0" lang="th-TH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JasmineUPC" pitchFamily="18" charset="-34"/>
                <a:ea typeface="+mn-ea"/>
                <a:cs typeface="JasmineUPC" pitchFamily="18" charset="-34"/>
              </a:rPr>
              <a:t>- คลิกที่ “ก” มีเสียงอ่าน</a:t>
            </a:r>
            <a:r>
              <a:rPr kumimoji="0" lang="th-TH" sz="2800" b="0" i="0" u="none" strike="noStrike" kern="1200" cap="none" spc="0" normalizeH="0" noProof="0" dirty="0" smtClean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JasmineUPC" pitchFamily="18" charset="-34"/>
                <a:ea typeface="+mn-ea"/>
                <a:cs typeface="JasmineUPC" pitchFamily="18" charset="-34"/>
              </a:rPr>
              <a:t> กอ คลิกที่ “จ” ออกเสียง จอ</a:t>
            </a:r>
            <a:r>
              <a:rPr kumimoji="0" lang="th-TH" sz="2800" b="0" i="0" u="none" strike="noStrike" kern="1200" cap="none" spc="0" normalizeH="0" baseline="0" noProof="0" dirty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JasmineUPC" pitchFamily="18" charset="-34"/>
                <a:ea typeface="+mn-ea"/>
                <a:cs typeface="JasmineUPC" pitchFamily="18" charset="-34"/>
              </a:rPr>
              <a:t/>
            </a:r>
            <a:br>
              <a:rPr kumimoji="0" lang="th-TH" sz="2800" b="0" i="0" u="none" strike="noStrike" kern="1200" cap="none" spc="0" normalizeH="0" baseline="0" noProof="0" dirty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JasmineUPC" pitchFamily="18" charset="-34"/>
                <a:ea typeface="+mn-ea"/>
                <a:cs typeface="JasmineUPC" pitchFamily="18" charset="-34"/>
              </a:rPr>
            </a:br>
            <a:endParaRPr kumimoji="0" lang="th-TH" sz="2800" b="0" i="0" u="none" strike="noStrike" kern="1200" cap="none" spc="0" normalizeH="0" baseline="0" noProof="0" dirty="0">
              <a:ln>
                <a:noFill/>
              </a:ln>
              <a:solidFill>
                <a:srgbClr val="4BACC6">
                  <a:lumMod val="75000"/>
                </a:srgbClr>
              </a:solidFill>
              <a:effectLst/>
              <a:uLnTx/>
              <a:uFillTx/>
              <a:latin typeface="JasmineUPC" pitchFamily="18" charset="-34"/>
              <a:ea typeface="+mn-ea"/>
              <a:cs typeface="JasmineUPC" pitchFamily="18" charset="-34"/>
            </a:endParaRPr>
          </a:p>
        </p:txBody>
      </p:sp>
      <p:sp>
        <p:nvSpPr>
          <p:cNvPr id="14" name="สี่เหลี่ยมผืนผ้า 13"/>
          <p:cNvSpPr>
            <a:spLocks noChangeAspect="1"/>
          </p:cNvSpPr>
          <p:nvPr/>
        </p:nvSpPr>
        <p:spPr>
          <a:xfrm>
            <a:off x="1619672" y="4562127"/>
            <a:ext cx="504056" cy="31387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0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BACC6">
                    <a:lumMod val="50000"/>
                  </a:srgbClr>
                </a:solidFill>
                <a:effectLst/>
                <a:uLnTx/>
                <a:uFillTx/>
                <a:latin typeface="JasmineUPC" pitchFamily="18" charset="-34"/>
                <a:ea typeface="+mn-ea"/>
                <a:cs typeface="JasmineUPC" pitchFamily="18" charset="-34"/>
              </a:rPr>
              <a:t>MENU</a:t>
            </a:r>
            <a:endParaRPr kumimoji="0" lang="th-TH" sz="1800" b="1" i="0" u="none" strike="noStrike" kern="1200" cap="none" spc="0" normalizeH="0" baseline="0" noProof="0" dirty="0">
              <a:ln>
                <a:noFill/>
              </a:ln>
              <a:solidFill>
                <a:srgbClr val="4BACC6">
                  <a:lumMod val="50000"/>
                </a:srgbClr>
              </a:solidFill>
              <a:effectLst/>
              <a:uLnTx/>
              <a:uFillTx/>
              <a:latin typeface="JasmineUPC" pitchFamily="18" charset="-34"/>
              <a:ea typeface="+mn-ea"/>
              <a:cs typeface="JasmineUPC" pitchFamily="18" charset="-34"/>
            </a:endParaRPr>
          </a:p>
        </p:txBody>
      </p:sp>
      <p:sp>
        <p:nvSpPr>
          <p:cNvPr id="11" name="ลูกศรขวา 10"/>
          <p:cNvSpPr/>
          <p:nvPr/>
        </p:nvSpPr>
        <p:spPr>
          <a:xfrm>
            <a:off x="2411760" y="4562127"/>
            <a:ext cx="467829" cy="313879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6" name="AutoShape 2" descr="à¸à¸¥à¸à¸²à¸£à¸à¹à¸à¸«à¸²à¸£à¸¹à¸à¸ à¸²à¸à¸ªà¸³à¸«à¸£à¸±à¸ à¸à¸«à¸²à¸£"/>
          <p:cNvSpPr>
            <a:spLocks noChangeAspect="1" noChangeArrowheads="1"/>
          </p:cNvSpPr>
          <p:nvPr/>
        </p:nvSpPr>
        <p:spPr bwMode="auto">
          <a:xfrm>
            <a:off x="190500" y="-2127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ordia New" panose="020B0304020202020204" pitchFamily="34" charset="-34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1403648" y="3507854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53912" y="1822353"/>
            <a:ext cx="253963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th-TH" sz="9600" dirty="0">
                <a:solidFill>
                  <a:srgbClr val="4F81BD">
                    <a:lumMod val="75000"/>
                  </a:srgbClr>
                </a:solidFill>
                <a:latin typeface="Angsana New" pitchFamily="18" charset="-34"/>
              </a:rPr>
              <a:t>ก </a:t>
            </a:r>
            <a:r>
              <a:rPr lang="th-TH" sz="9600" dirty="0" smtClean="0">
                <a:solidFill>
                  <a:srgbClr val="4F81BD">
                    <a:lumMod val="75000"/>
                  </a:srgbClr>
                </a:solidFill>
                <a:latin typeface="Angsana New" pitchFamily="18" charset="-34"/>
              </a:rPr>
              <a:t>   จ </a:t>
            </a:r>
            <a:endParaRPr kumimoji="0" lang="th-TH" sz="9600" b="0" i="0" u="none" strike="noStrike" kern="1200" cap="none" spc="0" normalizeH="0" baseline="0" noProof="0" dirty="0">
              <a:ln>
                <a:noFill/>
              </a:ln>
              <a:solidFill>
                <a:srgbClr val="4F81BD">
                  <a:lumMod val="75000"/>
                </a:srgbClr>
              </a:solidFill>
              <a:effectLst/>
              <a:uLnTx/>
              <a:uFillTx/>
              <a:latin typeface="Angsana New" pitchFamily="18" charset="-34"/>
              <a:cs typeface="Cordia New" panose="020B0304020202020204" pitchFamily="34" charset="-34"/>
            </a:endParaRPr>
          </a:p>
        </p:txBody>
      </p:sp>
      <p:sp>
        <p:nvSpPr>
          <p:cNvPr id="24" name="สี่เหลี่ยมผืนผ้ามุมมน 7"/>
          <p:cNvSpPr/>
          <p:nvPr/>
        </p:nvSpPr>
        <p:spPr>
          <a:xfrm>
            <a:off x="2854994" y="60280"/>
            <a:ext cx="3384376" cy="504056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JasmineUPC" pitchFamily="18" charset="-34"/>
                <a:ea typeface="+mn-ea"/>
                <a:cs typeface="JasmineUPC" pitchFamily="18" charset="-34"/>
              </a:rPr>
              <a:t>หน้า3 “เสียงพยัญชนะ”</a:t>
            </a:r>
            <a:endParaRPr kumimoji="0" lang="th-TH" sz="2800" b="0" i="0" u="none" strike="noStrike" kern="1200" cap="none" spc="0" normalizeH="0" baseline="0" noProof="0" dirty="0">
              <a:ln>
                <a:noFill/>
              </a:ln>
              <a:solidFill>
                <a:srgbClr val="4F81BD">
                  <a:lumMod val="75000"/>
                </a:srgbClr>
              </a:solidFill>
              <a:effectLst/>
              <a:uLnTx/>
              <a:uFillTx/>
              <a:latin typeface="JasmineUPC" pitchFamily="18" charset="-34"/>
              <a:ea typeface="+mn-ea"/>
              <a:cs typeface="JasmineUPC" pitchFamily="18" charset="-34"/>
            </a:endParaRPr>
          </a:p>
        </p:txBody>
      </p:sp>
      <p:sp>
        <p:nvSpPr>
          <p:cNvPr id="26" name="ลูกศรขวา 11"/>
          <p:cNvSpPr/>
          <p:nvPr/>
        </p:nvSpPr>
        <p:spPr>
          <a:xfrm flipH="1">
            <a:off x="944792" y="4562127"/>
            <a:ext cx="467829" cy="313879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Cordia New" panose="020B03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741980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สี่เหลี่ยมผืนผ้า 4"/>
          <p:cNvSpPr/>
          <p:nvPr/>
        </p:nvSpPr>
        <p:spPr>
          <a:xfrm>
            <a:off x="516225" y="611839"/>
            <a:ext cx="2808312" cy="43719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10" name="สี่เหลี่ยมผืนผ้ามุมมน 9"/>
          <p:cNvSpPr/>
          <p:nvPr/>
        </p:nvSpPr>
        <p:spPr>
          <a:xfrm>
            <a:off x="3895248" y="1005527"/>
            <a:ext cx="4536504" cy="3708183"/>
          </a:xfrm>
          <a:prstGeom prst="roundRect">
            <a:avLst/>
          </a:prstGeom>
          <a:noFill/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JasmineUPC" pitchFamily="18" charset="-34"/>
                <a:ea typeface="+mn-ea"/>
                <a:cs typeface="JasmineUPC" pitchFamily="18" charset="-34"/>
              </a:rPr>
              <a:t>ฝึกให้ผู้เรียนฟังเสียงพยัญชนะ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JasmineUPC" pitchFamily="18" charset="-34"/>
                <a:ea typeface="+mn-ea"/>
                <a:cs typeface="JasmineUPC" pitchFamily="18" charset="-34"/>
              </a:rPr>
              <a:t>- มีเสียงคำสั่ง </a:t>
            </a:r>
            <a:r>
              <a:rPr kumimoji="0" lang="th-TH" sz="2800" b="0" i="0" u="none" strike="noStrike" kern="1200" cap="none" spc="0" normalizeH="0" baseline="0" noProof="0" dirty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JasmineUPC" pitchFamily="18" charset="-34"/>
                <a:ea typeface="+mn-ea"/>
                <a:cs typeface="JasmineUPC" pitchFamily="18" charset="-34"/>
              </a:rPr>
              <a:t>“ฟังเสียง</a:t>
            </a:r>
            <a:r>
              <a:rPr kumimoji="0" lang="th-TH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JasmineUPC" pitchFamily="18" charset="-34"/>
                <a:ea typeface="+mn-ea"/>
                <a:cs typeface="JasmineUPC" pitchFamily="18" charset="-34"/>
              </a:rPr>
              <a:t>พยัญชนะต่อไปนี้ พร้อมออกเสียงตาม”</a:t>
            </a:r>
          </a:p>
          <a:p>
            <a:pPr lvl="0"/>
            <a:r>
              <a:rPr kumimoji="0" lang="th-TH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JasmineUPC" pitchFamily="18" charset="-34"/>
                <a:ea typeface="+mn-ea"/>
                <a:cs typeface="JasmineUPC" pitchFamily="18" charset="-34"/>
              </a:rPr>
              <a:t>- เลือกตัวอักษรที่คล้ายกัน อยู่ด้วยกัน เพื่อให้เด็กเทียบ</a:t>
            </a:r>
            <a:r>
              <a:rPr kumimoji="0" lang="th-TH" sz="2800" b="0" i="0" u="none" strike="noStrike" kern="1200" cap="none" spc="0" normalizeH="0" baseline="0" noProof="0" dirty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JasmineUPC" pitchFamily="18" charset="-34"/>
                <a:ea typeface="+mn-ea"/>
                <a:cs typeface="JasmineUPC" pitchFamily="18" charset="-34"/>
              </a:rPr>
              <a:t/>
            </a:r>
            <a:br>
              <a:rPr kumimoji="0" lang="th-TH" sz="2800" b="0" i="0" u="none" strike="noStrike" kern="1200" cap="none" spc="0" normalizeH="0" baseline="0" noProof="0" dirty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JasmineUPC" pitchFamily="18" charset="-34"/>
                <a:ea typeface="+mn-ea"/>
                <a:cs typeface="JasmineUPC" pitchFamily="18" charset="-34"/>
              </a:rPr>
            </a:br>
            <a:endParaRPr kumimoji="0" lang="th-TH" sz="2800" b="0" i="0" u="none" strike="noStrike" kern="1200" cap="none" spc="0" normalizeH="0" baseline="0" noProof="0" dirty="0">
              <a:ln>
                <a:noFill/>
              </a:ln>
              <a:solidFill>
                <a:srgbClr val="4BACC6">
                  <a:lumMod val="75000"/>
                </a:srgbClr>
              </a:solidFill>
              <a:effectLst/>
              <a:uLnTx/>
              <a:uFillTx/>
              <a:latin typeface="JasmineUPC" pitchFamily="18" charset="-34"/>
              <a:ea typeface="+mn-ea"/>
              <a:cs typeface="JasmineUPC" pitchFamily="18" charset="-34"/>
            </a:endParaRPr>
          </a:p>
        </p:txBody>
      </p:sp>
      <p:sp>
        <p:nvSpPr>
          <p:cNvPr id="14" name="สี่เหลี่ยมผืนผ้า 13"/>
          <p:cNvSpPr>
            <a:spLocks noChangeAspect="1"/>
          </p:cNvSpPr>
          <p:nvPr/>
        </p:nvSpPr>
        <p:spPr>
          <a:xfrm>
            <a:off x="1619672" y="4562127"/>
            <a:ext cx="504056" cy="31387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0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BACC6">
                    <a:lumMod val="50000"/>
                  </a:srgbClr>
                </a:solidFill>
                <a:effectLst/>
                <a:uLnTx/>
                <a:uFillTx/>
                <a:latin typeface="JasmineUPC" pitchFamily="18" charset="-34"/>
                <a:ea typeface="+mn-ea"/>
                <a:cs typeface="JasmineUPC" pitchFamily="18" charset="-34"/>
              </a:rPr>
              <a:t>MENU</a:t>
            </a:r>
            <a:endParaRPr kumimoji="0" lang="th-TH" sz="1800" b="1" i="0" u="none" strike="noStrike" kern="1200" cap="none" spc="0" normalizeH="0" baseline="0" noProof="0" dirty="0">
              <a:ln>
                <a:noFill/>
              </a:ln>
              <a:solidFill>
                <a:srgbClr val="4BACC6">
                  <a:lumMod val="50000"/>
                </a:srgbClr>
              </a:solidFill>
              <a:effectLst/>
              <a:uLnTx/>
              <a:uFillTx/>
              <a:latin typeface="JasmineUPC" pitchFamily="18" charset="-34"/>
              <a:ea typeface="+mn-ea"/>
              <a:cs typeface="JasmineUPC" pitchFamily="18" charset="-34"/>
            </a:endParaRPr>
          </a:p>
        </p:txBody>
      </p:sp>
      <p:sp>
        <p:nvSpPr>
          <p:cNvPr id="11" name="ลูกศรขวา 10"/>
          <p:cNvSpPr/>
          <p:nvPr/>
        </p:nvSpPr>
        <p:spPr>
          <a:xfrm>
            <a:off x="2411760" y="4562127"/>
            <a:ext cx="467829" cy="313879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6" name="AutoShape 2" descr="à¸à¸¥à¸à¸²à¸£à¸à¹à¸à¸«à¸²à¸£à¸¹à¸à¸ à¸²à¸à¸ªà¸³à¸«à¸£à¸±à¸ à¸à¸«à¸²à¸£"/>
          <p:cNvSpPr>
            <a:spLocks noChangeAspect="1" noChangeArrowheads="1"/>
          </p:cNvSpPr>
          <p:nvPr/>
        </p:nvSpPr>
        <p:spPr bwMode="auto">
          <a:xfrm>
            <a:off x="190500" y="-2127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ordia New" panose="020B0304020202020204" pitchFamily="34" charset="-34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1403648" y="3507854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สี่เหลี่ยมผืนผ้ามุมมน 7"/>
          <p:cNvSpPr/>
          <p:nvPr/>
        </p:nvSpPr>
        <p:spPr>
          <a:xfrm>
            <a:off x="2854994" y="60280"/>
            <a:ext cx="3384376" cy="504056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JasmineUPC" pitchFamily="18" charset="-34"/>
                <a:ea typeface="+mn-ea"/>
                <a:cs typeface="JasmineUPC" pitchFamily="18" charset="-34"/>
              </a:rPr>
              <a:t>หน้า3 “เสียงพยัญชนะ”</a:t>
            </a:r>
            <a:endParaRPr kumimoji="0" lang="th-TH" sz="2800" b="0" i="0" u="none" strike="noStrike" kern="1200" cap="none" spc="0" normalizeH="0" baseline="0" noProof="0" dirty="0">
              <a:ln>
                <a:noFill/>
              </a:ln>
              <a:solidFill>
                <a:srgbClr val="4F81BD">
                  <a:lumMod val="75000"/>
                </a:srgbClr>
              </a:solidFill>
              <a:effectLst/>
              <a:uLnTx/>
              <a:uFillTx/>
              <a:latin typeface="JasmineUPC" pitchFamily="18" charset="-34"/>
              <a:ea typeface="+mn-ea"/>
              <a:cs typeface="JasmineUPC" pitchFamily="18" charset="-34"/>
            </a:endParaRPr>
          </a:p>
        </p:txBody>
      </p:sp>
      <p:sp>
        <p:nvSpPr>
          <p:cNvPr id="26" name="ลูกศรขวา 11"/>
          <p:cNvSpPr/>
          <p:nvPr/>
        </p:nvSpPr>
        <p:spPr>
          <a:xfrm flipH="1">
            <a:off x="944792" y="4562127"/>
            <a:ext cx="467829" cy="313879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79570" y="2355726"/>
            <a:ext cx="253963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th-TH" sz="9600" dirty="0">
                <a:solidFill>
                  <a:srgbClr val="4F81BD">
                    <a:lumMod val="75000"/>
                  </a:srgbClr>
                </a:solidFill>
                <a:latin typeface="Angsana New" pitchFamily="18" charset="-34"/>
              </a:rPr>
              <a:t>ฎ </a:t>
            </a:r>
            <a:r>
              <a:rPr lang="th-TH" sz="9600" dirty="0" smtClean="0">
                <a:solidFill>
                  <a:srgbClr val="4F81BD">
                    <a:lumMod val="75000"/>
                  </a:srgbClr>
                </a:solidFill>
                <a:latin typeface="Angsana New" pitchFamily="18" charset="-34"/>
              </a:rPr>
              <a:t>  ฏ </a:t>
            </a:r>
            <a:endParaRPr kumimoji="0" lang="th-TH" sz="9600" b="0" i="0" u="none" strike="noStrike" kern="1200" cap="none" spc="0" normalizeH="0" baseline="0" noProof="0" dirty="0">
              <a:ln>
                <a:noFill/>
              </a:ln>
              <a:solidFill>
                <a:srgbClr val="4F81BD">
                  <a:lumMod val="75000"/>
                </a:srgbClr>
              </a:solidFill>
              <a:effectLst/>
              <a:uLnTx/>
              <a:uFillTx/>
              <a:latin typeface="Angsana New" pitchFamily="18" charset="-34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99504" y="1005527"/>
            <a:ext cx="253963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th-TH" sz="9600" dirty="0" smtClean="0">
                <a:solidFill>
                  <a:srgbClr val="4F81BD">
                    <a:lumMod val="75000"/>
                  </a:srgbClr>
                </a:solidFill>
                <a:latin typeface="Angsana New" pitchFamily="18" charset="-34"/>
              </a:rPr>
              <a:t>ด    ต</a:t>
            </a:r>
            <a:endParaRPr kumimoji="0" lang="th-TH" sz="9600" b="0" i="0" u="none" strike="noStrike" kern="1200" cap="none" spc="0" normalizeH="0" baseline="0" noProof="0" dirty="0">
              <a:ln>
                <a:noFill/>
              </a:ln>
              <a:solidFill>
                <a:srgbClr val="4F81BD">
                  <a:lumMod val="75000"/>
                </a:srgbClr>
              </a:solidFill>
              <a:effectLst/>
              <a:uLnTx/>
              <a:uFillTx/>
              <a:latin typeface="Angsana New" pitchFamily="18" charset="-34"/>
              <a:cs typeface="Cordia New" panose="020B03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055646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สี่เหลี่ยมผืนผ้า 4"/>
          <p:cNvSpPr/>
          <p:nvPr/>
        </p:nvSpPr>
        <p:spPr>
          <a:xfrm>
            <a:off x="516225" y="611839"/>
            <a:ext cx="2808312" cy="43719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10" name="สี่เหลี่ยมผืนผ้ามุมมน 9"/>
          <p:cNvSpPr/>
          <p:nvPr/>
        </p:nvSpPr>
        <p:spPr>
          <a:xfrm>
            <a:off x="3895248" y="1005527"/>
            <a:ext cx="4536504" cy="3708183"/>
          </a:xfrm>
          <a:prstGeom prst="roundRect">
            <a:avLst/>
          </a:prstGeom>
          <a:noFill/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JasmineUPC" pitchFamily="18" charset="-34"/>
                <a:ea typeface="+mn-ea"/>
                <a:cs typeface="JasmineUPC" pitchFamily="18" charset="-34"/>
              </a:rPr>
              <a:t>ฝึกให้ผู้เรียนฟังเสียงพยัญชนะ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JasmineUPC" pitchFamily="18" charset="-34"/>
                <a:ea typeface="+mn-ea"/>
                <a:cs typeface="JasmineUPC" pitchFamily="18" charset="-34"/>
              </a:rPr>
              <a:t>- มีเสียงคำสั่ง </a:t>
            </a:r>
            <a:r>
              <a:rPr kumimoji="0" lang="th-TH" sz="2800" b="0" i="0" u="none" strike="noStrike" kern="1200" cap="none" spc="0" normalizeH="0" baseline="0" noProof="0" dirty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JasmineUPC" pitchFamily="18" charset="-34"/>
                <a:ea typeface="+mn-ea"/>
                <a:cs typeface="JasmineUPC" pitchFamily="18" charset="-34"/>
              </a:rPr>
              <a:t>“ฟังเสียง</a:t>
            </a:r>
            <a:r>
              <a:rPr kumimoji="0" lang="th-TH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JasmineUPC" pitchFamily="18" charset="-34"/>
                <a:ea typeface="+mn-ea"/>
                <a:cs typeface="JasmineUPC" pitchFamily="18" charset="-34"/>
              </a:rPr>
              <a:t>พยัญชนะต่อไปนี้ พร้อมออกเสียงตาม”</a:t>
            </a:r>
            <a:br>
              <a:rPr kumimoji="0" lang="th-TH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JasmineUPC" pitchFamily="18" charset="-34"/>
                <a:ea typeface="+mn-ea"/>
                <a:cs typeface="JasmineUPC" pitchFamily="18" charset="-34"/>
              </a:rPr>
            </a:br>
            <a:r>
              <a:rPr kumimoji="0" lang="th-TH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JasmineUPC" pitchFamily="18" charset="-34"/>
                <a:ea typeface="+mn-ea"/>
                <a:cs typeface="JasmineUPC" pitchFamily="18" charset="-34"/>
              </a:rPr>
              <a:t>- เสียงพยัญชนะจะแบ่งตามเสียงกลาง สูง ต่ำ (ให้แสดงแค่หน้าละไม่เกิน 4 ตัว เพื่อให้เด็กไม่รู้สึกเยอะเกินไป)</a:t>
            </a:r>
            <a:r>
              <a:rPr kumimoji="0" lang="th-TH" sz="2800" b="0" i="0" u="none" strike="noStrike" kern="1200" cap="none" spc="0" normalizeH="0" baseline="0" noProof="0" dirty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JasmineUPC" pitchFamily="18" charset="-34"/>
                <a:ea typeface="+mn-ea"/>
                <a:cs typeface="JasmineUPC" pitchFamily="18" charset="-34"/>
              </a:rPr>
              <a:t/>
            </a:r>
            <a:br>
              <a:rPr kumimoji="0" lang="th-TH" sz="2800" b="0" i="0" u="none" strike="noStrike" kern="1200" cap="none" spc="0" normalizeH="0" baseline="0" noProof="0" dirty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JasmineUPC" pitchFamily="18" charset="-34"/>
                <a:ea typeface="+mn-ea"/>
                <a:cs typeface="JasmineUPC" pitchFamily="18" charset="-34"/>
              </a:rPr>
            </a:br>
            <a:endParaRPr kumimoji="0" lang="th-TH" sz="2800" b="0" i="0" u="none" strike="noStrike" kern="1200" cap="none" spc="0" normalizeH="0" baseline="0" noProof="0" dirty="0">
              <a:ln>
                <a:noFill/>
              </a:ln>
              <a:solidFill>
                <a:srgbClr val="4BACC6">
                  <a:lumMod val="75000"/>
                </a:srgbClr>
              </a:solidFill>
              <a:effectLst/>
              <a:uLnTx/>
              <a:uFillTx/>
              <a:latin typeface="JasmineUPC" pitchFamily="18" charset="-34"/>
              <a:ea typeface="+mn-ea"/>
              <a:cs typeface="JasmineUPC" pitchFamily="18" charset="-34"/>
            </a:endParaRPr>
          </a:p>
        </p:txBody>
      </p:sp>
      <p:sp>
        <p:nvSpPr>
          <p:cNvPr id="14" name="สี่เหลี่ยมผืนผ้า 13"/>
          <p:cNvSpPr>
            <a:spLocks noChangeAspect="1"/>
          </p:cNvSpPr>
          <p:nvPr/>
        </p:nvSpPr>
        <p:spPr>
          <a:xfrm>
            <a:off x="1619672" y="4562127"/>
            <a:ext cx="504056" cy="31387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0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BACC6">
                    <a:lumMod val="50000"/>
                  </a:srgbClr>
                </a:solidFill>
                <a:effectLst/>
                <a:uLnTx/>
                <a:uFillTx/>
                <a:latin typeface="JasmineUPC" pitchFamily="18" charset="-34"/>
                <a:ea typeface="+mn-ea"/>
                <a:cs typeface="JasmineUPC" pitchFamily="18" charset="-34"/>
              </a:rPr>
              <a:t>MENU</a:t>
            </a:r>
            <a:endParaRPr kumimoji="0" lang="th-TH" sz="1800" b="1" i="0" u="none" strike="noStrike" kern="1200" cap="none" spc="0" normalizeH="0" baseline="0" noProof="0" dirty="0">
              <a:ln>
                <a:noFill/>
              </a:ln>
              <a:solidFill>
                <a:srgbClr val="4BACC6">
                  <a:lumMod val="50000"/>
                </a:srgbClr>
              </a:solidFill>
              <a:effectLst/>
              <a:uLnTx/>
              <a:uFillTx/>
              <a:latin typeface="JasmineUPC" pitchFamily="18" charset="-34"/>
              <a:ea typeface="+mn-ea"/>
              <a:cs typeface="JasmineUPC" pitchFamily="18" charset="-34"/>
            </a:endParaRPr>
          </a:p>
        </p:txBody>
      </p:sp>
      <p:sp>
        <p:nvSpPr>
          <p:cNvPr id="11" name="ลูกศรขวา 10"/>
          <p:cNvSpPr/>
          <p:nvPr/>
        </p:nvSpPr>
        <p:spPr>
          <a:xfrm>
            <a:off x="2411760" y="4562127"/>
            <a:ext cx="467829" cy="313879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6" name="AutoShape 2" descr="à¸à¸¥à¸à¸²à¸£à¸à¹à¸à¸«à¸²à¸£à¸¹à¸à¸ à¸²à¸à¸ªà¸³à¸«à¸£à¸±à¸ à¸à¸«à¸²à¸£"/>
          <p:cNvSpPr>
            <a:spLocks noChangeAspect="1" noChangeArrowheads="1"/>
          </p:cNvSpPr>
          <p:nvPr/>
        </p:nvSpPr>
        <p:spPr bwMode="auto">
          <a:xfrm>
            <a:off x="190500" y="-2127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ordia New" panose="020B0304020202020204" pitchFamily="34" charset="-34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1403648" y="3507854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53912" y="824237"/>
            <a:ext cx="253963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th-TH" sz="9600" dirty="0">
                <a:solidFill>
                  <a:srgbClr val="4F81BD">
                    <a:lumMod val="75000"/>
                  </a:srgbClr>
                </a:solidFill>
                <a:latin typeface="Angsana New" pitchFamily="18" charset="-34"/>
              </a:rPr>
              <a:t>บ </a:t>
            </a:r>
            <a:r>
              <a:rPr lang="th-TH" sz="9600" dirty="0" smtClean="0">
                <a:solidFill>
                  <a:srgbClr val="4F81BD">
                    <a:lumMod val="75000"/>
                  </a:srgbClr>
                </a:solidFill>
                <a:latin typeface="Angsana New" pitchFamily="18" charset="-34"/>
              </a:rPr>
              <a:t>  ป</a:t>
            </a:r>
            <a:r>
              <a:rPr lang="th-TH" sz="9600" dirty="0">
                <a:solidFill>
                  <a:srgbClr val="4F81BD">
                    <a:lumMod val="75000"/>
                  </a:srgbClr>
                </a:solidFill>
                <a:latin typeface="Angsana New" pitchFamily="18" charset="-34"/>
              </a:rPr>
              <a:t/>
            </a:r>
            <a:br>
              <a:rPr lang="th-TH" sz="9600" dirty="0">
                <a:solidFill>
                  <a:srgbClr val="4F81BD">
                    <a:lumMod val="75000"/>
                  </a:srgbClr>
                </a:solidFill>
                <a:latin typeface="Angsana New" pitchFamily="18" charset="-34"/>
              </a:rPr>
            </a:br>
            <a:r>
              <a:rPr lang="th-TH" sz="9600" dirty="0">
                <a:solidFill>
                  <a:srgbClr val="4F81BD">
                    <a:lumMod val="75000"/>
                  </a:srgbClr>
                </a:solidFill>
                <a:latin typeface="Angsana New" pitchFamily="18" charset="-34"/>
              </a:rPr>
              <a:t> </a:t>
            </a:r>
            <a:endParaRPr kumimoji="0" lang="th-TH" sz="9600" b="0" i="0" u="none" strike="noStrike" kern="1200" cap="none" spc="0" normalizeH="0" baseline="0" noProof="0" dirty="0">
              <a:ln>
                <a:noFill/>
              </a:ln>
              <a:solidFill>
                <a:srgbClr val="4F81BD">
                  <a:lumMod val="75000"/>
                </a:srgbClr>
              </a:solidFill>
              <a:effectLst/>
              <a:uLnTx/>
              <a:uFillTx/>
              <a:latin typeface="Angsana New" pitchFamily="18" charset="-34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24" name="สี่เหลี่ยมผืนผ้ามุมมน 7"/>
          <p:cNvSpPr/>
          <p:nvPr/>
        </p:nvSpPr>
        <p:spPr>
          <a:xfrm>
            <a:off x="2854994" y="60280"/>
            <a:ext cx="3384376" cy="504056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JasmineUPC" pitchFamily="18" charset="-34"/>
                <a:ea typeface="+mn-ea"/>
                <a:cs typeface="JasmineUPC" pitchFamily="18" charset="-34"/>
              </a:rPr>
              <a:t>หน้า3 “เสียงพยัญชนะ”</a:t>
            </a:r>
            <a:endParaRPr kumimoji="0" lang="th-TH" sz="2800" b="0" i="0" u="none" strike="noStrike" kern="1200" cap="none" spc="0" normalizeH="0" baseline="0" noProof="0" dirty="0">
              <a:ln>
                <a:noFill/>
              </a:ln>
              <a:solidFill>
                <a:srgbClr val="4F81BD">
                  <a:lumMod val="75000"/>
                </a:srgbClr>
              </a:solidFill>
              <a:effectLst/>
              <a:uLnTx/>
              <a:uFillTx/>
              <a:latin typeface="JasmineUPC" pitchFamily="18" charset="-34"/>
              <a:ea typeface="+mn-ea"/>
              <a:cs typeface="JasmineUPC" pitchFamily="18" charset="-34"/>
            </a:endParaRPr>
          </a:p>
        </p:txBody>
      </p:sp>
      <p:sp>
        <p:nvSpPr>
          <p:cNvPr id="26" name="ลูกศรขวา 11"/>
          <p:cNvSpPr/>
          <p:nvPr/>
        </p:nvSpPr>
        <p:spPr>
          <a:xfrm flipH="1">
            <a:off x="944792" y="4562127"/>
            <a:ext cx="467829" cy="313879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50565" y="2561466"/>
            <a:ext cx="253963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th-TH" sz="9600" dirty="0">
                <a:solidFill>
                  <a:srgbClr val="4F81BD">
                    <a:lumMod val="75000"/>
                  </a:srgbClr>
                </a:solidFill>
                <a:latin typeface="Angsana New" pitchFamily="18" charset="-34"/>
              </a:rPr>
              <a:t>อ</a:t>
            </a:r>
            <a:endParaRPr kumimoji="0" lang="th-TH" sz="9600" b="0" i="0" u="none" strike="noStrike" kern="1200" cap="none" spc="0" normalizeH="0" baseline="0" noProof="0" dirty="0">
              <a:ln>
                <a:noFill/>
              </a:ln>
              <a:solidFill>
                <a:srgbClr val="4F81BD">
                  <a:lumMod val="75000"/>
                </a:srgbClr>
              </a:solidFill>
              <a:effectLst/>
              <a:uLnTx/>
              <a:uFillTx/>
              <a:latin typeface="Angsana New" pitchFamily="18" charset="-34"/>
              <a:ea typeface="+mn-ea"/>
              <a:cs typeface="Cordia New" panose="020B03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911219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259632" y="712753"/>
            <a:ext cx="6912768" cy="38884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numCol="1">
            <a:noAutofit/>
          </a:bodyPr>
          <a:lstStyle/>
          <a:p>
            <a:pPr lvl="0"/>
            <a:r>
              <a:rPr lang="en-US" dirty="0" smtClean="0">
                <a:solidFill>
                  <a:srgbClr val="00B050"/>
                </a:solidFill>
                <a:latin typeface="JasmineUPC" pitchFamily="18" charset="-34"/>
                <a:cs typeface="JasmineUPC" pitchFamily="18" charset="-34"/>
              </a:rPr>
              <a:t>(3) </a:t>
            </a:r>
            <a:r>
              <a:rPr lang="th-TH" dirty="0" smtClean="0">
                <a:solidFill>
                  <a:srgbClr val="00B050"/>
                </a:solidFill>
                <a:latin typeface="JasmineUPC" pitchFamily="18" charset="-34"/>
                <a:cs typeface="JasmineUPC" pitchFamily="18" charset="-34"/>
              </a:rPr>
              <a:t>อักษร</a:t>
            </a:r>
            <a:r>
              <a:rPr lang="th-TH" dirty="0">
                <a:solidFill>
                  <a:srgbClr val="00B050"/>
                </a:solidFill>
                <a:latin typeface="JasmineUPC" pitchFamily="18" charset="-34"/>
                <a:cs typeface="JasmineUPC" pitchFamily="18" charset="-34"/>
              </a:rPr>
              <a:t>กลาง </a:t>
            </a:r>
            <a:r>
              <a:rPr lang="th-TH" dirty="0">
                <a:solidFill>
                  <a:srgbClr val="4BACC6">
                    <a:lumMod val="50000"/>
                  </a:srgbClr>
                </a:solidFill>
                <a:latin typeface="JasmineUPC" pitchFamily="18" charset="-34"/>
                <a:cs typeface="JasmineUPC" pitchFamily="18" charset="-34"/>
              </a:rPr>
              <a:t>มี 9 ตัว ได้แก่ (</a:t>
            </a:r>
            <a:r>
              <a:rPr lang="th-TH" dirty="0" smtClean="0">
                <a:solidFill>
                  <a:srgbClr val="00B050"/>
                </a:solidFill>
                <a:latin typeface="JasmineUPC" pitchFamily="18" charset="-34"/>
                <a:cs typeface="JasmineUPC" pitchFamily="18" charset="-34"/>
              </a:rPr>
              <a:t>ก</a:t>
            </a:r>
            <a:r>
              <a:rPr lang="en-US" dirty="0" smtClean="0">
                <a:solidFill>
                  <a:srgbClr val="00B050"/>
                </a:solidFill>
                <a:latin typeface="JasmineUPC" pitchFamily="18" charset="-34"/>
                <a:cs typeface="JasmineUPC" pitchFamily="18" charset="-34"/>
              </a:rPr>
              <a:t>1</a:t>
            </a:r>
            <a:r>
              <a:rPr lang="th-TH" dirty="0" smtClean="0">
                <a:solidFill>
                  <a:srgbClr val="00B050"/>
                </a:solidFill>
                <a:latin typeface="JasmineUPC" pitchFamily="18" charset="-34"/>
                <a:cs typeface="JasmineUPC" pitchFamily="18" charset="-34"/>
              </a:rPr>
              <a:t> จ</a:t>
            </a:r>
            <a:r>
              <a:rPr lang="en-US" dirty="0" smtClean="0">
                <a:solidFill>
                  <a:srgbClr val="00B050"/>
                </a:solidFill>
                <a:latin typeface="JasmineUPC" pitchFamily="18" charset="-34"/>
                <a:cs typeface="JasmineUPC" pitchFamily="18" charset="-34"/>
              </a:rPr>
              <a:t>8</a:t>
            </a:r>
            <a:r>
              <a:rPr lang="th-TH" dirty="0" smtClean="0">
                <a:solidFill>
                  <a:srgbClr val="00B050"/>
                </a:solidFill>
                <a:latin typeface="JasmineUPC" pitchFamily="18" charset="-34"/>
                <a:cs typeface="JasmineUPC" pitchFamily="18" charset="-34"/>
              </a:rPr>
              <a:t>) (ฎ</a:t>
            </a:r>
            <a:r>
              <a:rPr lang="en-US" dirty="0" smtClean="0">
                <a:solidFill>
                  <a:srgbClr val="00B050"/>
                </a:solidFill>
                <a:latin typeface="JasmineUPC" pitchFamily="18" charset="-34"/>
                <a:cs typeface="JasmineUPC" pitchFamily="18" charset="-34"/>
              </a:rPr>
              <a:t>14</a:t>
            </a:r>
            <a:r>
              <a:rPr lang="th-TH" dirty="0" smtClean="0">
                <a:solidFill>
                  <a:srgbClr val="00B050"/>
                </a:solidFill>
                <a:latin typeface="JasmineUPC" pitchFamily="18" charset="-34"/>
                <a:cs typeface="JasmineUPC" pitchFamily="18" charset="-34"/>
              </a:rPr>
              <a:t> ฏ</a:t>
            </a:r>
            <a:r>
              <a:rPr lang="en-US" dirty="0" smtClean="0">
                <a:solidFill>
                  <a:srgbClr val="00B050"/>
                </a:solidFill>
                <a:latin typeface="JasmineUPC" pitchFamily="18" charset="-34"/>
                <a:cs typeface="JasmineUPC" pitchFamily="18" charset="-34"/>
              </a:rPr>
              <a:t>15</a:t>
            </a:r>
            <a:r>
              <a:rPr lang="th-TH" dirty="0" smtClean="0">
                <a:solidFill>
                  <a:srgbClr val="00B050"/>
                </a:solidFill>
                <a:latin typeface="JasmineUPC" pitchFamily="18" charset="-34"/>
                <a:cs typeface="JasmineUPC" pitchFamily="18" charset="-34"/>
              </a:rPr>
              <a:t> ด</a:t>
            </a:r>
            <a:r>
              <a:rPr lang="en-US" dirty="0" smtClean="0">
                <a:solidFill>
                  <a:srgbClr val="00B050"/>
                </a:solidFill>
                <a:latin typeface="JasmineUPC" pitchFamily="18" charset="-34"/>
                <a:cs typeface="JasmineUPC" pitchFamily="18" charset="-34"/>
              </a:rPr>
              <a:t>20</a:t>
            </a:r>
            <a:r>
              <a:rPr lang="th-TH" dirty="0" smtClean="0">
                <a:solidFill>
                  <a:srgbClr val="00B050"/>
                </a:solidFill>
                <a:latin typeface="JasmineUPC" pitchFamily="18" charset="-34"/>
                <a:cs typeface="JasmineUPC" pitchFamily="18" charset="-34"/>
              </a:rPr>
              <a:t> ต</a:t>
            </a:r>
            <a:r>
              <a:rPr lang="en-US" dirty="0" smtClean="0">
                <a:solidFill>
                  <a:srgbClr val="00B050"/>
                </a:solidFill>
                <a:latin typeface="JasmineUPC" pitchFamily="18" charset="-34"/>
                <a:cs typeface="JasmineUPC" pitchFamily="18" charset="-34"/>
              </a:rPr>
              <a:t>21</a:t>
            </a:r>
            <a:r>
              <a:rPr lang="th-TH" dirty="0" smtClean="0">
                <a:solidFill>
                  <a:srgbClr val="00B050"/>
                </a:solidFill>
                <a:latin typeface="JasmineUPC" pitchFamily="18" charset="-34"/>
                <a:cs typeface="JasmineUPC" pitchFamily="18" charset="-34"/>
              </a:rPr>
              <a:t>) (บ</a:t>
            </a:r>
            <a:r>
              <a:rPr lang="en-US" dirty="0" smtClean="0">
                <a:solidFill>
                  <a:srgbClr val="00B050"/>
                </a:solidFill>
                <a:latin typeface="JasmineUPC" pitchFamily="18" charset="-34"/>
                <a:cs typeface="JasmineUPC" pitchFamily="18" charset="-34"/>
              </a:rPr>
              <a:t>26</a:t>
            </a:r>
            <a:r>
              <a:rPr lang="th-TH" dirty="0" smtClean="0">
                <a:solidFill>
                  <a:srgbClr val="00B050"/>
                </a:solidFill>
                <a:latin typeface="JasmineUPC" pitchFamily="18" charset="-34"/>
                <a:cs typeface="JasmineUPC" pitchFamily="18" charset="-34"/>
              </a:rPr>
              <a:t> ป</a:t>
            </a:r>
            <a:r>
              <a:rPr lang="en-US" dirty="0" smtClean="0">
                <a:solidFill>
                  <a:srgbClr val="00B050"/>
                </a:solidFill>
                <a:latin typeface="JasmineUPC" pitchFamily="18" charset="-34"/>
                <a:cs typeface="JasmineUPC" pitchFamily="18" charset="-34"/>
              </a:rPr>
              <a:t>27</a:t>
            </a:r>
            <a:r>
              <a:rPr lang="th-TH" dirty="0" smtClean="0">
                <a:solidFill>
                  <a:srgbClr val="00B050"/>
                </a:solidFill>
                <a:latin typeface="JasmineUPC" pitchFamily="18" charset="-34"/>
                <a:cs typeface="JasmineUPC" pitchFamily="18" charset="-34"/>
              </a:rPr>
              <a:t> อ</a:t>
            </a:r>
            <a:r>
              <a:rPr lang="en-US" dirty="0" smtClean="0">
                <a:solidFill>
                  <a:srgbClr val="00B050"/>
                </a:solidFill>
                <a:latin typeface="JasmineUPC" pitchFamily="18" charset="-34"/>
                <a:cs typeface="JasmineUPC" pitchFamily="18" charset="-34"/>
              </a:rPr>
              <a:t>43</a:t>
            </a:r>
            <a:r>
              <a:rPr lang="th-TH" dirty="0" smtClean="0">
                <a:solidFill>
                  <a:srgbClr val="00B050"/>
                </a:solidFill>
                <a:latin typeface="JasmineUPC" pitchFamily="18" charset="-34"/>
                <a:cs typeface="JasmineUPC" pitchFamily="18" charset="-34"/>
              </a:rPr>
              <a:t>)</a:t>
            </a:r>
            <a:r>
              <a:rPr lang="th-TH" dirty="0">
                <a:solidFill>
                  <a:srgbClr val="00B050"/>
                </a:solidFill>
                <a:latin typeface="JasmineUPC" pitchFamily="18" charset="-34"/>
                <a:cs typeface="JasmineUPC" pitchFamily="18" charset="-34"/>
              </a:rPr>
              <a:t/>
            </a:r>
            <a:br>
              <a:rPr lang="th-TH" dirty="0">
                <a:solidFill>
                  <a:srgbClr val="00B050"/>
                </a:solidFill>
                <a:latin typeface="JasmineUPC" pitchFamily="18" charset="-34"/>
                <a:cs typeface="JasmineUPC" pitchFamily="18" charset="-34"/>
              </a:rPr>
            </a:br>
            <a:r>
              <a:rPr lang="en-US" dirty="0" smtClean="0">
                <a:solidFill>
                  <a:srgbClr val="00B050"/>
                </a:solidFill>
                <a:latin typeface="JasmineUPC" pitchFamily="18" charset="-34"/>
                <a:cs typeface="JasmineUPC" pitchFamily="18" charset="-34"/>
              </a:rPr>
              <a:t>(5) </a:t>
            </a:r>
            <a:r>
              <a:rPr lang="th-TH" dirty="0" smtClean="0">
                <a:solidFill>
                  <a:schemeClr val="accent4">
                    <a:lumMod val="75000"/>
                  </a:schemeClr>
                </a:solidFill>
                <a:latin typeface="JasmineUPC" pitchFamily="18" charset="-34"/>
                <a:cs typeface="JasmineUPC" pitchFamily="18" charset="-34"/>
              </a:rPr>
              <a:t>อักษร</a:t>
            </a:r>
            <a:r>
              <a:rPr lang="th-TH" dirty="0">
                <a:solidFill>
                  <a:schemeClr val="accent4">
                    <a:lumMod val="75000"/>
                  </a:schemeClr>
                </a:solidFill>
                <a:latin typeface="JasmineUPC" pitchFamily="18" charset="-34"/>
                <a:cs typeface="JasmineUPC" pitchFamily="18" charset="-34"/>
              </a:rPr>
              <a:t>สูง </a:t>
            </a:r>
            <a:r>
              <a:rPr lang="th-TH" dirty="0">
                <a:solidFill>
                  <a:srgbClr val="4BACC6">
                    <a:lumMod val="50000"/>
                  </a:srgbClr>
                </a:solidFill>
                <a:latin typeface="JasmineUPC" pitchFamily="18" charset="-34"/>
                <a:cs typeface="JasmineUPC" pitchFamily="18" charset="-34"/>
              </a:rPr>
              <a:t>มี 11 ตัว ได้แก่ </a:t>
            </a:r>
            <a:r>
              <a:rPr lang="th-TH" dirty="0" smtClean="0">
                <a:solidFill>
                  <a:srgbClr val="4BACC6">
                    <a:lumMod val="50000"/>
                  </a:srgbClr>
                </a:solidFill>
                <a:latin typeface="JasmineUPC" pitchFamily="18" charset="-34"/>
                <a:cs typeface="JasmineUPC" pitchFamily="18" charset="-34"/>
              </a:rPr>
              <a:t>(</a:t>
            </a:r>
            <a:r>
              <a:rPr lang="th-TH" dirty="0" smtClean="0">
                <a:solidFill>
                  <a:schemeClr val="accent4">
                    <a:lumMod val="75000"/>
                  </a:schemeClr>
                </a:solidFill>
                <a:latin typeface="JasmineUPC" pitchFamily="18" charset="-34"/>
                <a:cs typeface="JasmineUPC" pitchFamily="18" charset="-34"/>
              </a:rPr>
              <a:t>ข</a:t>
            </a:r>
            <a:r>
              <a:rPr lang="en-US" dirty="0" smtClean="0">
                <a:solidFill>
                  <a:schemeClr val="accent4">
                    <a:lumMod val="75000"/>
                  </a:schemeClr>
                </a:solidFill>
                <a:latin typeface="JasmineUPC" pitchFamily="18" charset="-34"/>
                <a:cs typeface="JasmineUPC" pitchFamily="18" charset="-34"/>
              </a:rPr>
              <a:t>2</a:t>
            </a:r>
            <a:r>
              <a:rPr lang="th-TH" dirty="0" smtClean="0">
                <a:solidFill>
                  <a:schemeClr val="accent4">
                    <a:lumMod val="75000"/>
                  </a:schemeClr>
                </a:solidFill>
                <a:latin typeface="JasmineUPC" pitchFamily="18" charset="-34"/>
                <a:cs typeface="JasmineUPC" pitchFamily="18" charset="-34"/>
              </a:rPr>
              <a:t> ฃ</a:t>
            </a:r>
            <a:r>
              <a:rPr lang="en-US" dirty="0" smtClean="0">
                <a:solidFill>
                  <a:schemeClr val="accent4">
                    <a:lumMod val="75000"/>
                  </a:schemeClr>
                </a:solidFill>
                <a:latin typeface="JasmineUPC" pitchFamily="18" charset="-34"/>
                <a:cs typeface="JasmineUPC" pitchFamily="18" charset="-34"/>
              </a:rPr>
              <a:t>3</a:t>
            </a:r>
            <a:r>
              <a:rPr lang="th-TH" dirty="0" smtClean="0">
                <a:solidFill>
                  <a:schemeClr val="accent4">
                    <a:lumMod val="75000"/>
                  </a:schemeClr>
                </a:solidFill>
                <a:latin typeface="JasmineUPC" pitchFamily="18" charset="-34"/>
                <a:cs typeface="JasmineUPC" pitchFamily="18" charset="-34"/>
              </a:rPr>
              <a:t>) (ฐ</a:t>
            </a:r>
            <a:r>
              <a:rPr lang="en-US" dirty="0" smtClean="0">
                <a:solidFill>
                  <a:schemeClr val="accent4">
                    <a:lumMod val="75000"/>
                  </a:schemeClr>
                </a:solidFill>
                <a:latin typeface="JasmineUPC" pitchFamily="18" charset="-34"/>
                <a:cs typeface="JasmineUPC" pitchFamily="18" charset="-34"/>
              </a:rPr>
              <a:t>16</a:t>
            </a:r>
            <a:r>
              <a:rPr lang="th-TH" dirty="0" smtClean="0">
                <a:solidFill>
                  <a:schemeClr val="accent4">
                    <a:lumMod val="75000"/>
                  </a:schemeClr>
                </a:solidFill>
                <a:latin typeface="JasmineUPC" pitchFamily="18" charset="-34"/>
                <a:cs typeface="JasmineUPC" pitchFamily="18" charset="-34"/>
              </a:rPr>
              <a:t> ถ</a:t>
            </a:r>
            <a:r>
              <a:rPr lang="en-US" dirty="0" smtClean="0">
                <a:solidFill>
                  <a:schemeClr val="accent4">
                    <a:lumMod val="75000"/>
                  </a:schemeClr>
                </a:solidFill>
                <a:latin typeface="JasmineUPC" pitchFamily="18" charset="-34"/>
                <a:cs typeface="JasmineUPC" pitchFamily="18" charset="-34"/>
              </a:rPr>
              <a:t>22</a:t>
            </a:r>
            <a:r>
              <a:rPr lang="th-TH" dirty="0" smtClean="0">
                <a:solidFill>
                  <a:schemeClr val="accent4">
                    <a:lumMod val="75000"/>
                  </a:schemeClr>
                </a:solidFill>
                <a:latin typeface="JasmineUPC" pitchFamily="18" charset="-34"/>
                <a:cs typeface="JasmineUPC" pitchFamily="18" charset="-34"/>
              </a:rPr>
              <a:t>) (ผ</a:t>
            </a:r>
            <a:r>
              <a:rPr lang="en-US" dirty="0" smtClean="0">
                <a:solidFill>
                  <a:schemeClr val="accent4">
                    <a:lumMod val="75000"/>
                  </a:schemeClr>
                </a:solidFill>
                <a:latin typeface="JasmineUPC" pitchFamily="18" charset="-34"/>
                <a:cs typeface="JasmineUPC" pitchFamily="18" charset="-34"/>
              </a:rPr>
              <a:t>28</a:t>
            </a:r>
            <a:r>
              <a:rPr lang="th-TH" dirty="0" smtClean="0">
                <a:solidFill>
                  <a:schemeClr val="accent4">
                    <a:lumMod val="75000"/>
                  </a:schemeClr>
                </a:solidFill>
                <a:latin typeface="JasmineUPC" pitchFamily="18" charset="-34"/>
                <a:cs typeface="JasmineUPC" pitchFamily="18" charset="-34"/>
              </a:rPr>
              <a:t> ฝ</a:t>
            </a:r>
            <a:r>
              <a:rPr lang="en-US" dirty="0" smtClean="0">
                <a:solidFill>
                  <a:schemeClr val="accent4">
                    <a:lumMod val="75000"/>
                  </a:schemeClr>
                </a:solidFill>
                <a:latin typeface="JasmineUPC" pitchFamily="18" charset="-34"/>
                <a:cs typeface="JasmineUPC" pitchFamily="18" charset="-34"/>
              </a:rPr>
              <a:t>29</a:t>
            </a:r>
            <a:r>
              <a:rPr lang="th-TH" dirty="0" smtClean="0">
                <a:solidFill>
                  <a:schemeClr val="accent4">
                    <a:lumMod val="75000"/>
                  </a:schemeClr>
                </a:solidFill>
                <a:latin typeface="JasmineUPC" pitchFamily="18" charset="-34"/>
                <a:cs typeface="JasmineUPC" pitchFamily="18" charset="-34"/>
              </a:rPr>
              <a:t>) (ศ</a:t>
            </a:r>
            <a:r>
              <a:rPr lang="en-US" dirty="0" smtClean="0">
                <a:solidFill>
                  <a:schemeClr val="accent4">
                    <a:lumMod val="75000"/>
                  </a:schemeClr>
                </a:solidFill>
                <a:latin typeface="JasmineUPC" pitchFamily="18" charset="-34"/>
                <a:cs typeface="JasmineUPC" pitchFamily="18" charset="-34"/>
              </a:rPr>
              <a:t>38</a:t>
            </a:r>
            <a:r>
              <a:rPr lang="th-TH" dirty="0" smtClean="0">
                <a:solidFill>
                  <a:schemeClr val="accent4">
                    <a:lumMod val="75000"/>
                  </a:schemeClr>
                </a:solidFill>
                <a:latin typeface="JasmineUPC" pitchFamily="18" charset="-34"/>
                <a:cs typeface="JasmineUPC" pitchFamily="18" charset="-34"/>
              </a:rPr>
              <a:t> ษ</a:t>
            </a:r>
            <a:r>
              <a:rPr lang="en-US" dirty="0" smtClean="0">
                <a:solidFill>
                  <a:schemeClr val="accent4">
                    <a:lumMod val="75000"/>
                  </a:schemeClr>
                </a:solidFill>
                <a:latin typeface="JasmineUPC" pitchFamily="18" charset="-34"/>
                <a:cs typeface="JasmineUPC" pitchFamily="18" charset="-34"/>
              </a:rPr>
              <a:t>39</a:t>
            </a:r>
            <a:r>
              <a:rPr lang="th-TH" dirty="0" smtClean="0">
                <a:solidFill>
                  <a:schemeClr val="accent4">
                    <a:lumMod val="75000"/>
                  </a:schemeClr>
                </a:solidFill>
                <a:latin typeface="JasmineUPC" pitchFamily="18" charset="-34"/>
                <a:cs typeface="JasmineUPC" pitchFamily="18" charset="-34"/>
              </a:rPr>
              <a:t> ส</a:t>
            </a:r>
            <a:r>
              <a:rPr lang="en-US" dirty="0" smtClean="0">
                <a:solidFill>
                  <a:schemeClr val="accent4">
                    <a:lumMod val="75000"/>
                  </a:schemeClr>
                </a:solidFill>
                <a:latin typeface="JasmineUPC" pitchFamily="18" charset="-34"/>
                <a:cs typeface="JasmineUPC" pitchFamily="18" charset="-34"/>
              </a:rPr>
              <a:t>40</a:t>
            </a:r>
            <a:r>
              <a:rPr lang="th-TH" dirty="0" smtClean="0">
                <a:solidFill>
                  <a:schemeClr val="accent4">
                    <a:lumMod val="75000"/>
                  </a:schemeClr>
                </a:solidFill>
                <a:latin typeface="JasmineUPC" pitchFamily="18" charset="-34"/>
                <a:cs typeface="JasmineUPC" pitchFamily="18" charset="-34"/>
              </a:rPr>
              <a:t>) (ฉ</a:t>
            </a:r>
            <a:r>
              <a:rPr lang="en-US" dirty="0" smtClean="0">
                <a:solidFill>
                  <a:schemeClr val="accent4">
                    <a:lumMod val="75000"/>
                  </a:schemeClr>
                </a:solidFill>
                <a:latin typeface="JasmineUPC" pitchFamily="18" charset="-34"/>
                <a:cs typeface="JasmineUPC" pitchFamily="18" charset="-34"/>
              </a:rPr>
              <a:t>9</a:t>
            </a:r>
            <a:r>
              <a:rPr lang="th-TH" dirty="0" smtClean="0">
                <a:solidFill>
                  <a:schemeClr val="accent4">
                    <a:lumMod val="75000"/>
                  </a:schemeClr>
                </a:solidFill>
                <a:latin typeface="JasmineUPC" pitchFamily="18" charset="-34"/>
                <a:cs typeface="JasmineUPC" pitchFamily="18" charset="-34"/>
              </a:rPr>
              <a:t> ห</a:t>
            </a:r>
            <a:r>
              <a:rPr lang="en-US" dirty="0" smtClean="0">
                <a:solidFill>
                  <a:schemeClr val="accent4">
                    <a:lumMod val="75000"/>
                  </a:schemeClr>
                </a:solidFill>
                <a:latin typeface="JasmineUPC" pitchFamily="18" charset="-34"/>
                <a:cs typeface="JasmineUPC" pitchFamily="18" charset="-34"/>
              </a:rPr>
              <a:t>41</a:t>
            </a:r>
            <a:r>
              <a:rPr lang="th-TH" dirty="0" smtClean="0">
                <a:solidFill>
                  <a:schemeClr val="accent4">
                    <a:lumMod val="75000"/>
                  </a:schemeClr>
                </a:solidFill>
                <a:latin typeface="JasmineUPC" pitchFamily="18" charset="-34"/>
                <a:cs typeface="JasmineUPC" pitchFamily="18" charset="-34"/>
              </a:rPr>
              <a:t>)</a:t>
            </a:r>
            <a:r>
              <a:rPr lang="th-TH" dirty="0">
                <a:solidFill>
                  <a:schemeClr val="accent4">
                    <a:lumMod val="75000"/>
                  </a:schemeClr>
                </a:solidFill>
                <a:latin typeface="JasmineUPC" pitchFamily="18" charset="-34"/>
                <a:cs typeface="JasmineUPC" pitchFamily="18" charset="-34"/>
              </a:rPr>
              <a:t/>
            </a:r>
            <a:br>
              <a:rPr lang="th-TH" dirty="0">
                <a:solidFill>
                  <a:schemeClr val="accent4">
                    <a:lumMod val="75000"/>
                  </a:schemeClr>
                </a:solidFill>
                <a:latin typeface="JasmineUPC" pitchFamily="18" charset="-34"/>
                <a:cs typeface="JasmineUPC" pitchFamily="18" charset="-34"/>
              </a:rPr>
            </a:br>
            <a:r>
              <a:rPr lang="th-TH" dirty="0">
                <a:solidFill>
                  <a:srgbClr val="4BACC6">
                    <a:lumMod val="50000"/>
                  </a:srgbClr>
                </a:solidFill>
                <a:latin typeface="JasmineUPC" pitchFamily="18" charset="-34"/>
                <a:cs typeface="JasmineUPC" pitchFamily="18" charset="-34"/>
              </a:rPr>
              <a:t>อักษรต่ำ มี 24 ตัว </a:t>
            </a:r>
            <a:r>
              <a:rPr lang="th-TH" dirty="0" smtClean="0">
                <a:solidFill>
                  <a:srgbClr val="4BACC6">
                    <a:lumMod val="50000"/>
                  </a:srgbClr>
                </a:solidFill>
                <a:latin typeface="JasmineUPC" pitchFamily="18" charset="-34"/>
                <a:cs typeface="JasmineUPC" pitchFamily="18" charset="-34"/>
              </a:rPr>
              <a:t>สามารถ</a:t>
            </a:r>
            <a:r>
              <a:rPr lang="th-TH" dirty="0">
                <a:solidFill>
                  <a:srgbClr val="4BACC6">
                    <a:lumMod val="50000"/>
                  </a:srgbClr>
                </a:solidFill>
                <a:latin typeface="JasmineUPC" pitchFamily="18" charset="-34"/>
                <a:cs typeface="JasmineUPC" pitchFamily="18" charset="-34"/>
              </a:rPr>
              <a:t>แบ่งออกเป็น 2 </a:t>
            </a:r>
            <a:r>
              <a:rPr lang="th-TH" dirty="0" smtClean="0">
                <a:solidFill>
                  <a:srgbClr val="4BACC6">
                    <a:lumMod val="50000"/>
                  </a:srgbClr>
                </a:solidFill>
                <a:latin typeface="JasmineUPC" pitchFamily="18" charset="-34"/>
                <a:cs typeface="JasmineUPC" pitchFamily="18" charset="-34"/>
              </a:rPr>
              <a:t>ประเภท</a:t>
            </a:r>
          </a:p>
          <a:p>
            <a:pPr lvl="0"/>
            <a:r>
              <a:rPr lang="en-US" dirty="0" smtClean="0">
                <a:solidFill>
                  <a:schemeClr val="accent2"/>
                </a:solidFill>
                <a:latin typeface="JasmineUPC" pitchFamily="18" charset="-34"/>
                <a:cs typeface="JasmineUPC" pitchFamily="18" charset="-34"/>
              </a:rPr>
              <a:t>(4) </a:t>
            </a:r>
            <a:r>
              <a:rPr lang="th-TH" dirty="0" smtClean="0">
                <a:solidFill>
                  <a:schemeClr val="accent2"/>
                </a:solidFill>
                <a:latin typeface="JasmineUPC" pitchFamily="18" charset="-34"/>
                <a:cs typeface="JasmineUPC" pitchFamily="18" charset="-34"/>
              </a:rPr>
              <a:t>อักษรต่ำคู่ </a:t>
            </a:r>
            <a:r>
              <a:rPr lang="th-TH" dirty="0">
                <a:solidFill>
                  <a:srgbClr val="4BACC6">
                    <a:lumMod val="50000"/>
                  </a:srgbClr>
                </a:solidFill>
                <a:latin typeface="JasmineUPC" pitchFamily="18" charset="-34"/>
                <a:cs typeface="JasmineUPC" pitchFamily="18" charset="-34"/>
              </a:rPr>
              <a:t>ได้แก่ </a:t>
            </a:r>
            <a:r>
              <a:rPr lang="th-TH" dirty="0" smtClean="0">
                <a:solidFill>
                  <a:schemeClr val="accent2"/>
                </a:solidFill>
                <a:latin typeface="JasmineUPC" pitchFamily="18" charset="-34"/>
                <a:cs typeface="JasmineUPC" pitchFamily="18" charset="-34"/>
              </a:rPr>
              <a:t>(ค</a:t>
            </a:r>
            <a:r>
              <a:rPr lang="en-US" dirty="0" smtClean="0">
                <a:solidFill>
                  <a:schemeClr val="accent2"/>
                </a:solidFill>
                <a:latin typeface="JasmineUPC" pitchFamily="18" charset="-34"/>
                <a:cs typeface="JasmineUPC" pitchFamily="18" charset="-34"/>
              </a:rPr>
              <a:t>4</a:t>
            </a:r>
            <a:r>
              <a:rPr lang="th-TH" dirty="0" smtClean="0">
                <a:solidFill>
                  <a:schemeClr val="accent2"/>
                </a:solidFill>
                <a:latin typeface="JasmineUPC" pitchFamily="18" charset="-34"/>
                <a:cs typeface="JasmineUPC" pitchFamily="18" charset="-34"/>
              </a:rPr>
              <a:t> ฅ</a:t>
            </a:r>
            <a:r>
              <a:rPr lang="en-US" dirty="0" smtClean="0">
                <a:solidFill>
                  <a:schemeClr val="accent2"/>
                </a:solidFill>
                <a:latin typeface="JasmineUPC" pitchFamily="18" charset="-34"/>
                <a:cs typeface="JasmineUPC" pitchFamily="18" charset="-34"/>
              </a:rPr>
              <a:t>5</a:t>
            </a:r>
            <a:r>
              <a:rPr lang="th-TH" dirty="0" smtClean="0">
                <a:solidFill>
                  <a:schemeClr val="accent2"/>
                </a:solidFill>
                <a:latin typeface="JasmineUPC" pitchFamily="18" charset="-34"/>
                <a:cs typeface="JasmineUPC" pitchFamily="18" charset="-34"/>
              </a:rPr>
              <a:t> ฆ</a:t>
            </a:r>
            <a:r>
              <a:rPr lang="en-US" dirty="0" smtClean="0">
                <a:solidFill>
                  <a:schemeClr val="accent2"/>
                </a:solidFill>
                <a:latin typeface="JasmineUPC" pitchFamily="18" charset="-34"/>
                <a:cs typeface="JasmineUPC" pitchFamily="18" charset="-34"/>
              </a:rPr>
              <a:t>6</a:t>
            </a:r>
            <a:r>
              <a:rPr lang="th-TH" dirty="0" smtClean="0">
                <a:solidFill>
                  <a:schemeClr val="accent2"/>
                </a:solidFill>
                <a:latin typeface="JasmineUPC" pitchFamily="18" charset="-34"/>
                <a:cs typeface="JasmineUPC" pitchFamily="18" charset="-34"/>
              </a:rPr>
              <a:t>) (ช</a:t>
            </a:r>
            <a:r>
              <a:rPr lang="en-US" dirty="0" smtClean="0">
                <a:solidFill>
                  <a:schemeClr val="accent2"/>
                </a:solidFill>
                <a:latin typeface="JasmineUPC" pitchFamily="18" charset="-34"/>
                <a:cs typeface="JasmineUPC" pitchFamily="18" charset="-34"/>
              </a:rPr>
              <a:t>10</a:t>
            </a:r>
            <a:r>
              <a:rPr lang="th-TH" dirty="0" smtClean="0">
                <a:solidFill>
                  <a:schemeClr val="accent2"/>
                </a:solidFill>
                <a:latin typeface="JasmineUPC" pitchFamily="18" charset="-34"/>
                <a:cs typeface="JasmineUPC" pitchFamily="18" charset="-34"/>
              </a:rPr>
              <a:t> ซ</a:t>
            </a:r>
            <a:r>
              <a:rPr lang="en-US" dirty="0" smtClean="0">
                <a:solidFill>
                  <a:schemeClr val="accent2"/>
                </a:solidFill>
                <a:latin typeface="JasmineUPC" pitchFamily="18" charset="-34"/>
                <a:cs typeface="JasmineUPC" pitchFamily="18" charset="-34"/>
              </a:rPr>
              <a:t>11</a:t>
            </a:r>
            <a:r>
              <a:rPr lang="th-TH" dirty="0" smtClean="0">
                <a:solidFill>
                  <a:schemeClr val="accent2"/>
                </a:solidFill>
                <a:latin typeface="JasmineUPC" pitchFamily="18" charset="-34"/>
                <a:cs typeface="JasmineUPC" pitchFamily="18" charset="-34"/>
              </a:rPr>
              <a:t> ฌ</a:t>
            </a:r>
            <a:r>
              <a:rPr lang="en-US" dirty="0" smtClean="0">
                <a:solidFill>
                  <a:schemeClr val="accent2"/>
                </a:solidFill>
                <a:latin typeface="JasmineUPC" pitchFamily="18" charset="-34"/>
                <a:cs typeface="JasmineUPC" pitchFamily="18" charset="-34"/>
              </a:rPr>
              <a:t>12</a:t>
            </a:r>
            <a:r>
              <a:rPr lang="th-TH" dirty="0" smtClean="0">
                <a:solidFill>
                  <a:schemeClr val="accent2"/>
                </a:solidFill>
                <a:latin typeface="JasmineUPC" pitchFamily="18" charset="-34"/>
                <a:cs typeface="JasmineUPC" pitchFamily="18" charset="-34"/>
              </a:rPr>
              <a:t> ฮ</a:t>
            </a:r>
            <a:r>
              <a:rPr lang="en-US" dirty="0" smtClean="0">
                <a:solidFill>
                  <a:schemeClr val="accent2"/>
                </a:solidFill>
                <a:latin typeface="JasmineUPC" pitchFamily="18" charset="-34"/>
                <a:cs typeface="JasmineUPC" pitchFamily="18" charset="-34"/>
              </a:rPr>
              <a:t>44</a:t>
            </a:r>
            <a:r>
              <a:rPr lang="th-TH" dirty="0" smtClean="0">
                <a:solidFill>
                  <a:schemeClr val="accent2"/>
                </a:solidFill>
                <a:latin typeface="JasmineUPC" pitchFamily="18" charset="-34"/>
                <a:cs typeface="JasmineUPC" pitchFamily="18" charset="-34"/>
              </a:rPr>
              <a:t>) (ฑ</a:t>
            </a:r>
            <a:r>
              <a:rPr lang="en-US" dirty="0" smtClean="0">
                <a:solidFill>
                  <a:schemeClr val="accent2"/>
                </a:solidFill>
                <a:latin typeface="JasmineUPC" pitchFamily="18" charset="-34"/>
                <a:cs typeface="JasmineUPC" pitchFamily="18" charset="-34"/>
              </a:rPr>
              <a:t>17</a:t>
            </a:r>
            <a:r>
              <a:rPr lang="th-TH" dirty="0" smtClean="0">
                <a:solidFill>
                  <a:schemeClr val="accent2"/>
                </a:solidFill>
                <a:latin typeface="JasmineUPC" pitchFamily="18" charset="-34"/>
                <a:cs typeface="JasmineUPC" pitchFamily="18" charset="-34"/>
              </a:rPr>
              <a:t> ฒ</a:t>
            </a:r>
            <a:r>
              <a:rPr lang="en-US" dirty="0" smtClean="0">
                <a:solidFill>
                  <a:schemeClr val="accent2"/>
                </a:solidFill>
                <a:latin typeface="JasmineUPC" pitchFamily="18" charset="-34"/>
                <a:cs typeface="JasmineUPC" pitchFamily="18" charset="-34"/>
              </a:rPr>
              <a:t>18</a:t>
            </a:r>
            <a:r>
              <a:rPr lang="th-TH" dirty="0" smtClean="0">
                <a:solidFill>
                  <a:schemeClr val="accent2"/>
                </a:solidFill>
                <a:latin typeface="JasmineUPC" pitchFamily="18" charset="-34"/>
                <a:cs typeface="JasmineUPC" pitchFamily="18" charset="-34"/>
              </a:rPr>
              <a:t> ท</a:t>
            </a:r>
            <a:r>
              <a:rPr lang="en-US" dirty="0" smtClean="0">
                <a:solidFill>
                  <a:schemeClr val="accent2"/>
                </a:solidFill>
                <a:latin typeface="JasmineUPC" pitchFamily="18" charset="-34"/>
                <a:cs typeface="JasmineUPC" pitchFamily="18" charset="-34"/>
              </a:rPr>
              <a:t>23</a:t>
            </a:r>
            <a:r>
              <a:rPr lang="th-TH" dirty="0" smtClean="0">
                <a:solidFill>
                  <a:schemeClr val="accent2"/>
                </a:solidFill>
                <a:latin typeface="JasmineUPC" pitchFamily="18" charset="-34"/>
                <a:cs typeface="JasmineUPC" pitchFamily="18" charset="-34"/>
              </a:rPr>
              <a:t> ธ</a:t>
            </a:r>
            <a:r>
              <a:rPr lang="en-US" dirty="0" smtClean="0">
                <a:solidFill>
                  <a:schemeClr val="accent2"/>
                </a:solidFill>
                <a:latin typeface="JasmineUPC" pitchFamily="18" charset="-34"/>
                <a:cs typeface="JasmineUPC" pitchFamily="18" charset="-34"/>
              </a:rPr>
              <a:t>24</a:t>
            </a:r>
            <a:r>
              <a:rPr lang="th-TH" dirty="0" smtClean="0">
                <a:solidFill>
                  <a:schemeClr val="accent2"/>
                </a:solidFill>
                <a:latin typeface="JasmineUPC" pitchFamily="18" charset="-34"/>
                <a:cs typeface="JasmineUPC" pitchFamily="18" charset="-34"/>
              </a:rPr>
              <a:t>) (พ</a:t>
            </a:r>
            <a:r>
              <a:rPr lang="en-US" dirty="0" smtClean="0">
                <a:solidFill>
                  <a:schemeClr val="accent2"/>
                </a:solidFill>
                <a:latin typeface="JasmineUPC" pitchFamily="18" charset="-34"/>
                <a:cs typeface="JasmineUPC" pitchFamily="18" charset="-34"/>
              </a:rPr>
              <a:t>30</a:t>
            </a:r>
            <a:r>
              <a:rPr lang="th-TH" dirty="0" smtClean="0">
                <a:solidFill>
                  <a:schemeClr val="accent2"/>
                </a:solidFill>
                <a:latin typeface="JasmineUPC" pitchFamily="18" charset="-34"/>
                <a:cs typeface="JasmineUPC" pitchFamily="18" charset="-34"/>
              </a:rPr>
              <a:t> ฟ</a:t>
            </a:r>
            <a:r>
              <a:rPr lang="en-US" dirty="0" smtClean="0">
                <a:solidFill>
                  <a:schemeClr val="accent2"/>
                </a:solidFill>
                <a:latin typeface="JasmineUPC" pitchFamily="18" charset="-34"/>
                <a:cs typeface="JasmineUPC" pitchFamily="18" charset="-34"/>
              </a:rPr>
              <a:t>31</a:t>
            </a:r>
            <a:r>
              <a:rPr lang="th-TH" dirty="0" smtClean="0">
                <a:solidFill>
                  <a:schemeClr val="accent2"/>
                </a:solidFill>
                <a:latin typeface="JasmineUPC" pitchFamily="18" charset="-34"/>
                <a:cs typeface="JasmineUPC" pitchFamily="18" charset="-34"/>
              </a:rPr>
              <a:t> ภ</a:t>
            </a:r>
            <a:r>
              <a:rPr lang="en-US" dirty="0" smtClean="0">
                <a:solidFill>
                  <a:schemeClr val="accent2"/>
                </a:solidFill>
                <a:latin typeface="JasmineUPC" pitchFamily="18" charset="-34"/>
                <a:cs typeface="JasmineUPC" pitchFamily="18" charset="-34"/>
              </a:rPr>
              <a:t>32</a:t>
            </a:r>
            <a:r>
              <a:rPr lang="th-TH" dirty="0" smtClean="0">
                <a:solidFill>
                  <a:schemeClr val="accent2"/>
                </a:solidFill>
                <a:latin typeface="JasmineUPC" pitchFamily="18" charset="-34"/>
                <a:cs typeface="JasmineUPC" pitchFamily="18" charset="-34"/>
              </a:rPr>
              <a:t>)</a:t>
            </a:r>
            <a:br>
              <a:rPr lang="th-TH" dirty="0" smtClean="0">
                <a:solidFill>
                  <a:schemeClr val="accent2"/>
                </a:solidFill>
                <a:latin typeface="JasmineUPC" pitchFamily="18" charset="-34"/>
                <a:cs typeface="JasmineUPC" pitchFamily="18" charset="-34"/>
              </a:rPr>
            </a:br>
            <a:r>
              <a:rPr lang="en-US" dirty="0" smtClean="0">
                <a:solidFill>
                  <a:schemeClr val="accent6">
                    <a:lumMod val="75000"/>
                  </a:schemeClr>
                </a:solidFill>
                <a:latin typeface="JasmineUPC" pitchFamily="18" charset="-34"/>
                <a:cs typeface="JasmineUPC" pitchFamily="18" charset="-34"/>
              </a:rPr>
              <a:t>(3)</a:t>
            </a:r>
            <a:r>
              <a:rPr lang="th-TH" dirty="0" smtClean="0">
                <a:solidFill>
                  <a:schemeClr val="accent6">
                    <a:lumMod val="75000"/>
                  </a:schemeClr>
                </a:solidFill>
                <a:latin typeface="JasmineUPC" pitchFamily="18" charset="-34"/>
                <a:cs typeface="JasmineUPC" pitchFamily="18" charset="-34"/>
              </a:rPr>
              <a:t>อักษรต่ำเดี่ยว </a:t>
            </a:r>
            <a:r>
              <a:rPr lang="th-TH" dirty="0">
                <a:solidFill>
                  <a:srgbClr val="4BACC6">
                    <a:lumMod val="50000"/>
                  </a:srgbClr>
                </a:solidFill>
                <a:latin typeface="JasmineUPC" pitchFamily="18" charset="-34"/>
                <a:cs typeface="JasmineUPC" pitchFamily="18" charset="-34"/>
              </a:rPr>
              <a:t>ได้แก่ </a:t>
            </a:r>
            <a:r>
              <a:rPr lang="th-TH" dirty="0" smtClean="0">
                <a:solidFill>
                  <a:schemeClr val="accent6">
                    <a:lumMod val="75000"/>
                  </a:schemeClr>
                </a:solidFill>
                <a:latin typeface="JasmineUPC" pitchFamily="18" charset="-34"/>
                <a:cs typeface="JasmineUPC" pitchFamily="18" charset="-34"/>
              </a:rPr>
              <a:t>(ญ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  <a:latin typeface="JasmineUPC" pitchFamily="18" charset="-34"/>
                <a:cs typeface="JasmineUPC" pitchFamily="18" charset="-34"/>
              </a:rPr>
              <a:t>13</a:t>
            </a:r>
            <a:r>
              <a:rPr lang="th-TH" dirty="0" smtClean="0">
                <a:solidFill>
                  <a:schemeClr val="accent6">
                    <a:lumMod val="75000"/>
                  </a:schemeClr>
                </a:solidFill>
                <a:latin typeface="JasmineUPC" pitchFamily="18" charset="-34"/>
                <a:cs typeface="JasmineUPC" pitchFamily="18" charset="-34"/>
              </a:rPr>
              <a:t> ณ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  <a:latin typeface="JasmineUPC" pitchFamily="18" charset="-34"/>
                <a:cs typeface="JasmineUPC" pitchFamily="18" charset="-34"/>
              </a:rPr>
              <a:t>19</a:t>
            </a:r>
            <a:r>
              <a:rPr lang="th-TH" dirty="0" smtClean="0">
                <a:solidFill>
                  <a:schemeClr val="accent6">
                    <a:lumMod val="75000"/>
                  </a:schemeClr>
                </a:solidFill>
                <a:latin typeface="JasmineUPC" pitchFamily="18" charset="-34"/>
                <a:cs typeface="JasmineUPC" pitchFamily="18" charset="-34"/>
              </a:rPr>
              <a:t> ย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  <a:latin typeface="JasmineUPC" pitchFamily="18" charset="-34"/>
                <a:cs typeface="JasmineUPC" pitchFamily="18" charset="-34"/>
              </a:rPr>
              <a:t>34</a:t>
            </a:r>
            <a:r>
              <a:rPr lang="th-TH" dirty="0" smtClean="0">
                <a:solidFill>
                  <a:schemeClr val="accent6">
                    <a:lumMod val="75000"/>
                  </a:schemeClr>
                </a:solidFill>
                <a:latin typeface="JasmineUPC" pitchFamily="18" charset="-34"/>
                <a:cs typeface="JasmineUPC" pitchFamily="18" charset="-34"/>
              </a:rPr>
              <a:t> น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  <a:latin typeface="JasmineUPC" pitchFamily="18" charset="-34"/>
                <a:cs typeface="JasmineUPC" pitchFamily="18" charset="-34"/>
              </a:rPr>
              <a:t>25</a:t>
            </a:r>
            <a:r>
              <a:rPr lang="th-TH" dirty="0" smtClean="0">
                <a:solidFill>
                  <a:schemeClr val="accent6">
                    <a:lumMod val="75000"/>
                  </a:schemeClr>
                </a:solidFill>
                <a:latin typeface="JasmineUPC" pitchFamily="18" charset="-34"/>
                <a:cs typeface="JasmineUPC" pitchFamily="18" charset="-34"/>
              </a:rPr>
              <a:t>) (ร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  <a:latin typeface="JasmineUPC" pitchFamily="18" charset="-34"/>
                <a:cs typeface="JasmineUPC" pitchFamily="18" charset="-34"/>
              </a:rPr>
              <a:t>35</a:t>
            </a:r>
            <a:r>
              <a:rPr lang="th-TH" dirty="0" smtClean="0">
                <a:solidFill>
                  <a:schemeClr val="accent6">
                    <a:lumMod val="75000"/>
                  </a:schemeClr>
                </a:solidFill>
                <a:latin typeface="JasmineUPC" pitchFamily="18" charset="-34"/>
                <a:cs typeface="JasmineUPC" pitchFamily="18" charset="-34"/>
              </a:rPr>
              <a:t> ล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  <a:latin typeface="JasmineUPC" pitchFamily="18" charset="-34"/>
                <a:cs typeface="JasmineUPC" pitchFamily="18" charset="-34"/>
              </a:rPr>
              <a:t>36</a:t>
            </a:r>
            <a:r>
              <a:rPr lang="th-TH" dirty="0" smtClean="0">
                <a:solidFill>
                  <a:schemeClr val="accent6">
                    <a:lumMod val="75000"/>
                  </a:schemeClr>
                </a:solidFill>
                <a:latin typeface="JasmineUPC" pitchFamily="18" charset="-34"/>
                <a:cs typeface="JasmineUPC" pitchFamily="18" charset="-34"/>
              </a:rPr>
              <a:t> ฬ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  <a:latin typeface="JasmineUPC" pitchFamily="18" charset="-34"/>
                <a:cs typeface="JasmineUPC" pitchFamily="18" charset="-34"/>
              </a:rPr>
              <a:t>42</a:t>
            </a:r>
            <a:r>
              <a:rPr lang="th-TH" dirty="0" smtClean="0">
                <a:solidFill>
                  <a:schemeClr val="accent6">
                    <a:lumMod val="75000"/>
                  </a:schemeClr>
                </a:solidFill>
                <a:latin typeface="JasmineUPC" pitchFamily="18" charset="-34"/>
                <a:cs typeface="JasmineUPC" pitchFamily="18" charset="-34"/>
              </a:rPr>
              <a:t>) (ว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  <a:latin typeface="JasmineUPC" pitchFamily="18" charset="-34"/>
                <a:cs typeface="JasmineUPC" pitchFamily="18" charset="-34"/>
              </a:rPr>
              <a:t>37</a:t>
            </a:r>
            <a:r>
              <a:rPr lang="th-TH" dirty="0" smtClean="0">
                <a:solidFill>
                  <a:schemeClr val="accent6">
                    <a:lumMod val="75000"/>
                  </a:schemeClr>
                </a:solidFill>
                <a:latin typeface="JasmineUPC" pitchFamily="18" charset="-34"/>
                <a:cs typeface="JasmineUPC" pitchFamily="18" charset="-34"/>
              </a:rPr>
              <a:t> ม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  <a:latin typeface="JasmineUPC" pitchFamily="18" charset="-34"/>
                <a:cs typeface="JasmineUPC" pitchFamily="18" charset="-34"/>
              </a:rPr>
              <a:t>33</a:t>
            </a:r>
            <a:r>
              <a:rPr lang="th-TH" dirty="0" smtClean="0">
                <a:solidFill>
                  <a:schemeClr val="accent6">
                    <a:lumMod val="75000"/>
                  </a:schemeClr>
                </a:solidFill>
                <a:latin typeface="JasmineUPC" pitchFamily="18" charset="-34"/>
                <a:cs typeface="JasmineUPC" pitchFamily="18" charset="-34"/>
              </a:rPr>
              <a:t> ง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  <a:latin typeface="JasmineUPC" pitchFamily="18" charset="-34"/>
                <a:cs typeface="JasmineUPC" pitchFamily="18" charset="-34"/>
              </a:rPr>
              <a:t>7</a:t>
            </a:r>
            <a:r>
              <a:rPr lang="th-TH" dirty="0" smtClean="0">
                <a:solidFill>
                  <a:schemeClr val="accent6">
                    <a:lumMod val="75000"/>
                  </a:schemeClr>
                </a:solidFill>
                <a:latin typeface="JasmineUPC" pitchFamily="18" charset="-34"/>
                <a:cs typeface="JasmineUPC" pitchFamily="18" charset="-34"/>
              </a:rPr>
              <a:t>)</a:t>
            </a:r>
            <a:endParaRPr lang="th-TH" dirty="0">
              <a:solidFill>
                <a:schemeClr val="accent6">
                  <a:lumMod val="75000"/>
                </a:schemeClr>
              </a:solidFill>
              <a:latin typeface="JasmineUPC" pitchFamily="18" charset="-34"/>
              <a:cs typeface="JasmineUPC" pitchFamily="18" charset="-3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029477" y="267494"/>
            <a:ext cx="508504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h-TH" dirty="0" smtClean="0">
                <a:solidFill>
                  <a:srgbClr val="00B050"/>
                </a:solidFill>
                <a:latin typeface="JasmineUPC" panose="02020603050405020304" pitchFamily="18" charset="-34"/>
                <a:cs typeface="JasmineUPC" panose="02020603050405020304" pitchFamily="18" charset="-34"/>
              </a:rPr>
              <a:t>พยัญชนะแบ่งเป็น</a:t>
            </a:r>
            <a:r>
              <a:rPr lang="th-TH" dirty="0">
                <a:solidFill>
                  <a:srgbClr val="00B050"/>
                </a:solidFill>
                <a:latin typeface="JasmineUPC" panose="02020603050405020304" pitchFamily="18" charset="-34"/>
                <a:cs typeface="JasmineUPC" panose="02020603050405020304" pitchFamily="18" charset="-34"/>
              </a:rPr>
              <a:t>กลุ่มตามลักษณะการผันอักษร</a:t>
            </a:r>
          </a:p>
        </p:txBody>
      </p:sp>
      <p:sp>
        <p:nvSpPr>
          <p:cNvPr id="6" name="Rectangle 5"/>
          <p:cNvSpPr/>
          <p:nvPr/>
        </p:nvSpPr>
        <p:spPr>
          <a:xfrm>
            <a:off x="2843808" y="4523224"/>
            <a:ext cx="360868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h-TH" dirty="0" smtClean="0">
                <a:solidFill>
                  <a:srgbClr val="0070C0"/>
                </a:solidFill>
                <a:latin typeface="JasmineUPC" panose="02020603050405020304" pitchFamily="18" charset="-34"/>
                <a:cs typeface="JasmineUPC" panose="02020603050405020304" pitchFamily="18" charset="-34"/>
              </a:rPr>
              <a:t>*แบ่งหน้าให้ผู้เรียนตามที่วงเล็บไว้</a:t>
            </a:r>
            <a:endParaRPr lang="th-TH" dirty="0">
              <a:solidFill>
                <a:srgbClr val="0070C0"/>
              </a:solidFill>
              <a:latin typeface="JasmineUPC" panose="02020603050405020304" pitchFamily="18" charset="-34"/>
              <a:cs typeface="Jasmine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1860976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425692" y="88619"/>
            <a:ext cx="2292615" cy="52322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asmineUPC" pitchFamily="18" charset="-34"/>
                <a:ea typeface="+mn-ea"/>
                <a:cs typeface="JasmineUPC" pitchFamily="18" charset="-34"/>
              </a:rPr>
              <a:t>หน้า พยัญชนะไทย</a:t>
            </a:r>
          </a:p>
        </p:txBody>
      </p:sp>
      <p:sp>
        <p:nvSpPr>
          <p:cNvPr id="5" name="สี่เหลี่ยมผืนผ้า 4"/>
          <p:cNvSpPr/>
          <p:nvPr/>
        </p:nvSpPr>
        <p:spPr>
          <a:xfrm>
            <a:off x="3203848" y="611839"/>
            <a:ext cx="2808312" cy="43719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7" name="สี่เหลี่ยมผืนผ้ามุมมน 6"/>
          <p:cNvSpPr/>
          <p:nvPr/>
        </p:nvSpPr>
        <p:spPr>
          <a:xfrm>
            <a:off x="3555841" y="915566"/>
            <a:ext cx="2088232" cy="504056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JasmineUPC" pitchFamily="18" charset="-34"/>
                <a:ea typeface="+mn-ea"/>
                <a:cs typeface="JasmineUPC" pitchFamily="18" charset="-34"/>
              </a:rPr>
              <a:t>เรียนพยัญชนะ</a:t>
            </a:r>
            <a:r>
              <a:rPr kumimoji="0" lang="th-TH" sz="2400" b="0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JasmineUPC" pitchFamily="18" charset="-34"/>
                <a:ea typeface="+mn-ea"/>
                <a:cs typeface="JasmineUPC" pitchFamily="18" charset="-34"/>
              </a:rPr>
              <a:t>ไทย</a:t>
            </a:r>
          </a:p>
        </p:txBody>
      </p:sp>
      <p:sp>
        <p:nvSpPr>
          <p:cNvPr id="8" name="สี่เหลี่ยมผืนผ้ามุมมน 7"/>
          <p:cNvSpPr/>
          <p:nvPr/>
        </p:nvSpPr>
        <p:spPr>
          <a:xfrm>
            <a:off x="3555841" y="1635646"/>
            <a:ext cx="2088232" cy="504056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JasmineUPC" pitchFamily="18" charset="-34"/>
                <a:ea typeface="+mn-ea"/>
                <a:cs typeface="JasmineUPC" pitchFamily="18" charset="-34"/>
              </a:rPr>
              <a:t>แบบทดสอบ</a:t>
            </a:r>
            <a:r>
              <a:rPr kumimoji="0" lang="th-TH" sz="2000" b="0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JasmineUPC" pitchFamily="18" charset="-34"/>
                <a:ea typeface="+mn-ea"/>
                <a:cs typeface="JasmineUPC" pitchFamily="18" charset="-34"/>
              </a:rPr>
              <a:t>พยัญชนะไทย</a:t>
            </a:r>
          </a:p>
        </p:txBody>
      </p:sp>
      <p:sp>
        <p:nvSpPr>
          <p:cNvPr id="9" name="สี่เหลี่ยมผืนผ้ามุมมน 8"/>
          <p:cNvSpPr/>
          <p:nvPr/>
        </p:nvSpPr>
        <p:spPr>
          <a:xfrm>
            <a:off x="3563888" y="2394553"/>
            <a:ext cx="2088232" cy="504056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JasmineUPC" pitchFamily="18" charset="-34"/>
                <a:ea typeface="+mn-ea"/>
                <a:cs typeface="JasmineUPC" pitchFamily="18" charset="-34"/>
              </a:rPr>
              <a:t>เสียงพยัญชนะไทย</a:t>
            </a:r>
            <a:endParaRPr kumimoji="0" lang="th-TH" sz="2400" b="0" i="0" u="none" strike="noStrike" kern="1200" cap="none" spc="0" normalizeH="0" baseline="0" noProof="0" dirty="0">
              <a:ln>
                <a:noFill/>
              </a:ln>
              <a:solidFill>
                <a:srgbClr val="4F81BD">
                  <a:lumMod val="75000"/>
                </a:srgbClr>
              </a:solidFill>
              <a:effectLst/>
              <a:uLnTx/>
              <a:uFillTx/>
              <a:latin typeface="JasmineUPC" pitchFamily="18" charset="-34"/>
              <a:ea typeface="+mn-ea"/>
              <a:cs typeface="JasmineUPC" pitchFamily="18" charset="-34"/>
            </a:endParaRPr>
          </a:p>
        </p:txBody>
      </p:sp>
      <p:sp>
        <p:nvSpPr>
          <p:cNvPr id="12" name="สี่เหลี่ยมผืนผ้ามุมมน 11"/>
          <p:cNvSpPr/>
          <p:nvPr/>
        </p:nvSpPr>
        <p:spPr>
          <a:xfrm>
            <a:off x="3555841" y="3147814"/>
            <a:ext cx="2088232" cy="504056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JasmineUPC" pitchFamily="18" charset="-34"/>
                <a:ea typeface="+mn-ea"/>
                <a:cs typeface="JasmineUPC" pitchFamily="18" charset="-34"/>
              </a:rPr>
              <a:t>ฝึกแยกเสียงพยัญชนะ</a:t>
            </a:r>
            <a:endParaRPr kumimoji="0" lang="th-TH" sz="2000" b="0" i="0" u="none" strike="noStrike" kern="1200" cap="none" spc="0" normalizeH="0" baseline="0" noProof="0" dirty="0">
              <a:ln>
                <a:noFill/>
              </a:ln>
              <a:solidFill>
                <a:srgbClr val="4F81BD">
                  <a:lumMod val="75000"/>
                </a:srgbClr>
              </a:solidFill>
              <a:effectLst/>
              <a:uLnTx/>
              <a:uFillTx/>
              <a:latin typeface="JasmineUPC" pitchFamily="18" charset="-34"/>
              <a:ea typeface="+mn-ea"/>
              <a:cs typeface="JasmineUPC" pitchFamily="18" charset="-34"/>
            </a:endParaRPr>
          </a:p>
        </p:txBody>
      </p:sp>
      <p:sp>
        <p:nvSpPr>
          <p:cNvPr id="19" name="สี่เหลี่ยมผืนผ้า 18"/>
          <p:cNvSpPr>
            <a:spLocks noChangeAspect="1"/>
          </p:cNvSpPr>
          <p:nvPr/>
        </p:nvSpPr>
        <p:spPr>
          <a:xfrm>
            <a:off x="4307295" y="4562127"/>
            <a:ext cx="504056" cy="31387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0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4BACC6">
                    <a:lumMod val="50000"/>
                  </a:srgbClr>
                </a:solidFill>
                <a:effectLst/>
                <a:uLnTx/>
                <a:uFillTx/>
                <a:latin typeface="JasmineUPC" pitchFamily="18" charset="-34"/>
                <a:ea typeface="+mn-ea"/>
                <a:cs typeface="JasmineUPC" pitchFamily="18" charset="-34"/>
              </a:rPr>
              <a:t>MENU</a:t>
            </a:r>
            <a:endParaRPr kumimoji="0" lang="th-TH" sz="1800" b="1" i="0" u="none" strike="noStrike" kern="1200" cap="none" spc="0" normalizeH="0" baseline="0" noProof="0" dirty="0">
              <a:ln>
                <a:noFill/>
              </a:ln>
              <a:solidFill>
                <a:srgbClr val="4BACC6">
                  <a:lumMod val="50000"/>
                </a:srgbClr>
              </a:solidFill>
              <a:effectLst/>
              <a:uLnTx/>
              <a:uFillTx/>
              <a:latin typeface="JasmineUPC" pitchFamily="18" charset="-34"/>
              <a:ea typeface="+mn-ea"/>
              <a:cs typeface="JasmineUPC" pitchFamily="18" charset="-34"/>
            </a:endParaRPr>
          </a:p>
        </p:txBody>
      </p:sp>
      <p:sp>
        <p:nvSpPr>
          <p:cNvPr id="11" name="สี่เหลี่ยมผืนผ้ามุมมน 11"/>
          <p:cNvSpPr/>
          <p:nvPr/>
        </p:nvSpPr>
        <p:spPr>
          <a:xfrm>
            <a:off x="3555841" y="3813773"/>
            <a:ext cx="2088232" cy="504056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JasmineUPC" pitchFamily="18" charset="-34"/>
                <a:ea typeface="+mn-ea"/>
                <a:cs typeface="JasmineUPC" pitchFamily="18" charset="-34"/>
              </a:rPr>
              <a:t>ฝึกเขียนพยัญชนะ</a:t>
            </a:r>
            <a:endParaRPr kumimoji="0" lang="th-TH" sz="2800" b="0" i="0" u="none" strike="noStrike" kern="1200" cap="none" spc="0" normalizeH="0" baseline="0" noProof="0" dirty="0">
              <a:ln>
                <a:noFill/>
              </a:ln>
              <a:solidFill>
                <a:srgbClr val="4F81BD">
                  <a:lumMod val="75000"/>
                </a:srgbClr>
              </a:solidFill>
              <a:effectLst/>
              <a:uLnTx/>
              <a:uFillTx/>
              <a:latin typeface="JasmineUPC" pitchFamily="18" charset="-34"/>
              <a:ea typeface="+mn-ea"/>
              <a:cs typeface="JasmineUPC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166558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สี่เหลี่ยมผืนผ้า 4"/>
          <p:cNvSpPr/>
          <p:nvPr/>
        </p:nvSpPr>
        <p:spPr>
          <a:xfrm>
            <a:off x="516225" y="611839"/>
            <a:ext cx="2808312" cy="43719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10" name="สี่เหลี่ยมผืนผ้ามุมมน 9"/>
          <p:cNvSpPr/>
          <p:nvPr/>
        </p:nvSpPr>
        <p:spPr>
          <a:xfrm>
            <a:off x="3895248" y="1005527"/>
            <a:ext cx="4536504" cy="3708183"/>
          </a:xfrm>
          <a:prstGeom prst="roundRect">
            <a:avLst/>
          </a:prstGeom>
          <a:noFill/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JasmineUPC" pitchFamily="18" charset="-34"/>
                <a:ea typeface="+mn-ea"/>
                <a:cs typeface="JasmineUPC" pitchFamily="18" charset="-34"/>
              </a:rPr>
              <a:t>ฝึกแยกพยัญชนะที่คล้ายกัน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JasmineUPC" pitchFamily="18" charset="-34"/>
                <a:ea typeface="+mn-ea"/>
                <a:cs typeface="JasmineUPC" pitchFamily="18" charset="-34"/>
              </a:rPr>
              <a:t>- มีเสียงคำสั่ง “คลิกที่ ป.” ให้ผู้เรียนคลิกที่พยัญชนะให้ถูก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JasmineUPC" pitchFamily="18" charset="-34"/>
                <a:ea typeface="+mn-ea"/>
                <a:cs typeface="JasmineUPC" pitchFamily="18" charset="-34"/>
              </a:rPr>
              <a:t>-</a:t>
            </a:r>
            <a:r>
              <a:rPr kumimoji="0" lang="th-TH" sz="2800" b="0" i="0" u="none" strike="noStrike" kern="1200" cap="none" spc="0" normalizeH="0" noProof="0" dirty="0" smtClean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JasmineUPC" pitchFamily="18" charset="-34"/>
                <a:ea typeface="+mn-ea"/>
                <a:cs typeface="JasmineUPC" pitchFamily="18" charset="-34"/>
              </a:rPr>
              <a:t> เมื่อคลิกถูกมีเสียง </a:t>
            </a:r>
            <a:r>
              <a:rPr kumimoji="0" lang="th-TH" sz="2800" b="0" i="0" u="none" strike="noStrike" kern="1200" cap="none" spc="0" normalizeH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JasmineUPC" pitchFamily="18" charset="-34"/>
                <a:ea typeface="+mn-ea"/>
                <a:cs typeface="JasmineUPC" pitchFamily="18" charset="-34"/>
              </a:rPr>
              <a:t>“เก่งมากค่ะ” </a:t>
            </a:r>
            <a:r>
              <a:rPr kumimoji="0" lang="th-TH" sz="2800" b="0" i="0" u="none" strike="noStrike" kern="1200" cap="none" spc="0" normalizeH="0" noProof="0" dirty="0" smtClean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JasmineUPC" pitchFamily="18" charset="-34"/>
                <a:ea typeface="+mn-ea"/>
                <a:cs typeface="JasmineUPC" pitchFamily="18" charset="-34"/>
              </a:rPr>
              <a:t>ตอบผิด </a:t>
            </a:r>
            <a:r>
              <a:rPr kumimoji="0" lang="th-TH" sz="2800" b="0" i="0" u="none" strike="noStrike" kern="1200" cap="none" spc="0" normalizeH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JasmineUPC" pitchFamily="18" charset="-34"/>
                <a:ea typeface="+mn-ea"/>
                <a:cs typeface="JasmineUPC" pitchFamily="18" charset="-34"/>
              </a:rPr>
              <a:t>“ลองใหม่อีกครั้งค่ะ”</a:t>
            </a:r>
          </a:p>
          <a:p>
            <a:pPr lvl="0"/>
            <a:r>
              <a:rPr lang="th-TH" dirty="0">
                <a:solidFill>
                  <a:srgbClr val="F79646">
                    <a:lumMod val="50000"/>
                  </a:srgbClr>
                </a:solidFill>
                <a:latin typeface="JasmineUPC" pitchFamily="18" charset="-34"/>
                <a:cs typeface="JasmineUPC" pitchFamily="18" charset="-34"/>
              </a:rPr>
              <a:t>- ผู้เรียนจะคลิกไอคอนถัดไปเมื่อเลือกตอบไปแล้วเท่านั้น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2800" b="0" i="0" u="none" strike="noStrike" kern="1200" cap="none" spc="0" normalizeH="0" baseline="0" noProof="0" dirty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JasmineUPC" pitchFamily="18" charset="-34"/>
                <a:ea typeface="+mn-ea"/>
                <a:cs typeface="JasmineUPC" pitchFamily="18" charset="-34"/>
              </a:rPr>
              <a:t/>
            </a:r>
            <a:br>
              <a:rPr kumimoji="0" lang="th-TH" sz="2800" b="0" i="0" u="none" strike="noStrike" kern="1200" cap="none" spc="0" normalizeH="0" baseline="0" noProof="0" dirty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JasmineUPC" pitchFamily="18" charset="-34"/>
                <a:ea typeface="+mn-ea"/>
                <a:cs typeface="JasmineUPC" pitchFamily="18" charset="-34"/>
              </a:rPr>
            </a:br>
            <a:endParaRPr kumimoji="0" lang="th-TH" sz="2800" b="0" i="0" u="none" strike="noStrike" kern="1200" cap="none" spc="0" normalizeH="0" baseline="0" noProof="0" dirty="0">
              <a:ln>
                <a:noFill/>
              </a:ln>
              <a:solidFill>
                <a:srgbClr val="4BACC6">
                  <a:lumMod val="75000"/>
                </a:srgbClr>
              </a:solidFill>
              <a:effectLst/>
              <a:uLnTx/>
              <a:uFillTx/>
              <a:latin typeface="JasmineUPC" pitchFamily="18" charset="-34"/>
              <a:ea typeface="+mn-ea"/>
              <a:cs typeface="JasmineUPC" pitchFamily="18" charset="-34"/>
            </a:endParaRPr>
          </a:p>
        </p:txBody>
      </p:sp>
      <p:sp>
        <p:nvSpPr>
          <p:cNvPr id="14" name="สี่เหลี่ยมผืนผ้า 13"/>
          <p:cNvSpPr>
            <a:spLocks noChangeAspect="1"/>
          </p:cNvSpPr>
          <p:nvPr/>
        </p:nvSpPr>
        <p:spPr>
          <a:xfrm>
            <a:off x="1619672" y="4562127"/>
            <a:ext cx="504056" cy="31387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0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BACC6">
                    <a:lumMod val="50000"/>
                  </a:srgbClr>
                </a:solidFill>
                <a:effectLst/>
                <a:uLnTx/>
                <a:uFillTx/>
                <a:latin typeface="JasmineUPC" pitchFamily="18" charset="-34"/>
                <a:ea typeface="+mn-ea"/>
                <a:cs typeface="JasmineUPC" pitchFamily="18" charset="-34"/>
              </a:rPr>
              <a:t>MENU</a:t>
            </a:r>
            <a:endParaRPr kumimoji="0" lang="th-TH" sz="1800" b="1" i="0" u="none" strike="noStrike" kern="1200" cap="none" spc="0" normalizeH="0" baseline="0" noProof="0" dirty="0">
              <a:ln>
                <a:noFill/>
              </a:ln>
              <a:solidFill>
                <a:srgbClr val="4BACC6">
                  <a:lumMod val="50000"/>
                </a:srgbClr>
              </a:solidFill>
              <a:effectLst/>
              <a:uLnTx/>
              <a:uFillTx/>
              <a:latin typeface="JasmineUPC" pitchFamily="18" charset="-34"/>
              <a:ea typeface="+mn-ea"/>
              <a:cs typeface="JasmineUPC" pitchFamily="18" charset="-34"/>
            </a:endParaRPr>
          </a:p>
        </p:txBody>
      </p:sp>
      <p:sp>
        <p:nvSpPr>
          <p:cNvPr id="11" name="ลูกศรขวา 10"/>
          <p:cNvSpPr/>
          <p:nvPr/>
        </p:nvSpPr>
        <p:spPr>
          <a:xfrm>
            <a:off x="2411760" y="4562127"/>
            <a:ext cx="467829" cy="313879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6" name="AutoShape 2" descr="à¸à¸¥à¸à¸²à¸£à¸à¹à¸à¸«à¸²à¸£à¸¹à¸à¸ à¸²à¸à¸ªà¸³à¸«à¸£à¸±à¸ à¸à¸«à¸²à¸£"/>
          <p:cNvSpPr>
            <a:spLocks noChangeAspect="1" noChangeArrowheads="1"/>
          </p:cNvSpPr>
          <p:nvPr/>
        </p:nvSpPr>
        <p:spPr bwMode="auto">
          <a:xfrm>
            <a:off x="190500" y="-2127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ordia New" panose="020B0304020202020204" pitchFamily="34" charset="-34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1403648" y="3507854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64216" y="1463754"/>
            <a:ext cx="942455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13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Angsana New" pitchFamily="18" charset="-34"/>
                <a:ea typeface="+mn-ea"/>
                <a:cs typeface="Cordia New" panose="020B0304020202020204" pitchFamily="34" charset="-34"/>
              </a:rPr>
              <a:t>บ</a:t>
            </a:r>
            <a:endParaRPr kumimoji="0" lang="th-TH" sz="13800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Angsana New" pitchFamily="18" charset="-34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24" name="สี่เหลี่ยมผืนผ้ามุมมน 7"/>
          <p:cNvSpPr/>
          <p:nvPr/>
        </p:nvSpPr>
        <p:spPr>
          <a:xfrm>
            <a:off x="2591780" y="71015"/>
            <a:ext cx="3996444" cy="504056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kumimoji="0" lang="th-TH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JasmineUPC" pitchFamily="18" charset="-34"/>
                <a:ea typeface="+mn-ea"/>
                <a:cs typeface="JasmineUPC" pitchFamily="18" charset="-34"/>
              </a:rPr>
              <a:t>หน้า4 </a:t>
            </a:r>
            <a:r>
              <a:rPr lang="th-TH" dirty="0">
                <a:solidFill>
                  <a:srgbClr val="4F81BD">
                    <a:lumMod val="75000"/>
                  </a:srgbClr>
                </a:solidFill>
                <a:latin typeface="JasmineUPC" pitchFamily="18" charset="-34"/>
                <a:cs typeface="JasmineUPC" pitchFamily="18" charset="-34"/>
              </a:rPr>
              <a:t>“ฝึกแยกเสียง</a:t>
            </a:r>
            <a:r>
              <a:rPr lang="th-TH" dirty="0" smtClean="0">
                <a:solidFill>
                  <a:srgbClr val="4F81BD">
                    <a:lumMod val="75000"/>
                  </a:srgbClr>
                </a:solidFill>
                <a:latin typeface="JasmineUPC" pitchFamily="18" charset="-34"/>
                <a:cs typeface="JasmineUPC" pitchFamily="18" charset="-34"/>
              </a:rPr>
              <a:t>พยัญชนะ</a:t>
            </a:r>
            <a:r>
              <a:rPr kumimoji="0" lang="th-TH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JasmineUPC" pitchFamily="18" charset="-34"/>
                <a:ea typeface="+mn-ea"/>
                <a:cs typeface="JasmineUPC" pitchFamily="18" charset="-34"/>
              </a:rPr>
              <a:t>”</a:t>
            </a:r>
            <a:endParaRPr kumimoji="0" lang="th-TH" sz="2800" b="0" i="0" u="none" strike="noStrike" kern="1200" cap="none" spc="0" normalizeH="0" baseline="0" noProof="0" dirty="0">
              <a:ln>
                <a:noFill/>
              </a:ln>
              <a:solidFill>
                <a:srgbClr val="4F81BD">
                  <a:lumMod val="75000"/>
                </a:srgbClr>
              </a:solidFill>
              <a:effectLst/>
              <a:uLnTx/>
              <a:uFillTx/>
              <a:latin typeface="JasmineUPC" pitchFamily="18" charset="-34"/>
              <a:ea typeface="+mn-ea"/>
              <a:cs typeface="JasmineUPC" pitchFamily="18" charset="-3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956535" y="1463754"/>
            <a:ext cx="942455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13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Angsana New" pitchFamily="18" charset="-34"/>
                <a:ea typeface="+mn-ea"/>
                <a:cs typeface="Cordia New" panose="020B0304020202020204" pitchFamily="34" charset="-34"/>
              </a:rPr>
              <a:t>ป</a:t>
            </a:r>
            <a:endParaRPr kumimoji="0" lang="th-TH" sz="13800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Angsana New" pitchFamily="18" charset="-34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18" name="ปุ่มปฏิบัติการ: เสียง 2">
            <a:hlinkClick r:id="" action="ppaction://noaction" highlightClick="1">
              <a:snd r:embed="rId2" name="applause.wav"/>
            </a:hlinkClick>
          </p:cNvPr>
          <p:cNvSpPr/>
          <p:nvPr/>
        </p:nvSpPr>
        <p:spPr>
          <a:xfrm>
            <a:off x="1698031" y="1374759"/>
            <a:ext cx="360485" cy="360040"/>
          </a:xfrm>
          <a:prstGeom prst="actionButtonSound">
            <a:avLst/>
          </a:prstGeom>
          <a:solidFill>
            <a:schemeClr val="accent1">
              <a:lumMod val="20000"/>
              <a:lumOff val="80000"/>
              <a:alpha val="4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9" name="TextBox 18"/>
          <p:cNvSpPr txBox="1"/>
          <p:nvPr/>
        </p:nvSpPr>
        <p:spPr>
          <a:xfrm>
            <a:off x="709800" y="2725271"/>
            <a:ext cx="942455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13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Angsana New" pitchFamily="18" charset="-34"/>
                <a:ea typeface="+mn-ea"/>
                <a:cs typeface="Cordia New" panose="020B0304020202020204" pitchFamily="34" charset="-34"/>
              </a:rPr>
              <a:t>พ</a:t>
            </a:r>
            <a:endParaRPr kumimoji="0" lang="th-TH" sz="13800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Angsana New" pitchFamily="18" charset="-34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937856" y="2714367"/>
            <a:ext cx="942455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13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Angsana New" pitchFamily="18" charset="-34"/>
                <a:ea typeface="+mn-ea"/>
                <a:cs typeface="Cordia New" panose="020B0304020202020204" pitchFamily="34" charset="-34"/>
              </a:rPr>
              <a:t>ฟ</a:t>
            </a:r>
            <a:endParaRPr kumimoji="0" lang="th-TH" sz="13800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Angsana New" pitchFamily="18" charset="-34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7" name="Oval 6"/>
          <p:cNvSpPr/>
          <p:nvPr/>
        </p:nvSpPr>
        <p:spPr>
          <a:xfrm rot="1043716">
            <a:off x="1974698" y="1604023"/>
            <a:ext cx="1008112" cy="1512168"/>
          </a:xfrm>
          <a:prstGeom prst="ellipse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308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425692" y="88619"/>
            <a:ext cx="2292615" cy="52322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asmineUPC" pitchFamily="18" charset="-34"/>
                <a:ea typeface="+mn-ea"/>
                <a:cs typeface="JasmineUPC" pitchFamily="18" charset="-34"/>
              </a:rPr>
              <a:t>หน้า พยัญชนะไทย</a:t>
            </a:r>
          </a:p>
        </p:txBody>
      </p:sp>
      <p:sp>
        <p:nvSpPr>
          <p:cNvPr id="5" name="สี่เหลี่ยมผืนผ้า 4"/>
          <p:cNvSpPr/>
          <p:nvPr/>
        </p:nvSpPr>
        <p:spPr>
          <a:xfrm>
            <a:off x="3203848" y="611839"/>
            <a:ext cx="2808312" cy="43719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7" name="สี่เหลี่ยมผืนผ้ามุมมน 6"/>
          <p:cNvSpPr/>
          <p:nvPr/>
        </p:nvSpPr>
        <p:spPr>
          <a:xfrm>
            <a:off x="3555841" y="915566"/>
            <a:ext cx="2088232" cy="504056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JasmineUPC" pitchFamily="18" charset="-34"/>
                <a:ea typeface="+mn-ea"/>
                <a:cs typeface="JasmineUPC" pitchFamily="18" charset="-34"/>
              </a:rPr>
              <a:t>เรียนพยัญชนะ</a:t>
            </a:r>
            <a:r>
              <a:rPr kumimoji="0" lang="th-TH" sz="2400" b="0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JasmineUPC" pitchFamily="18" charset="-34"/>
                <a:ea typeface="+mn-ea"/>
                <a:cs typeface="JasmineUPC" pitchFamily="18" charset="-34"/>
              </a:rPr>
              <a:t>ไทย</a:t>
            </a:r>
          </a:p>
        </p:txBody>
      </p:sp>
      <p:sp>
        <p:nvSpPr>
          <p:cNvPr id="8" name="สี่เหลี่ยมผืนผ้ามุมมน 7"/>
          <p:cNvSpPr/>
          <p:nvPr/>
        </p:nvSpPr>
        <p:spPr>
          <a:xfrm>
            <a:off x="3555841" y="1635646"/>
            <a:ext cx="2088232" cy="504056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JasmineUPC" pitchFamily="18" charset="-34"/>
                <a:ea typeface="+mn-ea"/>
                <a:cs typeface="JasmineUPC" pitchFamily="18" charset="-34"/>
              </a:rPr>
              <a:t>แบบทดสอบ</a:t>
            </a:r>
            <a:r>
              <a:rPr kumimoji="0" lang="th-TH" sz="2000" b="0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JasmineUPC" pitchFamily="18" charset="-34"/>
                <a:ea typeface="+mn-ea"/>
                <a:cs typeface="JasmineUPC" pitchFamily="18" charset="-34"/>
              </a:rPr>
              <a:t>พยัญชนะไทย</a:t>
            </a:r>
          </a:p>
        </p:txBody>
      </p:sp>
      <p:sp>
        <p:nvSpPr>
          <p:cNvPr id="9" name="สี่เหลี่ยมผืนผ้ามุมมน 8"/>
          <p:cNvSpPr/>
          <p:nvPr/>
        </p:nvSpPr>
        <p:spPr>
          <a:xfrm>
            <a:off x="3563888" y="2394553"/>
            <a:ext cx="2088232" cy="504056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JasmineUPC" pitchFamily="18" charset="-34"/>
                <a:ea typeface="+mn-ea"/>
                <a:cs typeface="JasmineUPC" pitchFamily="18" charset="-34"/>
              </a:rPr>
              <a:t>เสียงพยัญชนะไทย</a:t>
            </a:r>
            <a:endParaRPr kumimoji="0" lang="th-TH" sz="2400" b="0" i="0" u="none" strike="noStrike" kern="1200" cap="none" spc="0" normalizeH="0" baseline="0" noProof="0" dirty="0">
              <a:ln>
                <a:noFill/>
              </a:ln>
              <a:solidFill>
                <a:srgbClr val="4F81BD">
                  <a:lumMod val="75000"/>
                </a:srgbClr>
              </a:solidFill>
              <a:effectLst/>
              <a:uLnTx/>
              <a:uFillTx/>
              <a:latin typeface="JasmineUPC" pitchFamily="18" charset="-34"/>
              <a:ea typeface="+mn-ea"/>
              <a:cs typeface="JasmineUPC" pitchFamily="18" charset="-34"/>
            </a:endParaRPr>
          </a:p>
        </p:txBody>
      </p:sp>
      <p:sp>
        <p:nvSpPr>
          <p:cNvPr id="12" name="สี่เหลี่ยมผืนผ้ามุมมน 11"/>
          <p:cNvSpPr/>
          <p:nvPr/>
        </p:nvSpPr>
        <p:spPr>
          <a:xfrm>
            <a:off x="3555841" y="3147814"/>
            <a:ext cx="2088232" cy="504056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JasmineUPC" pitchFamily="18" charset="-34"/>
                <a:ea typeface="+mn-ea"/>
                <a:cs typeface="JasmineUPC" pitchFamily="18" charset="-34"/>
              </a:rPr>
              <a:t>ฝึกแยกเสียงพยัญชนะ</a:t>
            </a:r>
            <a:endParaRPr kumimoji="0" lang="th-TH" sz="2000" b="0" i="0" u="none" strike="noStrike" kern="1200" cap="none" spc="0" normalizeH="0" baseline="0" noProof="0" dirty="0">
              <a:ln>
                <a:noFill/>
              </a:ln>
              <a:solidFill>
                <a:srgbClr val="4F81BD">
                  <a:lumMod val="75000"/>
                </a:srgbClr>
              </a:solidFill>
              <a:effectLst/>
              <a:uLnTx/>
              <a:uFillTx/>
              <a:latin typeface="JasmineUPC" pitchFamily="18" charset="-34"/>
              <a:ea typeface="+mn-ea"/>
              <a:cs typeface="JasmineUPC" pitchFamily="18" charset="-34"/>
            </a:endParaRPr>
          </a:p>
        </p:txBody>
      </p:sp>
      <p:sp>
        <p:nvSpPr>
          <p:cNvPr id="19" name="สี่เหลี่ยมผืนผ้า 18"/>
          <p:cNvSpPr>
            <a:spLocks noChangeAspect="1"/>
          </p:cNvSpPr>
          <p:nvPr/>
        </p:nvSpPr>
        <p:spPr>
          <a:xfrm>
            <a:off x="4307295" y="4562127"/>
            <a:ext cx="504056" cy="31387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0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4BACC6">
                    <a:lumMod val="50000"/>
                  </a:srgbClr>
                </a:solidFill>
                <a:effectLst/>
                <a:uLnTx/>
                <a:uFillTx/>
                <a:latin typeface="JasmineUPC" pitchFamily="18" charset="-34"/>
                <a:ea typeface="+mn-ea"/>
                <a:cs typeface="JasmineUPC" pitchFamily="18" charset="-34"/>
              </a:rPr>
              <a:t>MENU</a:t>
            </a:r>
            <a:endParaRPr kumimoji="0" lang="th-TH" sz="1800" b="1" i="0" u="none" strike="noStrike" kern="1200" cap="none" spc="0" normalizeH="0" baseline="0" noProof="0" dirty="0">
              <a:ln>
                <a:noFill/>
              </a:ln>
              <a:solidFill>
                <a:srgbClr val="4BACC6">
                  <a:lumMod val="50000"/>
                </a:srgbClr>
              </a:solidFill>
              <a:effectLst/>
              <a:uLnTx/>
              <a:uFillTx/>
              <a:latin typeface="JasmineUPC" pitchFamily="18" charset="-34"/>
              <a:ea typeface="+mn-ea"/>
              <a:cs typeface="JasmineUPC" pitchFamily="18" charset="-34"/>
            </a:endParaRPr>
          </a:p>
        </p:txBody>
      </p:sp>
      <p:sp>
        <p:nvSpPr>
          <p:cNvPr id="11" name="สี่เหลี่ยมผืนผ้ามุมมน 11"/>
          <p:cNvSpPr/>
          <p:nvPr/>
        </p:nvSpPr>
        <p:spPr>
          <a:xfrm>
            <a:off x="3555841" y="3813773"/>
            <a:ext cx="2088232" cy="504056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JasmineUPC" pitchFamily="18" charset="-34"/>
                <a:ea typeface="+mn-ea"/>
                <a:cs typeface="JasmineUPC" pitchFamily="18" charset="-34"/>
              </a:rPr>
              <a:t>ฝึกเขียนพยัญชนะ</a:t>
            </a:r>
            <a:endParaRPr kumimoji="0" lang="th-TH" sz="2800" b="0" i="0" u="none" strike="noStrike" kern="1200" cap="none" spc="0" normalizeH="0" baseline="0" noProof="0" dirty="0">
              <a:ln>
                <a:noFill/>
              </a:ln>
              <a:solidFill>
                <a:srgbClr val="4F81BD">
                  <a:lumMod val="75000"/>
                </a:srgbClr>
              </a:solidFill>
              <a:effectLst/>
              <a:uLnTx/>
              <a:uFillTx/>
              <a:latin typeface="JasmineUPC" pitchFamily="18" charset="-34"/>
              <a:ea typeface="+mn-ea"/>
              <a:cs typeface="JasmineUPC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864014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สี่เหลี่ยมผืนผ้า 4"/>
          <p:cNvSpPr/>
          <p:nvPr/>
        </p:nvSpPr>
        <p:spPr>
          <a:xfrm>
            <a:off x="516225" y="611839"/>
            <a:ext cx="2808312" cy="43719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10" name="สี่เหลี่ยมผืนผ้ามุมมน 9"/>
          <p:cNvSpPr/>
          <p:nvPr/>
        </p:nvSpPr>
        <p:spPr>
          <a:xfrm>
            <a:off x="3859523" y="1010883"/>
            <a:ext cx="4536504" cy="3708183"/>
          </a:xfrm>
          <a:prstGeom prst="roundRect">
            <a:avLst/>
          </a:prstGeom>
          <a:noFill/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JasmineUPC" pitchFamily="18" charset="-34"/>
                <a:ea typeface="+mn-ea"/>
                <a:cs typeface="JasmineUPC" pitchFamily="18" charset="-34"/>
              </a:rPr>
              <a:t>-มีเสียงบอกวิธีเล่นในครั้งแรก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th-TH" dirty="0" smtClean="0">
                <a:solidFill>
                  <a:srgbClr val="F79646">
                    <a:lumMod val="50000"/>
                  </a:srgbClr>
                </a:solidFill>
                <a:latin typeface="JasmineUPC" pitchFamily="18" charset="-34"/>
                <a:cs typeface="JasmineUPC" pitchFamily="18" charset="-34"/>
              </a:rPr>
              <a:t>-มีเส้นสีต่างกันลากเป็นตัวอย่างให้ผู้เรียนดู พร้อมเสียงอ่าน “ก” จากนั้นให้เส้นหายไป แล้วให้ผู้เรียนลากเอง</a:t>
            </a:r>
            <a:r>
              <a:rPr kumimoji="0" lang="th-TH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JasmineUPC" pitchFamily="18" charset="-34"/>
                <a:ea typeface="+mn-ea"/>
                <a:cs typeface="JasmineUPC" pitchFamily="18" charset="-34"/>
              </a:rPr>
              <a:t/>
            </a:r>
            <a:br>
              <a:rPr kumimoji="0" lang="th-TH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JasmineUPC" pitchFamily="18" charset="-34"/>
                <a:ea typeface="+mn-ea"/>
                <a:cs typeface="JasmineUPC" pitchFamily="18" charset="-34"/>
              </a:rPr>
            </a:br>
            <a:r>
              <a:rPr kumimoji="0" lang="th-TH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JasmineUPC" pitchFamily="18" charset="-34"/>
                <a:ea typeface="+mn-ea"/>
                <a:cs typeface="JasmineUPC" pitchFamily="18" charset="-34"/>
              </a:rPr>
              <a:t>- ผู้เรียนจะคลิกไอคอนถัดไปเมื่อลากจากจุดเริ่มต้นจนสุดแล้วเท่านั้น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th-TH" dirty="0" smtClean="0">
                <a:solidFill>
                  <a:srgbClr val="F79646">
                    <a:lumMod val="50000"/>
                  </a:srgbClr>
                </a:solidFill>
                <a:latin typeface="JasmineUPC" pitchFamily="18" charset="-34"/>
                <a:cs typeface="JasmineUPC" pitchFamily="18" charset="-34"/>
              </a:rPr>
              <a:t>- ให้ฝึกตั้งแต่ ก ถึง ฮ</a:t>
            </a:r>
            <a:endParaRPr kumimoji="0" lang="th-TH" sz="2800" b="0" i="0" u="none" strike="noStrike" kern="1200" cap="none" spc="0" normalizeH="0" baseline="0" noProof="0" dirty="0">
              <a:ln>
                <a:noFill/>
              </a:ln>
              <a:solidFill>
                <a:srgbClr val="F79646">
                  <a:lumMod val="50000"/>
                </a:srgbClr>
              </a:solidFill>
              <a:effectLst/>
              <a:uLnTx/>
              <a:uFillTx/>
              <a:latin typeface="JasmineUPC" pitchFamily="18" charset="-34"/>
              <a:ea typeface="+mn-ea"/>
              <a:cs typeface="JasmineUPC" pitchFamily="18" charset="-34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48788" y="870541"/>
            <a:ext cx="24048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th-TH" sz="2400" dirty="0" smtClean="0">
                <a:solidFill>
                  <a:srgbClr val="F79646">
                    <a:lumMod val="50000"/>
                  </a:srgbClr>
                </a:solidFill>
                <a:latin typeface="Angsana New" pitchFamily="18" charset="-34"/>
                <a:cs typeface="Cordia New" panose="020B0304020202020204" pitchFamily="34" charset="-34"/>
              </a:rPr>
              <a:t>ลากเส้นตามตัวอักษรที่เห็น</a:t>
            </a:r>
            <a:endParaRPr kumimoji="0" lang="th-TH" sz="2400" b="0" i="0" u="none" strike="noStrike" kern="1200" cap="none" spc="0" normalizeH="0" baseline="0" noProof="0" dirty="0">
              <a:ln>
                <a:noFill/>
              </a:ln>
              <a:solidFill>
                <a:srgbClr val="F79646">
                  <a:lumMod val="50000"/>
                </a:srgbClr>
              </a:solidFill>
              <a:effectLst/>
              <a:uLnTx/>
              <a:uFillTx/>
              <a:latin typeface="Angsana New" pitchFamily="18" charset="-34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14" name="สี่เหลี่ยมผืนผ้า 13"/>
          <p:cNvSpPr>
            <a:spLocks noChangeAspect="1"/>
          </p:cNvSpPr>
          <p:nvPr/>
        </p:nvSpPr>
        <p:spPr>
          <a:xfrm>
            <a:off x="1619672" y="4562127"/>
            <a:ext cx="504056" cy="31387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0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BACC6">
                    <a:lumMod val="50000"/>
                  </a:srgbClr>
                </a:solidFill>
                <a:effectLst/>
                <a:uLnTx/>
                <a:uFillTx/>
                <a:latin typeface="JasmineUPC" pitchFamily="18" charset="-34"/>
                <a:ea typeface="+mn-ea"/>
                <a:cs typeface="JasmineUPC" pitchFamily="18" charset="-34"/>
              </a:rPr>
              <a:t>MENU</a:t>
            </a:r>
            <a:endParaRPr kumimoji="0" lang="th-TH" sz="1800" b="1" i="0" u="none" strike="noStrike" kern="1200" cap="none" spc="0" normalizeH="0" baseline="0" noProof="0" dirty="0">
              <a:ln>
                <a:noFill/>
              </a:ln>
              <a:solidFill>
                <a:srgbClr val="4BACC6">
                  <a:lumMod val="50000"/>
                </a:srgbClr>
              </a:solidFill>
              <a:effectLst/>
              <a:uLnTx/>
              <a:uFillTx/>
              <a:latin typeface="JasmineUPC" pitchFamily="18" charset="-34"/>
              <a:ea typeface="+mn-ea"/>
              <a:cs typeface="JasmineUPC" pitchFamily="18" charset="-34"/>
            </a:endParaRPr>
          </a:p>
        </p:txBody>
      </p:sp>
      <p:sp>
        <p:nvSpPr>
          <p:cNvPr id="11" name="ลูกศรขวา 10"/>
          <p:cNvSpPr/>
          <p:nvPr/>
        </p:nvSpPr>
        <p:spPr>
          <a:xfrm>
            <a:off x="2411760" y="4562127"/>
            <a:ext cx="467829" cy="313879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6" name="AutoShape 2" descr="à¸à¸¥à¸à¸²à¸£à¸à¹à¸à¸«à¸²à¸£à¸¹à¸à¸ à¸²à¸à¸ªà¸³à¸«à¸£à¸±à¸ à¸à¸«à¸²à¸£"/>
          <p:cNvSpPr>
            <a:spLocks noChangeAspect="1" noChangeArrowheads="1"/>
          </p:cNvSpPr>
          <p:nvPr/>
        </p:nvSpPr>
        <p:spPr bwMode="auto">
          <a:xfrm>
            <a:off x="190500" y="-2127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30016" y="104769"/>
            <a:ext cx="1949573" cy="53860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34400" dirty="0" smtClean="0">
                <a:solidFill>
                  <a:schemeClr val="accent4">
                    <a:lumMod val="40000"/>
                    <a:lumOff val="60000"/>
                  </a:schemeClr>
                </a:solidFill>
                <a:latin typeface="Angsana New" pitchFamily="18" charset="-34"/>
              </a:rPr>
              <a:t>ก</a:t>
            </a:r>
            <a:endParaRPr lang="th-TH" sz="34400" dirty="0">
              <a:solidFill>
                <a:schemeClr val="accent4">
                  <a:lumMod val="40000"/>
                  <a:lumOff val="60000"/>
                </a:schemeClr>
              </a:solidFill>
              <a:latin typeface="Angsana New" pitchFamily="18" charset="-34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1403648" y="3507854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1403648" y="2571750"/>
            <a:ext cx="0" cy="90356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4" name="สี่เหลี่ยมผืนผ้ามุมมน 7"/>
          <p:cNvSpPr/>
          <p:nvPr/>
        </p:nvSpPr>
        <p:spPr>
          <a:xfrm>
            <a:off x="2591780" y="71015"/>
            <a:ext cx="3960440" cy="504056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 smtClean="0">
                <a:solidFill>
                  <a:schemeClr val="accent1">
                    <a:lumMod val="75000"/>
                  </a:schemeClr>
                </a:solidFill>
                <a:latin typeface="JasmineUPC" pitchFamily="18" charset="-34"/>
                <a:cs typeface="JasmineUPC" pitchFamily="18" charset="-34"/>
              </a:rPr>
              <a:t>หน้า5 </a:t>
            </a:r>
            <a:r>
              <a:rPr lang="th-TH" dirty="0">
                <a:solidFill>
                  <a:schemeClr val="accent1">
                    <a:lumMod val="75000"/>
                  </a:schemeClr>
                </a:solidFill>
                <a:latin typeface="JasmineUPC" pitchFamily="18" charset="-34"/>
                <a:cs typeface="JasmineUPC" pitchFamily="18" charset="-34"/>
              </a:rPr>
              <a:t>“ฝึกเขียน</a:t>
            </a:r>
            <a:r>
              <a:rPr lang="th-TH" dirty="0" smtClean="0">
                <a:solidFill>
                  <a:schemeClr val="accent1">
                    <a:lumMod val="75000"/>
                  </a:schemeClr>
                </a:solidFill>
                <a:latin typeface="JasmineUPC" pitchFamily="18" charset="-34"/>
                <a:cs typeface="JasmineUPC" pitchFamily="18" charset="-34"/>
              </a:rPr>
              <a:t>พยัญชนะ”</a:t>
            </a:r>
            <a:endParaRPr lang="th-TH" dirty="0">
              <a:solidFill>
                <a:schemeClr val="accent1">
                  <a:lumMod val="75000"/>
                </a:schemeClr>
              </a:solidFill>
              <a:latin typeface="JasmineUPC" pitchFamily="18" charset="-34"/>
              <a:cs typeface="JasmineUPC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684027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5816" y="-92546"/>
            <a:ext cx="3360901" cy="5397813"/>
          </a:xfrm>
        </p:spPr>
      </p:pic>
    </p:spTree>
    <p:extLst>
      <p:ext uri="{BB962C8B-B14F-4D97-AF65-F5344CB8AC3E}">
        <p14:creationId xmlns:p14="http://schemas.microsoft.com/office/powerpoint/2010/main" val="33533583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74721" y="88619"/>
            <a:ext cx="1194558" cy="52322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th-TH" b="1" dirty="0">
                <a:solidFill>
                  <a:prstClr val="black"/>
                </a:solidFill>
                <a:latin typeface="JasmineUPC" pitchFamily="18" charset="-34"/>
                <a:cs typeface="JasmineUPC" pitchFamily="18" charset="-34"/>
              </a:rPr>
              <a:t>หน้า </a:t>
            </a:r>
            <a:r>
              <a:rPr lang="th-TH" b="1" dirty="0" smtClean="0">
                <a:solidFill>
                  <a:prstClr val="black"/>
                </a:solidFill>
                <a:latin typeface="JasmineUPC" pitchFamily="18" charset="-34"/>
                <a:cs typeface="JasmineUPC" pitchFamily="18" charset="-34"/>
              </a:rPr>
              <a:t>สระ</a:t>
            </a:r>
            <a:endParaRPr lang="th-TH" b="1" dirty="0">
              <a:solidFill>
                <a:prstClr val="black"/>
              </a:solidFill>
              <a:latin typeface="JasmineUPC" pitchFamily="18" charset="-34"/>
              <a:cs typeface="JasmineUPC" pitchFamily="18" charset="-34"/>
            </a:endParaRPr>
          </a:p>
        </p:txBody>
      </p:sp>
      <p:sp>
        <p:nvSpPr>
          <p:cNvPr id="5" name="สี่เหลี่ยมผืนผ้า 4"/>
          <p:cNvSpPr/>
          <p:nvPr/>
        </p:nvSpPr>
        <p:spPr>
          <a:xfrm>
            <a:off x="516225" y="611839"/>
            <a:ext cx="2808312" cy="43719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>
              <a:solidFill>
                <a:prstClr val="white"/>
              </a:solidFill>
            </a:endParaRPr>
          </a:p>
        </p:txBody>
      </p:sp>
      <p:sp>
        <p:nvSpPr>
          <p:cNvPr id="7" name="สี่เหลี่ยมผืนผ้ามุมมน 6"/>
          <p:cNvSpPr/>
          <p:nvPr/>
        </p:nvSpPr>
        <p:spPr>
          <a:xfrm>
            <a:off x="868218" y="987574"/>
            <a:ext cx="2088232" cy="504056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dirty="0" smtClean="0">
                <a:solidFill>
                  <a:schemeClr val="accent1">
                    <a:lumMod val="75000"/>
                  </a:schemeClr>
                </a:solidFill>
                <a:latin typeface="JasmineUPC" pitchFamily="18" charset="-34"/>
                <a:cs typeface="JasmineUPC" pitchFamily="18" charset="-34"/>
              </a:rPr>
              <a:t>เสียงสระ</a:t>
            </a:r>
            <a:endParaRPr lang="th-TH" sz="2400" dirty="0">
              <a:solidFill>
                <a:schemeClr val="accent1">
                  <a:lumMod val="75000"/>
                </a:schemeClr>
              </a:solidFill>
              <a:latin typeface="JasmineUPC" pitchFamily="18" charset="-34"/>
              <a:cs typeface="JasmineUPC" pitchFamily="18" charset="-34"/>
            </a:endParaRPr>
          </a:p>
        </p:txBody>
      </p:sp>
      <p:sp>
        <p:nvSpPr>
          <p:cNvPr id="8" name="สี่เหลี่ยมผืนผ้ามุมมน 7"/>
          <p:cNvSpPr/>
          <p:nvPr/>
        </p:nvSpPr>
        <p:spPr>
          <a:xfrm>
            <a:off x="868218" y="1851670"/>
            <a:ext cx="2088232" cy="504056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accent1">
                    <a:lumMod val="75000"/>
                  </a:schemeClr>
                </a:solidFill>
                <a:latin typeface="JasmineUPC" pitchFamily="18" charset="-34"/>
                <a:cs typeface="JasmineUPC" pitchFamily="18" charset="-34"/>
              </a:rPr>
              <a:t>ฝึกแยก</a:t>
            </a:r>
            <a:r>
              <a:rPr lang="th-TH" sz="2000" dirty="0" smtClean="0">
                <a:solidFill>
                  <a:schemeClr val="accent1">
                    <a:lumMod val="75000"/>
                  </a:schemeClr>
                </a:solidFill>
                <a:latin typeface="JasmineUPC" pitchFamily="18" charset="-34"/>
                <a:cs typeface="JasmineUPC" pitchFamily="18" charset="-34"/>
              </a:rPr>
              <a:t>เสียงสระ</a:t>
            </a:r>
            <a:endParaRPr lang="th-TH" sz="2000" dirty="0">
              <a:solidFill>
                <a:schemeClr val="accent1">
                  <a:lumMod val="75000"/>
                </a:schemeClr>
              </a:solidFill>
              <a:latin typeface="JasmineUPC" pitchFamily="18" charset="-34"/>
              <a:cs typeface="JasmineUPC" pitchFamily="18" charset="-34"/>
            </a:endParaRPr>
          </a:p>
        </p:txBody>
      </p:sp>
      <p:sp>
        <p:nvSpPr>
          <p:cNvPr id="9" name="สี่เหลี่ยมผืนผ้ามุมมน 8"/>
          <p:cNvSpPr/>
          <p:nvPr/>
        </p:nvSpPr>
        <p:spPr>
          <a:xfrm>
            <a:off x="876265" y="2769277"/>
            <a:ext cx="2088232" cy="504056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 smtClean="0">
                <a:solidFill>
                  <a:schemeClr val="accent1">
                    <a:lumMod val="75000"/>
                  </a:schemeClr>
                </a:solidFill>
                <a:latin typeface="JasmineUPC" pitchFamily="18" charset="-34"/>
                <a:cs typeface="JasmineUPC" pitchFamily="18" charset="-34"/>
              </a:rPr>
              <a:t>คำที่ผสมด้วยสระต่างๆ</a:t>
            </a:r>
            <a:endParaRPr lang="th-TH" sz="2000" dirty="0">
              <a:solidFill>
                <a:schemeClr val="accent1">
                  <a:lumMod val="75000"/>
                </a:schemeClr>
              </a:solidFill>
              <a:latin typeface="JasmineUPC" pitchFamily="18" charset="-34"/>
              <a:cs typeface="JasmineUPC" pitchFamily="18" charset="-34"/>
            </a:endParaRPr>
          </a:p>
        </p:txBody>
      </p:sp>
      <p:sp>
        <p:nvSpPr>
          <p:cNvPr id="14" name="สี่เหลี่ยมผืนผ้ามุมมน 13"/>
          <p:cNvSpPr/>
          <p:nvPr/>
        </p:nvSpPr>
        <p:spPr>
          <a:xfrm>
            <a:off x="4139952" y="1134413"/>
            <a:ext cx="4536504" cy="3024336"/>
          </a:xfrm>
          <a:prstGeom prst="roundRect">
            <a:avLst/>
          </a:prstGeom>
          <a:noFill/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dirty="0">
                <a:solidFill>
                  <a:srgbClr val="F79646">
                    <a:lumMod val="50000"/>
                  </a:srgbClr>
                </a:solidFill>
                <a:latin typeface="JasmineUPC" pitchFamily="18" charset="-34"/>
                <a:cs typeface="JasmineUPC" pitchFamily="18" charset="-34"/>
              </a:rPr>
              <a:t>ผู้เรียนต้องเรียนตามลำดับความง่ายไปยาก</a:t>
            </a:r>
          </a:p>
          <a:p>
            <a:pPr algn="ctr"/>
            <a:r>
              <a:rPr lang="th-TH" sz="2400" dirty="0">
                <a:solidFill>
                  <a:srgbClr val="7030A0"/>
                </a:solidFill>
                <a:latin typeface="JasmineUPC" pitchFamily="18" charset="-34"/>
                <a:cs typeface="JasmineUPC" pitchFamily="18" charset="-34"/>
              </a:rPr>
              <a:t>1 </a:t>
            </a:r>
            <a:r>
              <a:rPr lang="en-US" sz="2400" dirty="0">
                <a:solidFill>
                  <a:srgbClr val="7030A0"/>
                </a:solidFill>
                <a:latin typeface="JasmineUPC" pitchFamily="18" charset="-34"/>
                <a:cs typeface="JasmineUPC" pitchFamily="18" charset="-34"/>
              </a:rPr>
              <a:t>-&gt; 2 -&gt; 3 -&gt; 4 -&gt; 5</a:t>
            </a:r>
          </a:p>
          <a:p>
            <a:pPr algn="ctr"/>
            <a:r>
              <a:rPr lang="th-TH" sz="2400" dirty="0">
                <a:solidFill>
                  <a:srgbClr val="F79646">
                    <a:lumMod val="50000"/>
                  </a:srgbClr>
                </a:solidFill>
                <a:latin typeface="JasmineUPC" pitchFamily="18" charset="-34"/>
                <a:cs typeface="JasmineUPC" pitchFamily="18" charset="-34"/>
              </a:rPr>
              <a:t>เรียนข้ามไม่ได้ แต่ย้อนกลับไปได้</a:t>
            </a:r>
            <a:br>
              <a:rPr lang="th-TH" sz="2400" dirty="0">
                <a:solidFill>
                  <a:srgbClr val="F79646">
                    <a:lumMod val="50000"/>
                  </a:srgbClr>
                </a:solidFill>
                <a:latin typeface="JasmineUPC" pitchFamily="18" charset="-34"/>
                <a:cs typeface="JasmineUPC" pitchFamily="18" charset="-34"/>
              </a:rPr>
            </a:br>
            <a:r>
              <a:rPr lang="th-TH" sz="2400" u="sng" dirty="0">
                <a:solidFill>
                  <a:srgbClr val="FF0000"/>
                </a:solidFill>
                <a:latin typeface="JasmineUPC" pitchFamily="18" charset="-34"/>
                <a:cs typeface="JasmineUPC" pitchFamily="18" charset="-34"/>
              </a:rPr>
              <a:t>ตัวอย่าง</a:t>
            </a:r>
            <a:r>
              <a:rPr lang="th-TH" sz="2400" dirty="0">
                <a:solidFill>
                  <a:srgbClr val="F79646">
                    <a:lumMod val="50000"/>
                  </a:srgbClr>
                </a:solidFill>
                <a:latin typeface="JasmineUPC" pitchFamily="18" charset="-34"/>
                <a:cs typeface="JasmineUPC" pitchFamily="18" charset="-34"/>
              </a:rPr>
              <a:t> ปัจจุบันเรียน</a:t>
            </a:r>
            <a:r>
              <a:rPr lang="th-TH" sz="2400" b="1" dirty="0">
                <a:solidFill>
                  <a:srgbClr val="00B050"/>
                </a:solidFill>
                <a:latin typeface="JasmineUPC" pitchFamily="18" charset="-34"/>
                <a:cs typeface="JasmineUPC" pitchFamily="18" charset="-34"/>
              </a:rPr>
              <a:t>บทที่3 </a:t>
            </a:r>
            <a:r>
              <a:rPr lang="th-TH" sz="2400" dirty="0">
                <a:solidFill>
                  <a:srgbClr val="F79646">
                    <a:lumMod val="50000"/>
                  </a:srgbClr>
                </a:solidFill>
                <a:latin typeface="JasmineUPC" pitchFamily="18" charset="-34"/>
                <a:cs typeface="JasmineUPC" pitchFamily="18" charset="-34"/>
              </a:rPr>
              <a:t>ข้ามไปเรียน 4 และ 5 </a:t>
            </a:r>
            <a:r>
              <a:rPr lang="th-TH" sz="2400" dirty="0">
                <a:solidFill>
                  <a:srgbClr val="FF0000"/>
                </a:solidFill>
                <a:latin typeface="JasmineUPC" pitchFamily="18" charset="-34"/>
                <a:cs typeface="JasmineUPC" pitchFamily="18" charset="-34"/>
              </a:rPr>
              <a:t>ไม่ได้</a:t>
            </a:r>
            <a:r>
              <a:rPr lang="th-TH" sz="2400" dirty="0">
                <a:solidFill>
                  <a:srgbClr val="F79646">
                    <a:lumMod val="50000"/>
                  </a:srgbClr>
                </a:solidFill>
                <a:latin typeface="JasmineUPC" pitchFamily="18" charset="-34"/>
                <a:cs typeface="JasmineUPC" pitchFamily="18" charset="-34"/>
              </a:rPr>
              <a:t> แต่ย้อนกลับไปเรียน 1 2 3 ได้</a:t>
            </a:r>
          </a:p>
        </p:txBody>
      </p:sp>
      <p:sp>
        <p:nvSpPr>
          <p:cNvPr id="19" name="สี่เหลี่ยมผืนผ้า 18"/>
          <p:cNvSpPr>
            <a:spLocks noChangeAspect="1"/>
          </p:cNvSpPr>
          <p:nvPr/>
        </p:nvSpPr>
        <p:spPr>
          <a:xfrm>
            <a:off x="1619672" y="4562127"/>
            <a:ext cx="504056" cy="31387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0000" lnSpcReduction="20000"/>
          </a:bodyPr>
          <a:lstStyle/>
          <a:p>
            <a:pPr algn="ctr"/>
            <a:r>
              <a:rPr lang="en-US" sz="1800" b="1" dirty="0" smtClean="0">
                <a:solidFill>
                  <a:schemeClr val="accent5">
                    <a:lumMod val="50000"/>
                  </a:schemeClr>
                </a:solidFill>
                <a:latin typeface="JasmineUPC" pitchFamily="18" charset="-34"/>
                <a:cs typeface="JasmineUPC" pitchFamily="18" charset="-34"/>
              </a:rPr>
              <a:t>MENU</a:t>
            </a:r>
            <a:endParaRPr lang="th-TH" sz="1800" b="1" dirty="0">
              <a:solidFill>
                <a:schemeClr val="accent5">
                  <a:lumMod val="50000"/>
                </a:schemeClr>
              </a:solidFill>
              <a:latin typeface="JasmineUPC" pitchFamily="18" charset="-34"/>
              <a:cs typeface="JasmineUPC" pitchFamily="18" charset="-34"/>
            </a:endParaRPr>
          </a:p>
        </p:txBody>
      </p:sp>
      <p:sp>
        <p:nvSpPr>
          <p:cNvPr id="11" name="สี่เหลี่ยมผืนผ้ามุมมน 11"/>
          <p:cNvSpPr/>
          <p:nvPr/>
        </p:nvSpPr>
        <p:spPr>
          <a:xfrm>
            <a:off x="879265" y="3651870"/>
            <a:ext cx="2088232" cy="504056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 smtClean="0">
                <a:solidFill>
                  <a:schemeClr val="accent1">
                    <a:lumMod val="75000"/>
                  </a:schemeClr>
                </a:solidFill>
                <a:latin typeface="JasmineUPC" pitchFamily="18" charset="-34"/>
                <a:cs typeface="JasmineUPC" pitchFamily="18" charset="-34"/>
              </a:rPr>
              <a:t>ฝึกเขียนสระ</a:t>
            </a:r>
            <a:endParaRPr lang="th-TH" dirty="0">
              <a:solidFill>
                <a:schemeClr val="accent1">
                  <a:lumMod val="75000"/>
                </a:schemeClr>
              </a:solidFill>
              <a:latin typeface="JasmineUPC" pitchFamily="18" charset="-34"/>
              <a:cs typeface="JasmineUPC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89156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800" y="-164554"/>
            <a:ext cx="3504917" cy="5629112"/>
          </a:xfrm>
        </p:spPr>
      </p:pic>
    </p:spTree>
    <p:extLst>
      <p:ext uri="{BB962C8B-B14F-4D97-AF65-F5344CB8AC3E}">
        <p14:creationId xmlns:p14="http://schemas.microsoft.com/office/powerpoint/2010/main" val="7838164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74721" y="88619"/>
            <a:ext cx="1726755" cy="52322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th-TH" b="1" dirty="0">
                <a:solidFill>
                  <a:prstClr val="black"/>
                </a:solidFill>
                <a:latin typeface="JasmineUPC" pitchFamily="18" charset="-34"/>
                <a:cs typeface="JasmineUPC" pitchFamily="18" charset="-34"/>
              </a:rPr>
              <a:t>หน้า </a:t>
            </a:r>
            <a:r>
              <a:rPr lang="th-TH" b="1" dirty="0" smtClean="0">
                <a:solidFill>
                  <a:prstClr val="black"/>
                </a:solidFill>
                <a:latin typeface="JasmineUPC" pitchFamily="18" charset="-34"/>
                <a:cs typeface="JasmineUPC" pitchFamily="18" charset="-34"/>
              </a:rPr>
              <a:t>ตัวสะกด</a:t>
            </a:r>
            <a:endParaRPr lang="th-TH" b="1" dirty="0">
              <a:solidFill>
                <a:prstClr val="black"/>
              </a:solidFill>
              <a:latin typeface="JasmineUPC" pitchFamily="18" charset="-34"/>
              <a:cs typeface="JasmineUPC" pitchFamily="18" charset="-34"/>
            </a:endParaRPr>
          </a:p>
        </p:txBody>
      </p:sp>
      <p:sp>
        <p:nvSpPr>
          <p:cNvPr id="5" name="สี่เหลี่ยมผืนผ้า 4"/>
          <p:cNvSpPr/>
          <p:nvPr/>
        </p:nvSpPr>
        <p:spPr>
          <a:xfrm>
            <a:off x="516225" y="611839"/>
            <a:ext cx="2808312" cy="43719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>
              <a:solidFill>
                <a:prstClr val="white"/>
              </a:solidFill>
            </a:endParaRPr>
          </a:p>
        </p:txBody>
      </p:sp>
      <p:sp>
        <p:nvSpPr>
          <p:cNvPr id="7" name="สี่เหลี่ยมผืนผ้ามุมมน 6"/>
          <p:cNvSpPr/>
          <p:nvPr/>
        </p:nvSpPr>
        <p:spPr>
          <a:xfrm>
            <a:off x="881636" y="1375771"/>
            <a:ext cx="2088232" cy="504056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dirty="0" smtClean="0">
                <a:solidFill>
                  <a:schemeClr val="accent1">
                    <a:lumMod val="75000"/>
                  </a:schemeClr>
                </a:solidFill>
                <a:latin typeface="JasmineUPC" pitchFamily="18" charset="-34"/>
                <a:cs typeface="JasmineUPC" pitchFamily="18" charset="-34"/>
              </a:rPr>
              <a:t>มาตราตัวสะกด</a:t>
            </a:r>
            <a:endParaRPr lang="th-TH" sz="2400" dirty="0">
              <a:solidFill>
                <a:schemeClr val="accent1">
                  <a:lumMod val="75000"/>
                </a:schemeClr>
              </a:solidFill>
              <a:latin typeface="JasmineUPC" pitchFamily="18" charset="-34"/>
              <a:cs typeface="JasmineUPC" pitchFamily="18" charset="-34"/>
            </a:endParaRPr>
          </a:p>
        </p:txBody>
      </p:sp>
      <p:sp>
        <p:nvSpPr>
          <p:cNvPr id="8" name="สี่เหลี่ยมผืนผ้ามุมมน 7"/>
          <p:cNvSpPr/>
          <p:nvPr/>
        </p:nvSpPr>
        <p:spPr>
          <a:xfrm>
            <a:off x="868218" y="2293758"/>
            <a:ext cx="2088232" cy="504056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accent1">
                    <a:lumMod val="75000"/>
                  </a:schemeClr>
                </a:solidFill>
                <a:latin typeface="JasmineUPC" pitchFamily="18" charset="-34"/>
                <a:cs typeface="JasmineUPC" pitchFamily="18" charset="-34"/>
              </a:rPr>
              <a:t>ฝึกแยก</a:t>
            </a:r>
            <a:r>
              <a:rPr lang="th-TH" sz="2000" dirty="0" smtClean="0">
                <a:solidFill>
                  <a:schemeClr val="accent1">
                    <a:lumMod val="75000"/>
                  </a:schemeClr>
                </a:solidFill>
                <a:latin typeface="JasmineUPC" pitchFamily="18" charset="-34"/>
                <a:cs typeface="JasmineUPC" pitchFamily="18" charset="-34"/>
              </a:rPr>
              <a:t>เสียงตัวสะกด</a:t>
            </a:r>
            <a:endParaRPr lang="th-TH" sz="2000" dirty="0">
              <a:solidFill>
                <a:schemeClr val="accent1">
                  <a:lumMod val="75000"/>
                </a:schemeClr>
              </a:solidFill>
              <a:latin typeface="JasmineUPC" pitchFamily="18" charset="-34"/>
              <a:cs typeface="JasmineUPC" pitchFamily="18" charset="-34"/>
            </a:endParaRPr>
          </a:p>
        </p:txBody>
      </p:sp>
      <p:sp>
        <p:nvSpPr>
          <p:cNvPr id="14" name="สี่เหลี่ยมผืนผ้ามุมมน 13"/>
          <p:cNvSpPr/>
          <p:nvPr/>
        </p:nvSpPr>
        <p:spPr>
          <a:xfrm>
            <a:off x="4139952" y="1134413"/>
            <a:ext cx="4536504" cy="3024336"/>
          </a:xfrm>
          <a:prstGeom prst="roundRect">
            <a:avLst/>
          </a:prstGeom>
          <a:noFill/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dirty="0">
                <a:solidFill>
                  <a:srgbClr val="F79646">
                    <a:lumMod val="50000"/>
                  </a:srgbClr>
                </a:solidFill>
                <a:latin typeface="JasmineUPC" pitchFamily="18" charset="-34"/>
                <a:cs typeface="JasmineUPC" pitchFamily="18" charset="-34"/>
              </a:rPr>
              <a:t>ผู้เรียนต้องเรียนตามลำดับความง่ายไปยาก</a:t>
            </a:r>
          </a:p>
          <a:p>
            <a:pPr algn="ctr"/>
            <a:r>
              <a:rPr lang="th-TH" sz="2400" dirty="0">
                <a:solidFill>
                  <a:srgbClr val="7030A0"/>
                </a:solidFill>
                <a:latin typeface="JasmineUPC" pitchFamily="18" charset="-34"/>
                <a:cs typeface="JasmineUPC" pitchFamily="18" charset="-34"/>
              </a:rPr>
              <a:t>1 </a:t>
            </a:r>
            <a:r>
              <a:rPr lang="en-US" sz="2400" dirty="0">
                <a:solidFill>
                  <a:srgbClr val="7030A0"/>
                </a:solidFill>
                <a:latin typeface="JasmineUPC" pitchFamily="18" charset="-34"/>
                <a:cs typeface="JasmineUPC" pitchFamily="18" charset="-34"/>
              </a:rPr>
              <a:t>-&gt; 2 -&gt; 3 -&gt; 4 -&gt; 5</a:t>
            </a:r>
          </a:p>
          <a:p>
            <a:pPr algn="ctr"/>
            <a:r>
              <a:rPr lang="th-TH" sz="2400" dirty="0">
                <a:solidFill>
                  <a:srgbClr val="F79646">
                    <a:lumMod val="50000"/>
                  </a:srgbClr>
                </a:solidFill>
                <a:latin typeface="JasmineUPC" pitchFamily="18" charset="-34"/>
                <a:cs typeface="JasmineUPC" pitchFamily="18" charset="-34"/>
              </a:rPr>
              <a:t>เรียนข้ามไม่ได้ แต่ย้อนกลับไปได้</a:t>
            </a:r>
            <a:br>
              <a:rPr lang="th-TH" sz="2400" dirty="0">
                <a:solidFill>
                  <a:srgbClr val="F79646">
                    <a:lumMod val="50000"/>
                  </a:srgbClr>
                </a:solidFill>
                <a:latin typeface="JasmineUPC" pitchFamily="18" charset="-34"/>
                <a:cs typeface="JasmineUPC" pitchFamily="18" charset="-34"/>
              </a:rPr>
            </a:br>
            <a:r>
              <a:rPr lang="th-TH" sz="2400" u="sng" dirty="0">
                <a:solidFill>
                  <a:srgbClr val="FF0000"/>
                </a:solidFill>
                <a:latin typeface="JasmineUPC" pitchFamily="18" charset="-34"/>
                <a:cs typeface="JasmineUPC" pitchFamily="18" charset="-34"/>
              </a:rPr>
              <a:t>ตัวอย่าง</a:t>
            </a:r>
            <a:r>
              <a:rPr lang="th-TH" sz="2400" dirty="0">
                <a:solidFill>
                  <a:srgbClr val="F79646">
                    <a:lumMod val="50000"/>
                  </a:srgbClr>
                </a:solidFill>
                <a:latin typeface="JasmineUPC" pitchFamily="18" charset="-34"/>
                <a:cs typeface="JasmineUPC" pitchFamily="18" charset="-34"/>
              </a:rPr>
              <a:t> ปัจจุบันเรียน</a:t>
            </a:r>
            <a:r>
              <a:rPr lang="th-TH" sz="2400" b="1" dirty="0">
                <a:solidFill>
                  <a:srgbClr val="00B050"/>
                </a:solidFill>
                <a:latin typeface="JasmineUPC" pitchFamily="18" charset="-34"/>
                <a:cs typeface="JasmineUPC" pitchFamily="18" charset="-34"/>
              </a:rPr>
              <a:t>บทที่3 </a:t>
            </a:r>
            <a:r>
              <a:rPr lang="th-TH" sz="2400" dirty="0">
                <a:solidFill>
                  <a:srgbClr val="F79646">
                    <a:lumMod val="50000"/>
                  </a:srgbClr>
                </a:solidFill>
                <a:latin typeface="JasmineUPC" pitchFamily="18" charset="-34"/>
                <a:cs typeface="JasmineUPC" pitchFamily="18" charset="-34"/>
              </a:rPr>
              <a:t>ข้ามไปเรียน 4 และ 5 </a:t>
            </a:r>
            <a:r>
              <a:rPr lang="th-TH" sz="2400" dirty="0">
                <a:solidFill>
                  <a:srgbClr val="FF0000"/>
                </a:solidFill>
                <a:latin typeface="JasmineUPC" pitchFamily="18" charset="-34"/>
                <a:cs typeface="JasmineUPC" pitchFamily="18" charset="-34"/>
              </a:rPr>
              <a:t>ไม่ได้</a:t>
            </a:r>
            <a:r>
              <a:rPr lang="th-TH" sz="2400" dirty="0">
                <a:solidFill>
                  <a:srgbClr val="F79646">
                    <a:lumMod val="50000"/>
                  </a:srgbClr>
                </a:solidFill>
                <a:latin typeface="JasmineUPC" pitchFamily="18" charset="-34"/>
                <a:cs typeface="JasmineUPC" pitchFamily="18" charset="-34"/>
              </a:rPr>
              <a:t> แต่ย้อนกลับไปเรียน 1 2 3 ได้</a:t>
            </a:r>
          </a:p>
        </p:txBody>
      </p:sp>
      <p:sp>
        <p:nvSpPr>
          <p:cNvPr id="19" name="สี่เหลี่ยมผืนผ้า 18"/>
          <p:cNvSpPr>
            <a:spLocks noChangeAspect="1"/>
          </p:cNvSpPr>
          <p:nvPr/>
        </p:nvSpPr>
        <p:spPr>
          <a:xfrm>
            <a:off x="1619672" y="4562127"/>
            <a:ext cx="504056" cy="31387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0000" lnSpcReduction="20000"/>
          </a:bodyPr>
          <a:lstStyle/>
          <a:p>
            <a:pPr algn="ctr"/>
            <a:r>
              <a:rPr lang="en-US" sz="1800" b="1" dirty="0" smtClean="0">
                <a:solidFill>
                  <a:schemeClr val="accent5">
                    <a:lumMod val="50000"/>
                  </a:schemeClr>
                </a:solidFill>
                <a:latin typeface="JasmineUPC" pitchFamily="18" charset="-34"/>
                <a:cs typeface="JasmineUPC" pitchFamily="18" charset="-34"/>
              </a:rPr>
              <a:t>MENU</a:t>
            </a:r>
            <a:endParaRPr lang="th-TH" sz="1800" b="1" dirty="0">
              <a:solidFill>
                <a:schemeClr val="accent5">
                  <a:lumMod val="50000"/>
                </a:schemeClr>
              </a:solidFill>
              <a:latin typeface="JasmineUPC" pitchFamily="18" charset="-34"/>
              <a:cs typeface="JasmineUPC" pitchFamily="18" charset="-34"/>
            </a:endParaRPr>
          </a:p>
        </p:txBody>
      </p:sp>
      <p:sp>
        <p:nvSpPr>
          <p:cNvPr id="11" name="สี่เหลี่ยมผืนผ้ามุมมน 11"/>
          <p:cNvSpPr/>
          <p:nvPr/>
        </p:nvSpPr>
        <p:spPr>
          <a:xfrm>
            <a:off x="903834" y="3211745"/>
            <a:ext cx="2088232" cy="504056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 smtClean="0">
                <a:solidFill>
                  <a:schemeClr val="accent1">
                    <a:lumMod val="75000"/>
                  </a:schemeClr>
                </a:solidFill>
                <a:latin typeface="JasmineUPC" pitchFamily="18" charset="-34"/>
                <a:cs typeface="JasmineUPC" pitchFamily="18" charset="-34"/>
              </a:rPr>
              <a:t>ฝึกเขียนคำ</a:t>
            </a:r>
            <a:endParaRPr lang="th-TH" dirty="0">
              <a:solidFill>
                <a:schemeClr val="accent1">
                  <a:lumMod val="75000"/>
                </a:schemeClr>
              </a:solidFill>
              <a:latin typeface="JasmineUPC" pitchFamily="18" charset="-34"/>
              <a:cs typeface="JasmineUPC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451635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สี่เหลี่ยมผืนผ้า 4"/>
          <p:cNvSpPr/>
          <p:nvPr/>
        </p:nvSpPr>
        <p:spPr>
          <a:xfrm>
            <a:off x="516225" y="611839"/>
            <a:ext cx="2808312" cy="43719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10" name="สี่เหลี่ยมผืนผ้ามุมมน 9"/>
          <p:cNvSpPr/>
          <p:nvPr/>
        </p:nvSpPr>
        <p:spPr>
          <a:xfrm>
            <a:off x="3493069" y="699542"/>
            <a:ext cx="5471419" cy="4284247"/>
          </a:xfrm>
          <a:prstGeom prst="roundRect">
            <a:avLst/>
          </a:prstGeom>
          <a:noFill/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r>
              <a:rPr lang="th-TH" b="1" dirty="0">
                <a:solidFill>
                  <a:srgbClr val="00B050"/>
                </a:solidFill>
                <a:latin typeface="JasmineUPC" pitchFamily="18" charset="-34"/>
                <a:cs typeface="JasmineUPC" pitchFamily="18" charset="-34"/>
              </a:rPr>
              <a:t>ส่วนที่ 4</a:t>
            </a:r>
            <a:r>
              <a:rPr lang="th-TH" b="1" dirty="0" smtClean="0">
                <a:solidFill>
                  <a:srgbClr val="00B050"/>
                </a:solidFill>
                <a:latin typeface="JasmineUPC" pitchFamily="18" charset="-34"/>
                <a:cs typeface="JasmineUPC" pitchFamily="18" charset="-34"/>
              </a:rPr>
              <a:t> ฝึก</a:t>
            </a:r>
            <a:r>
              <a:rPr lang="th-TH" b="1" dirty="0">
                <a:solidFill>
                  <a:srgbClr val="00B050"/>
                </a:solidFill>
                <a:latin typeface="JasmineUPC" pitchFamily="18" charset="-34"/>
                <a:cs typeface="JasmineUPC" pitchFamily="18" charset="-34"/>
              </a:rPr>
              <a:t>ความจำและแยกภาพฉากหลัง</a:t>
            </a:r>
            <a:r>
              <a:rPr kumimoji="0" lang="th-TH" sz="2800" b="0" i="0" u="none" strike="noStrike" kern="1200" cap="none" spc="0" normalizeH="0" baseline="0" noProof="0" dirty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JasmineUPC" pitchFamily="18" charset="-34"/>
                <a:ea typeface="+mn-ea"/>
                <a:cs typeface="JasmineUPC" pitchFamily="18" charset="-34"/>
              </a:rPr>
              <a:t/>
            </a:r>
            <a:br>
              <a:rPr kumimoji="0" lang="th-TH" sz="2800" b="0" i="0" u="none" strike="noStrike" kern="1200" cap="none" spc="0" normalizeH="0" baseline="0" noProof="0" dirty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JasmineUPC" pitchFamily="18" charset="-34"/>
                <a:ea typeface="+mn-ea"/>
                <a:cs typeface="JasmineUPC" pitchFamily="18" charset="-34"/>
              </a:rPr>
            </a:br>
            <a:r>
              <a:rPr lang="th-TH" dirty="0" smtClean="0">
                <a:solidFill>
                  <a:srgbClr val="F79646">
                    <a:lumMod val="50000"/>
                  </a:srgbClr>
                </a:solidFill>
                <a:latin typeface="JasmineUPC" pitchFamily="18" charset="-34"/>
                <a:cs typeface="JasmineUPC" pitchFamily="18" charset="-34"/>
              </a:rPr>
              <a:t>-</a:t>
            </a:r>
            <a:r>
              <a:rPr lang="th-TH" dirty="0">
                <a:solidFill>
                  <a:srgbClr val="F79646">
                    <a:lumMod val="50000"/>
                  </a:srgbClr>
                </a:solidFill>
                <a:latin typeface="JasmineUPC" pitchFamily="18" charset="-34"/>
                <a:cs typeface="JasmineUPC" pitchFamily="18" charset="-34"/>
              </a:rPr>
              <a:t>ให้</a:t>
            </a:r>
            <a:r>
              <a:rPr lang="th-TH" dirty="0" smtClean="0">
                <a:solidFill>
                  <a:srgbClr val="F79646">
                    <a:lumMod val="50000"/>
                  </a:srgbClr>
                </a:solidFill>
                <a:latin typeface="JasmineUPC" pitchFamily="18" charset="-34"/>
                <a:cs typeface="JasmineUPC" pitchFamily="18" charset="-34"/>
              </a:rPr>
              <a:t>ผู้เรียนหา </a:t>
            </a:r>
            <a:r>
              <a:rPr lang="th-TH" dirty="0">
                <a:solidFill>
                  <a:srgbClr val="F79646">
                    <a:lumMod val="50000"/>
                  </a:srgbClr>
                </a:solidFill>
                <a:latin typeface="JasmineUPC" pitchFamily="18" charset="-34"/>
                <a:cs typeface="JasmineUPC" pitchFamily="18" charset="-34"/>
              </a:rPr>
              <a:t>ก ที่ซ่อนอยู่ใน</a:t>
            </a:r>
            <a:r>
              <a:rPr lang="th-TH" dirty="0" smtClean="0">
                <a:solidFill>
                  <a:srgbClr val="F79646">
                    <a:lumMod val="50000"/>
                  </a:srgbClr>
                </a:solidFill>
                <a:latin typeface="JasmineUPC" pitchFamily="18" charset="-34"/>
                <a:cs typeface="JasmineUPC" pitchFamily="18" charset="-34"/>
              </a:rPr>
              <a:t>ภาพ(มีเสียงอ่านโจทย์)</a:t>
            </a:r>
          </a:p>
          <a:p>
            <a:pPr lvl="0"/>
            <a:r>
              <a:rPr kumimoji="0" lang="th-TH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JasmineUPC" pitchFamily="18" charset="-34"/>
                <a:ea typeface="+mn-ea"/>
                <a:cs typeface="JasmineUPC" pitchFamily="18" charset="-34"/>
              </a:rPr>
              <a:t>- ภาพ1 หาก.ไก่ จะมี พยัญชนะกซ่อนในภาพเพียงพยัญชนะเดียว</a:t>
            </a:r>
          </a:p>
          <a:p>
            <a:pPr lvl="0"/>
            <a:r>
              <a:rPr kumimoji="0" lang="th-TH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JasmineUPC" pitchFamily="18" charset="-34"/>
                <a:ea typeface="+mn-ea"/>
                <a:cs typeface="JasmineUPC" pitchFamily="18" charset="-34"/>
              </a:rPr>
              <a:t>- ภาพที่2</a:t>
            </a:r>
            <a:r>
              <a:rPr kumimoji="0" lang="th-TH" sz="2800" b="0" i="0" u="none" strike="noStrike" kern="1200" cap="none" spc="0" normalizeH="0" noProof="0" dirty="0" smtClean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JasmineUPC" pitchFamily="18" charset="-34"/>
                <a:ea typeface="+mn-ea"/>
                <a:cs typeface="JasmineUPC" pitchFamily="18" charset="-34"/>
              </a:rPr>
              <a:t> หา ข.ไข่ ให้มีพยัญชนะอื่นปนด้วย เพื่อเพื่อความยาก (แบบทดสอบ1ให้ผู้เรียนทำ2ภาพพอ เพื่อไม่ให้เบื่อ)</a:t>
            </a:r>
            <a:r>
              <a:rPr kumimoji="0" lang="th-TH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JasmineUPC" pitchFamily="18" charset="-34"/>
                <a:ea typeface="+mn-ea"/>
                <a:cs typeface="JasmineUPC" pitchFamily="18" charset="-34"/>
              </a:rPr>
              <a:t/>
            </a:r>
            <a:br>
              <a:rPr kumimoji="0" lang="th-TH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JasmineUPC" pitchFamily="18" charset="-34"/>
                <a:ea typeface="+mn-ea"/>
                <a:cs typeface="JasmineUPC" pitchFamily="18" charset="-34"/>
              </a:rPr>
            </a:br>
            <a:r>
              <a:rPr kumimoji="0" lang="th-TH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JasmineUPC" pitchFamily="18" charset="-34"/>
                <a:ea typeface="+mn-ea"/>
                <a:cs typeface="JasmineUPC" pitchFamily="18" charset="-34"/>
              </a:rPr>
              <a:t>- ผู้เรียนจะคลิกไอคอนถัดไปเมื่อเลือกตอบ</a:t>
            </a:r>
            <a:r>
              <a:rPr lang="th-TH" dirty="0" smtClean="0">
                <a:solidFill>
                  <a:srgbClr val="F79646">
                    <a:lumMod val="50000"/>
                  </a:srgbClr>
                </a:solidFill>
                <a:latin typeface="JasmineUPC" pitchFamily="18" charset="-34"/>
                <a:cs typeface="JasmineUPC" pitchFamily="18" charset="-34"/>
              </a:rPr>
              <a:t>ครบ</a:t>
            </a:r>
            <a:r>
              <a:rPr kumimoji="0" lang="th-TH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JasmineUPC" pitchFamily="18" charset="-34"/>
                <a:ea typeface="+mn-ea"/>
                <a:cs typeface="JasmineUPC" pitchFamily="18" charset="-34"/>
              </a:rPr>
              <a:t>แล้วเท่านั้น</a:t>
            </a:r>
            <a:endParaRPr kumimoji="0" lang="th-TH" sz="2800" b="0" i="0" u="none" strike="noStrike" kern="1200" cap="none" spc="0" normalizeH="0" baseline="0" noProof="0" dirty="0">
              <a:ln>
                <a:noFill/>
              </a:ln>
              <a:solidFill>
                <a:srgbClr val="F79646">
                  <a:lumMod val="50000"/>
                </a:srgbClr>
              </a:solidFill>
              <a:effectLst/>
              <a:uLnTx/>
              <a:uFillTx/>
              <a:latin typeface="JasmineUPC" pitchFamily="18" charset="-34"/>
              <a:ea typeface="+mn-ea"/>
              <a:cs typeface="JasmineUPC" pitchFamily="18" charset="-34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48788" y="870541"/>
            <a:ext cx="22236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th-TH" sz="2400" dirty="0" smtClean="0">
                <a:solidFill>
                  <a:schemeClr val="accent6">
                    <a:lumMod val="50000"/>
                  </a:schemeClr>
                </a:solidFill>
                <a:latin typeface="Angsana New" pitchFamily="18" charset="-34"/>
                <a:cs typeface="Cordia New" panose="020B0304020202020204" pitchFamily="34" charset="-34"/>
              </a:rPr>
              <a:t>ให้หา </a:t>
            </a:r>
            <a:r>
              <a:rPr lang="th-TH" sz="2400" b="1" dirty="0" smtClean="0">
                <a:solidFill>
                  <a:srgbClr val="0070C0"/>
                </a:solidFill>
                <a:latin typeface="Angsana New" pitchFamily="18" charset="-34"/>
                <a:cs typeface="Cordia New" panose="020B0304020202020204" pitchFamily="34" charset="-34"/>
              </a:rPr>
              <a:t>ก</a:t>
            </a:r>
            <a:r>
              <a:rPr lang="th-TH" sz="2400" dirty="0" smtClean="0">
                <a:solidFill>
                  <a:schemeClr val="accent6">
                    <a:lumMod val="50000"/>
                  </a:schemeClr>
                </a:solidFill>
                <a:latin typeface="Angsana New" pitchFamily="18" charset="-34"/>
                <a:cs typeface="Cordia New" panose="020B0304020202020204" pitchFamily="34" charset="-34"/>
              </a:rPr>
              <a:t> ที่ซ่อนอยู่ในภาพ</a:t>
            </a:r>
            <a:endParaRPr kumimoji="0" lang="th-TH" sz="2400" b="0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50000"/>
                </a:schemeClr>
              </a:solidFill>
              <a:effectLst/>
              <a:uLnTx/>
              <a:uFillTx/>
              <a:latin typeface="Angsana New" pitchFamily="18" charset="-34"/>
              <a:cs typeface="Cordia New" panose="020B0304020202020204" pitchFamily="34" charset="-34"/>
            </a:endParaRPr>
          </a:p>
        </p:txBody>
      </p:sp>
      <p:sp>
        <p:nvSpPr>
          <p:cNvPr id="14" name="สี่เหลี่ยมผืนผ้า 13"/>
          <p:cNvSpPr>
            <a:spLocks noChangeAspect="1"/>
          </p:cNvSpPr>
          <p:nvPr/>
        </p:nvSpPr>
        <p:spPr>
          <a:xfrm>
            <a:off x="1619672" y="4562127"/>
            <a:ext cx="504056" cy="31387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0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BACC6">
                    <a:lumMod val="50000"/>
                  </a:srgbClr>
                </a:solidFill>
                <a:effectLst/>
                <a:uLnTx/>
                <a:uFillTx/>
                <a:latin typeface="JasmineUPC" pitchFamily="18" charset="-34"/>
                <a:ea typeface="+mn-ea"/>
                <a:cs typeface="JasmineUPC" pitchFamily="18" charset="-34"/>
              </a:rPr>
              <a:t>MENU</a:t>
            </a:r>
            <a:endParaRPr kumimoji="0" lang="th-TH" sz="1800" b="1" i="0" u="none" strike="noStrike" kern="1200" cap="none" spc="0" normalizeH="0" baseline="0" noProof="0" dirty="0">
              <a:ln>
                <a:noFill/>
              </a:ln>
              <a:solidFill>
                <a:srgbClr val="4BACC6">
                  <a:lumMod val="50000"/>
                </a:srgbClr>
              </a:solidFill>
              <a:effectLst/>
              <a:uLnTx/>
              <a:uFillTx/>
              <a:latin typeface="JasmineUPC" pitchFamily="18" charset="-34"/>
              <a:ea typeface="+mn-ea"/>
              <a:cs typeface="JasmineUPC" pitchFamily="18" charset="-34"/>
            </a:endParaRPr>
          </a:p>
        </p:txBody>
      </p:sp>
      <p:sp>
        <p:nvSpPr>
          <p:cNvPr id="11" name="ลูกศรขวา 10"/>
          <p:cNvSpPr/>
          <p:nvPr/>
        </p:nvSpPr>
        <p:spPr>
          <a:xfrm>
            <a:off x="2411760" y="4562127"/>
            <a:ext cx="467829" cy="313879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6" name="AutoShape 2" descr="à¸à¸¥à¸à¸²à¸£à¸à¹à¸à¸«à¸²à¸£à¸¹à¸à¸ à¸²à¸à¸ªà¸³à¸«à¸£à¸±à¸ à¸à¸«à¸²à¸£"/>
          <p:cNvSpPr>
            <a:spLocks noChangeAspect="1" noChangeArrowheads="1"/>
          </p:cNvSpPr>
          <p:nvPr/>
        </p:nvSpPr>
        <p:spPr bwMode="auto">
          <a:xfrm>
            <a:off x="190500" y="-2127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ordia New" panose="020B0304020202020204" pitchFamily="34" charset="-34"/>
            </a:endParaRPr>
          </a:p>
        </p:txBody>
      </p:sp>
      <p:pic>
        <p:nvPicPr>
          <p:cNvPr id="7" name="Picture 2" descr="Image result for à¸à¸²à¸£à¹à¸à¸¹à¸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62" y="1580674"/>
            <a:ext cx="2466975" cy="2364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1595964" y="1472891"/>
            <a:ext cx="3289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dirty="0" smtClean="0">
                <a:solidFill>
                  <a:schemeClr val="tx2">
                    <a:lumMod val="40000"/>
                    <a:lumOff val="60000"/>
                  </a:schemeClr>
                </a:solidFill>
              </a:rPr>
              <a:t>ก</a:t>
            </a:r>
            <a:endParaRPr lang="en-US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 rot="688647">
            <a:off x="2876101" y="1648467"/>
            <a:ext cx="3289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ก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 rot="20275266">
            <a:off x="754850" y="1703875"/>
            <a:ext cx="3289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dirty="0" smtClean="0">
                <a:solidFill>
                  <a:schemeClr val="accent2">
                    <a:lumMod val="75000"/>
                  </a:schemeClr>
                </a:solidFill>
              </a:rPr>
              <a:t>ก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 rot="20760895">
            <a:off x="1243994" y="2501285"/>
            <a:ext cx="3289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ก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 rot="688647">
            <a:off x="2161690" y="3206530"/>
            <a:ext cx="2121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 smtClean="0">
                <a:solidFill>
                  <a:srgbClr val="FFFF00"/>
                </a:solidFill>
              </a:rPr>
              <a:t>ก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 rot="20041403">
            <a:off x="2858657" y="3502184"/>
            <a:ext cx="3289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dirty="0" smtClean="0">
                <a:solidFill>
                  <a:srgbClr val="92D050"/>
                </a:solidFill>
              </a:rPr>
              <a:t>ก</a:t>
            </a:r>
            <a:endParaRPr lang="en-US" dirty="0">
              <a:solidFill>
                <a:srgbClr val="92D05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 rot="20041403">
            <a:off x="825055" y="3376289"/>
            <a:ext cx="3289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dirty="0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t>ก</a:t>
            </a:r>
            <a:endParaRPr lang="en-US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3" name="สี่เหลี่ยมผืนผ้ามุมมน 7"/>
          <p:cNvSpPr/>
          <p:nvPr/>
        </p:nvSpPr>
        <p:spPr>
          <a:xfrm>
            <a:off x="2591780" y="71015"/>
            <a:ext cx="3960440" cy="504056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 smtClean="0">
                <a:solidFill>
                  <a:schemeClr val="accent1">
                    <a:lumMod val="75000"/>
                  </a:schemeClr>
                </a:solidFill>
                <a:latin typeface="JasmineUPC" pitchFamily="18" charset="-34"/>
                <a:cs typeface="JasmineUPC" pitchFamily="18" charset="-34"/>
              </a:rPr>
              <a:t>หน้า2 “แบบทดสอบ</a:t>
            </a:r>
            <a:r>
              <a:rPr lang="th-TH" dirty="0">
                <a:solidFill>
                  <a:schemeClr val="accent1">
                    <a:lumMod val="75000"/>
                  </a:schemeClr>
                </a:solidFill>
                <a:latin typeface="JasmineUPC" pitchFamily="18" charset="-34"/>
                <a:cs typeface="JasmineUPC" pitchFamily="18" charset="-34"/>
              </a:rPr>
              <a:t>พยัญชนะ</a:t>
            </a:r>
            <a:r>
              <a:rPr lang="th-TH" dirty="0" smtClean="0">
                <a:solidFill>
                  <a:schemeClr val="accent1">
                    <a:lumMod val="75000"/>
                  </a:schemeClr>
                </a:solidFill>
                <a:latin typeface="JasmineUPC" pitchFamily="18" charset="-34"/>
                <a:cs typeface="JasmineUPC" pitchFamily="18" charset="-34"/>
              </a:rPr>
              <a:t>ไทย”</a:t>
            </a:r>
            <a:endParaRPr lang="th-TH" dirty="0">
              <a:solidFill>
                <a:schemeClr val="accent1">
                  <a:lumMod val="75000"/>
                </a:schemeClr>
              </a:solidFill>
              <a:latin typeface="JasmineUPC" pitchFamily="18" charset="-34"/>
              <a:cs typeface="JasmineUPC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181023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ชุดรูปแบบของ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21494</TotalTime>
  <Words>877</Words>
  <Application>Microsoft Office PowerPoint</Application>
  <PresentationFormat>On-screen Show (16:9)</PresentationFormat>
  <Paragraphs>204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8" baseType="lpstr">
      <vt:lpstr>Angsana New</vt:lpstr>
      <vt:lpstr>Arial</vt:lpstr>
      <vt:lpstr>Calibri</vt:lpstr>
      <vt:lpstr>Cordia New</vt:lpstr>
      <vt:lpstr>JasmineUPC</vt:lpstr>
      <vt:lpstr>TH Charm of AU</vt:lpstr>
      <vt:lpstr>TH Sarabun New</vt:lpstr>
      <vt:lpstr>ชุดรูปแบบของ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งานนำเสนอ PowerPoint</dc:title>
  <dc:creator>Windows User</dc:creator>
  <cp:lastModifiedBy>SANSERN MAKCHAROEN</cp:lastModifiedBy>
  <cp:revision>83</cp:revision>
  <dcterms:created xsi:type="dcterms:W3CDTF">2018-08-16T15:00:31Z</dcterms:created>
  <dcterms:modified xsi:type="dcterms:W3CDTF">2018-10-10T14:59:23Z</dcterms:modified>
</cp:coreProperties>
</file>